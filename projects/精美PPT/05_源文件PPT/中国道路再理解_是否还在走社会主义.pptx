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type="screen4x3"/>
  <p:notesSz cx="6858000" cy="9144000"/>
  <p:defaultTextStyle>
    <a:defPPr>
      <a:defRPr lang="zh-CN"/>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各位好，今天我们讨论一个很容易被一句话带偏的问题：中国到底还在不在走社会主义这条路？我不想一上来就给结论，因为不同人说的“社会主义”，可能不是同一个东西。今天我们换一种方式，用几个看得见的标准来判断。</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这一页先帮大家把问题问准。很多争论其实不是在争同一件事。有人一看到市场经济，就说这不是社会主义；有人一看到国企和政府规划，就说这不是市场经济。其实真正的问题是：市场、企业、资本、效率这些东西，最后是不是服务于一个公共目标？它们有没有被制度约束？</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我用一个很口语化的比喻。看一辆车是不是在往某个方向走，不能只看它开得快不快，也不能只看它用了什么发动机。我们要看方向盘指向哪里，发动机怎么运转，车上主要载的是谁，以及遇到路况时怎么调整。放到中国，就是制度方向、经济机制、发展成果归属和现实矛盾四件事。</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第一层最直接：看制度文本。中国宪法第一条就说，社会主义制度是中华人民共和国的根本制度。所以如果从正式制度身份来看，中国并没有把社会主义拿掉。二十大报告里也把中国式现代化表述为中国共产党领导的社会主义现代化。这是判断的第一块地基。</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第二层要解决一个常见误解：社会主义不等于只能是计划经济。中国改革开放以后，一个关键创造就是社会主义市场经济。通俗讲，市场不是被取消，而是被当成提高效率的工具；但它不是最高目标。最高目标仍然被表述为发展、人民生活改善和共同富裕。</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这一页是过渡。我们不要把国家和市场理解成一对非此即彼的概念。现实中的中国模式，是市场负责很多资源配置和效率竞争，国家负责战略方向、公共服务、基础设施、风险底线和长期目标。争议往往不在于要不要市场，而在于国家和市场的边界怎么划。</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为了让非专业听众听懂，我会说：市场像发动机，它能让车跑起来，而且跑得快；政府像方向盘和刹车，它决定往哪里跑，什么时候降速，哪些地方不能冲过去。中国模式的核心，不是不要发动机，而是不让发动机自己决定目的地。</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再看所有制。传统想象里，社会主义好像只能有国有经济。但中国的制度表达是公有制为主体、多种所有制经济共同发展。也就是说，国企、民企、外资都存在，而且都发挥作用。区别在于，关键领域和战略底线由公有制经济承担更多责任，民营经济则提供大量就业、创新和活力。</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这一页把问题带到更本质的位置：社会主义最后看什么？不是只看有没有国企，也不是只看有没有市场，而是看发展成果怎么分配。一个国家增长很快，如果大多数人没有安全感、没有公共服务、没有上升机会，那就很难说它实现了社会主义的价值目标。</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共同富裕不是大家收入完全一样。它更像一个平衡：一方面要继续做大蛋糕，鼓励创新和企业活力；另一方面要通过教育、医疗、社保、住房保障、税收等制度，把底线托住，把机会尽量打开，把过大的差距慢慢压下来。</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那为什么很多人会怀疑？因为现实矛盾确实存在，比如收入差距、就业压力、公共服务不均衡、资本扩张、地方财政压力等。这些问题不能回避。但判断一条道路，不是看它有没有矛盾，而是看它怎样处理矛盾。一个制度如果不断调整政策去回应这些问题，说明它的方向和现实之间存在张力，也存在修正机制。</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近几年政策信号也能帮助我们理解。中国并没有否定市场，相反还在强调高水平社会主义市场经济体制，也在出台政策支持民营经济。但同时，平台治理、反垄断、金融风险防控、科技自立自强这些政策也说明，国家更强调秩序、安全和公共目标。</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现在我们就能给出比较清楚的回答。如果你把社会主义理解成老式计划经济，那中国当然不像；如果你把中国理解成完全西方式资本主义，它也不像。更准确的说法是：中国走的是中国特色社会主义道路，也就是在社会主义制度框架下使用市场经济工具。</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所以我的最终回答是：还在走，但不是用旧模板走。它不是传统计划经济式的社会主义，而是中国特色社会主义市场经济道路。真正值得讨论的问题，不是中国有没有市场，而是市场能不能长期服务于公共目标，发展成果能不能更多、更公平地回到人民生活中。</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最后我建议把讨论落到三个问题：第一，怎样继续平衡效率和公平？第二，有为政府和有效市场的边界怎样更清楚？第三，共同富裕怎样变成普通人能感受到的教育、医疗、住房、就业和养老改善？这三个问题，比一句简单的标签更重要。</a:t>
            </a:r>
            <a:endParaRPr lang="zh-CN" sz="1200">
              <a:latin typeface="微软雅黑" panose="020B0503020204020204" charset="-122"/>
              <a:ea typeface="微软雅黑" panose="020B0503020204020204"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a:xfrm>
            <a:off x="685800" y="914400"/>
            <a:ext cx="7772400" cy="5486400"/>
          </a:xfrm>
          <a:prstGeom prst="rect">
            <a:avLst/>
          </a:prstGeom>
          <a:noFill/>
          <a:ln>
            <a:noFill/>
          </a:ln>
        </p:spPr>
        <p:txBody>
          <a:bodyPr wrap="square"/>
          <a:lstStyle/>
          <a:p>
            <a:r>
              <a:rPr lang="zh-CN" sz="1200">
                <a:latin typeface="微软雅黑" panose="020B0503020204020204" charset="-122"/>
                <a:ea typeface="微软雅黑" panose="020B0503020204020204" charset="-122"/>
              </a:rPr>
              <a:t>这一页是资料说明。整个演示尽量不使用过度专业的理论语言，而是把公开制度文本、官方政策和现实经济机制放在一起解释。目的不是替任何一句口号背书，而是让听众知道应该用什么标准理解这个问题。</a:t>
            </a:r>
            <a:endParaRPr lang="zh-CN" sz="1200">
              <a:latin typeface="微软雅黑" panose="020B0503020204020204" charset="-122"/>
              <a:ea typeface="微软雅黑" panose="020B050302020402020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pic>
        <p:nvPicPr>
          <p:cNvPr id="3" name="socialism_path_cover.png"/>
          <p:cNvPicPr/>
          <p:nvPr/>
        </p:nvPicPr>
        <p:blipFill>
          <a:blip r:embed="rId1"/>
          <a:stretch>
            <a:fillRect/>
          </a:stretch>
        </p:blipFill>
        <p:spPr>
          <a:xfrm>
            <a:off x="0" y="0"/>
            <a:ext cx="12191695" cy="6858000"/>
          </a:xfrm>
          <a:prstGeom prst="rect">
            <a:avLst/>
          </a:prstGeom>
        </p:spPr>
      </p:pic>
      <p:sp>
        <p:nvSpPr>
          <p:cNvPr id="4" name="Shape"/>
          <p:cNvSpPr/>
          <p:nvPr/>
        </p:nvSpPr>
        <p:spPr>
          <a:xfrm>
            <a:off x="0" y="0"/>
            <a:ext cx="5669280" cy="6858000"/>
          </a:xfrm>
          <a:prstGeom prst="rect">
            <a:avLst/>
          </a:prstGeom>
          <a:solidFill>
            <a:srgbClr val="07111D">
              <a:alpha val="85000"/>
            </a:srgbClr>
          </a:solidFill>
          <a:ln>
            <a:noFill/>
          </a:ln>
        </p:spPr>
        <p:txBody>
          <a:bodyPr/>
          <a:lstStyle/>
          <a:p/>
        </p:txBody>
      </p:sp>
      <p:sp>
        <p:nvSpPr>
          <p:cNvPr id="5" name="Text"/>
          <p:cNvSpPr txBox="1"/>
          <p:nvPr/>
        </p:nvSpPr>
        <p:spPr>
          <a:xfrm>
            <a:off x="640080" y="1097280"/>
            <a:ext cx="4389120" cy="384048"/>
          </a:xfrm>
          <a:prstGeom prst="rect">
            <a:avLst/>
          </a:prstGeom>
          <a:noFill/>
          <a:ln>
            <a:noFill/>
          </a:ln>
        </p:spPr>
        <p:txBody>
          <a:bodyPr wrap="square" anchor="t">
            <a:spAutoFit/>
          </a:bodyPr>
          <a:lstStyle/>
          <a:p>
            <a:pPr algn="l"/>
            <a:r>
              <a:rPr lang="zh-CN" sz="1400" b="1">
                <a:solidFill>
                  <a:srgbClr val="F4D58D"/>
                </a:solidFill>
                <a:latin typeface="微软雅黑" panose="020B0503020204020204" charset="-122"/>
                <a:ea typeface="微软雅黑" panose="020B0503020204020204" charset="-122"/>
              </a:rPr>
              <a:t>中国道路再理解</a:t>
            </a:r>
            <a:endParaRPr lang="zh-CN" sz="1400" b="1">
              <a:solidFill>
                <a:srgbClr val="F4D58D"/>
              </a:solidFill>
              <a:latin typeface="微软雅黑" panose="020B0503020204020204" charset="-122"/>
              <a:ea typeface="微软雅黑" panose="020B0503020204020204" charset="-122"/>
            </a:endParaRPr>
          </a:p>
        </p:txBody>
      </p:sp>
      <p:sp>
        <p:nvSpPr>
          <p:cNvPr id="6" name="Text"/>
          <p:cNvSpPr txBox="1"/>
          <p:nvPr/>
        </p:nvSpPr>
        <p:spPr>
          <a:xfrm>
            <a:off x="640080" y="1600200"/>
            <a:ext cx="4846320" cy="713232"/>
          </a:xfrm>
          <a:prstGeom prst="rect">
            <a:avLst/>
          </a:prstGeom>
          <a:noFill/>
          <a:ln>
            <a:noFill/>
          </a:ln>
        </p:spPr>
        <p:txBody>
          <a:bodyPr wrap="square" anchor="t">
            <a:spAutoFit/>
          </a:bodyPr>
          <a:lstStyle/>
          <a:p>
            <a:pPr algn="l"/>
            <a:r>
              <a:rPr lang="zh-CN" sz="2700" b="1">
                <a:solidFill>
                  <a:srgbClr val="FFFFFF"/>
                </a:solidFill>
                <a:latin typeface="微软雅黑" panose="020B0503020204020204" charset="-122"/>
                <a:ea typeface="微软雅黑" panose="020B0503020204020204" charset="-122"/>
              </a:rPr>
              <a:t>还在走社会主义吗？</a:t>
            </a:r>
            <a:endParaRPr lang="zh-CN" sz="2700" b="1">
              <a:solidFill>
                <a:srgbClr val="FFFFFF"/>
              </a:solidFill>
              <a:latin typeface="微软雅黑" panose="020B0503020204020204" charset="-122"/>
              <a:ea typeface="微软雅黑" panose="020B0503020204020204" charset="-122"/>
            </a:endParaRPr>
          </a:p>
        </p:txBody>
      </p:sp>
      <p:sp>
        <p:nvSpPr>
          <p:cNvPr id="7" name="Shape"/>
          <p:cNvSpPr/>
          <p:nvPr/>
        </p:nvSpPr>
        <p:spPr>
          <a:xfrm>
            <a:off x="658368" y="2578608"/>
            <a:ext cx="960120" cy="36576"/>
          </a:xfrm>
          <a:prstGeom prst="rect">
            <a:avLst/>
          </a:prstGeom>
          <a:solidFill>
            <a:srgbClr val="D6A13B"/>
          </a:solidFill>
          <a:ln>
            <a:noFill/>
          </a:ln>
        </p:spPr>
        <p:txBody>
          <a:bodyPr/>
          <a:lstStyle/>
          <a:p/>
        </p:txBody>
      </p:sp>
      <p:sp>
        <p:nvSpPr>
          <p:cNvPr id="8" name="Text"/>
          <p:cNvSpPr txBox="1"/>
          <p:nvPr/>
        </p:nvSpPr>
        <p:spPr>
          <a:xfrm>
            <a:off x="658368" y="2907792"/>
            <a:ext cx="4754880" cy="329184"/>
          </a:xfrm>
          <a:prstGeom prst="rect">
            <a:avLst/>
          </a:prstGeom>
          <a:noFill/>
          <a:ln>
            <a:noFill/>
          </a:ln>
        </p:spPr>
        <p:txBody>
          <a:bodyPr wrap="square" anchor="t">
            <a:spAutoFit/>
          </a:bodyPr>
          <a:lstStyle/>
          <a:p>
            <a:pPr algn="l"/>
            <a:r>
              <a:rPr lang="zh-CN" sz="1100" b="0">
                <a:solidFill>
                  <a:srgbClr val="DDE6F0"/>
                </a:solidFill>
                <a:latin typeface="微软雅黑" panose="020B0503020204020204" charset="-122"/>
                <a:ea typeface="微软雅黑" panose="020B0503020204020204" charset="-122"/>
              </a:rPr>
              <a:t>一个面向普通听众的政治经济分析</a:t>
            </a:r>
            <a:endParaRPr lang="zh-CN" sz="1100" b="0">
              <a:solidFill>
                <a:srgbClr val="DDE6F0"/>
              </a:solidFill>
              <a:latin typeface="微软雅黑" panose="020B0503020204020204" charset="-122"/>
              <a:ea typeface="微软雅黑" panose="020B0503020204020204" charset="-122"/>
            </a:endParaRPr>
          </a:p>
        </p:txBody>
      </p:sp>
      <p:sp>
        <p:nvSpPr>
          <p:cNvPr id="9" name="Text"/>
          <p:cNvSpPr txBox="1"/>
          <p:nvPr/>
        </p:nvSpPr>
        <p:spPr>
          <a:xfrm>
            <a:off x="658368" y="3310128"/>
            <a:ext cx="4709160" cy="274320"/>
          </a:xfrm>
          <a:prstGeom prst="rect">
            <a:avLst/>
          </a:prstGeom>
          <a:noFill/>
          <a:ln>
            <a:noFill/>
          </a:ln>
        </p:spPr>
        <p:txBody>
          <a:bodyPr wrap="square" anchor="t">
            <a:spAutoFit/>
          </a:bodyPr>
          <a:lstStyle/>
          <a:p>
            <a:pPr algn="l"/>
            <a:r>
              <a:rPr lang="zh-CN" sz="900" b="0">
                <a:solidFill>
                  <a:srgbClr val="AFBAC8"/>
                </a:solidFill>
                <a:latin typeface="微软雅黑" panose="020B0503020204020204" charset="-122"/>
                <a:ea typeface="微软雅黑" panose="020B0503020204020204" charset="-122"/>
              </a:rPr>
              <a:t>不是给口号找答案，而是用标准判断方向</a:t>
            </a:r>
            <a:endParaRPr lang="zh-CN" sz="900" b="0">
              <a:solidFill>
                <a:srgbClr val="AFBAC8"/>
              </a:solidFill>
              <a:latin typeface="微软雅黑" panose="020B0503020204020204" charset="-122"/>
              <a:ea typeface="微软雅黑" panose="020B0503020204020204" charset="-122"/>
            </a:endParaRPr>
          </a:p>
        </p:txBody>
      </p:sp>
      <p:sp>
        <p:nvSpPr>
          <p:cNvPr id="10" name="Text"/>
          <p:cNvSpPr txBox="1"/>
          <p:nvPr/>
        </p:nvSpPr>
        <p:spPr>
          <a:xfrm>
            <a:off x="658368" y="6053328"/>
            <a:ext cx="1371600" cy="164592"/>
          </a:xfrm>
          <a:prstGeom prst="rect">
            <a:avLst/>
          </a:prstGeom>
          <a:noFill/>
          <a:ln>
            <a:noFill/>
          </a:ln>
        </p:spPr>
        <p:txBody>
          <a:bodyPr wrap="square" anchor="t">
            <a:spAutoFit/>
          </a:bodyPr>
          <a:lstStyle/>
          <a:p>
            <a:pPr algn="l"/>
            <a:r>
              <a:rPr lang="zh-CN" sz="800" b="0">
                <a:solidFill>
                  <a:srgbClr val="DDE6F0"/>
                </a:solidFill>
                <a:latin typeface="微软雅黑" panose="020B0503020204020204" charset="-122"/>
                <a:ea typeface="微软雅黑" panose="020B0503020204020204" charset="-122"/>
              </a:rPr>
              <a:t>2026年5月</a:t>
            </a:r>
            <a:endParaRPr lang="zh-CN" sz="800" b="0">
              <a:solidFill>
                <a:srgbClr val="DDE6F0"/>
              </a:solidFill>
              <a:latin typeface="微软雅黑" panose="020B0503020204020204" charset="-122"/>
              <a:ea typeface="微软雅黑" panose="020B050302020402020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6" nodeType="clickEffect">
                                  <p:stCondLst>
                                    <p:cond delay="0"/>
                                  </p:stCondLst>
                                  <p:childTnLst>
                                    <p:set>
                                      <p:cBhvr>
                                        <p:cTn id="6" dur="350" fill="hold">
                                          <p:stCondLst>
                                            <p:cond delay="0"/>
                                          </p:stCondLst>
                                        </p:cTn>
                                        <p:tgtEl>
                                          <p:spTgt spid="5"/>
                                        </p:tgtEl>
                                        <p:attrNameLst>
                                          <p:attrName>style.visibility</p:attrName>
                                        </p:attrNameLst>
                                      </p:cBhvr>
                                      <p:to>
                                        <p:strVal val="visible"/>
                                      </p:to>
                                    </p:set>
                                    <p:anim calcmode="lin" valueType="num">
                                      <p:cBhvr>
                                        <p:cTn id="7" dur="350" fill="hold"/>
                                        <p:tgtEl>
                                          <p:spTgt spid="5"/>
                                        </p:tgtEl>
                                        <p:attrNameLst>
                                          <p:attrName>ppt_w</p:attrName>
                                        </p:attrNameLst>
                                      </p:cBhvr>
                                      <p:tavLst>
                                        <p:tav tm="0">
                                          <p:val>
                                            <p:fltVal val="0"/>
                                          </p:val>
                                        </p:tav>
                                        <p:tav tm="100000">
                                          <p:val>
                                            <p:strVal val="#ppt_w"/>
                                          </p:val>
                                        </p:tav>
                                      </p:tavLst>
                                    </p:anim>
                                    <p:anim calcmode="lin" valueType="num">
                                      <p:cBhvr>
                                        <p:cTn id="8" dur="35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4" fill="hold" grpId="7" nodeType="afterEffect">
                                  <p:stCondLst>
                                    <p:cond delay="0"/>
                                  </p:stCondLst>
                                  <p:childTnLst>
                                    <p:set>
                                      <p:cBhvr>
                                        <p:cTn id="11" dur="420" fill="hold">
                                          <p:stCondLst>
                                            <p:cond delay="0"/>
                                          </p:stCondLst>
                                        </p:cTn>
                                        <p:tgtEl>
                                          <p:spTgt spid="6"/>
                                        </p:tgtEl>
                                        <p:attrNameLst>
                                          <p:attrName>style.visibility</p:attrName>
                                        </p:attrNameLst>
                                      </p:cBhvr>
                                      <p:to>
                                        <p:strVal val="visible"/>
                                      </p:to>
                                    </p:set>
                                    <p:animEffect transition="in" filter="wipe(down)">
                                      <p:cBhvr>
                                        <p:cTn id="12" dur="420"/>
                                        <p:tgtEl>
                                          <p:spTgt spid="6"/>
                                        </p:tgtEl>
                                      </p:cBhvr>
                                    </p:animEffect>
                                  </p:childTnLst>
                                </p:cTn>
                              </p:par>
                            </p:childTnLst>
                          </p:cTn>
                        </p:par>
                        <p:par>
                          <p:cTn id="13" fill="hold">
                            <p:stCondLst>
                              <p:cond delay="1000"/>
                            </p:stCondLst>
                            <p:childTnLst>
                              <p:par>
                                <p:cTn id="14" presetID="2" presetClass="entr" presetSubtype="4" fill="hold" grpId="8" nodeType="afterEffect">
                                  <p:stCondLst>
                                    <p:cond delay="0"/>
                                  </p:stCondLst>
                                  <p:childTnLst>
                                    <p:set>
                                      <p:cBhvr>
                                        <p:cTn id="15" dur="420" fill="hold">
                                          <p:stCondLst>
                                            <p:cond delay="0"/>
                                          </p:stCondLst>
                                        </p:cTn>
                                        <p:tgtEl>
                                          <p:spTgt spid="8"/>
                                        </p:tgtEl>
                                        <p:attrNameLst>
                                          <p:attrName>style.visibility</p:attrName>
                                        </p:attrNameLst>
                                      </p:cBhvr>
                                      <p:to>
                                        <p:strVal val="visible"/>
                                      </p:to>
                                    </p:set>
                                    <p:anim calcmode="lin" valueType="num">
                                      <p:cBhvr additive="base">
                                        <p:cTn id="16" dur="420" fill="hold"/>
                                        <p:tgtEl>
                                          <p:spTgt spid="8"/>
                                        </p:tgtEl>
                                        <p:attrNameLst>
                                          <p:attrName>ppt_x</p:attrName>
                                        </p:attrNameLst>
                                      </p:cBhvr>
                                      <p:tavLst>
                                        <p:tav tm="0">
                                          <p:val>
                                            <p:strVal val="#ppt_x"/>
                                          </p:val>
                                        </p:tav>
                                        <p:tav tm="100000">
                                          <p:val>
                                            <p:strVal val="#ppt_x"/>
                                          </p:val>
                                        </p:tav>
                                      </p:tavLst>
                                    </p:anim>
                                    <p:anim calcmode="lin" valueType="num">
                                      <p:cBhvr additive="base">
                                        <p:cTn id="17" dur="42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9"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36" decel="100000"/>
                                        <p:tgtEl>
                                          <p:spTgt spid="9"/>
                                        </p:tgtEl>
                                      </p:cBhvr>
                                    </p:animEffect>
                                    <p:anim calcmode="lin" valueType="num">
                                      <p:cBhvr>
                                        <p:cTn id="22" dur="336" decel="100000" fill="hold"/>
                                        <p:tgtEl>
                                          <p:spTgt spid="9"/>
                                        </p:tgtEl>
                                        <p:attrNameLst>
                                          <p:attrName>style.rotation</p:attrName>
                                        </p:attrNameLst>
                                      </p:cBhvr>
                                      <p:tavLst>
                                        <p:tav tm="0">
                                          <p:val>
                                            <p:fltVal val="-90"/>
                                          </p:val>
                                        </p:tav>
                                        <p:tav tm="100000">
                                          <p:val>
                                            <p:fltVal val="0"/>
                                          </p:val>
                                        </p:tav>
                                      </p:tavLst>
                                    </p:anim>
                                    <p:anim calcmode="lin" valueType="num">
                                      <p:cBhvr>
                                        <p:cTn id="23" dur="336" decel="100000" fill="hold"/>
                                        <p:tgtEl>
                                          <p:spTgt spid="9"/>
                                        </p:tgtEl>
                                        <p:attrNameLst>
                                          <p:attrName>ppt_x</p:attrName>
                                        </p:attrNameLst>
                                      </p:cBhvr>
                                      <p:tavLst>
                                        <p:tav tm="0">
                                          <p:val>
                                            <p:strVal val="#ppt_x+0.4"/>
                                          </p:val>
                                        </p:tav>
                                        <p:tav tm="100000">
                                          <p:val>
                                            <p:strVal val="#ppt_x-0.05"/>
                                          </p:val>
                                        </p:tav>
                                      </p:tavLst>
                                    </p:anim>
                                    <p:anim calcmode="lin" valueType="num">
                                      <p:cBhvr>
                                        <p:cTn id="24" dur="336" decel="100000" fill="hold"/>
                                        <p:tgtEl>
                                          <p:spTgt spid="9"/>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9"/>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9"/>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1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20"/>
                                        <p:tgtEl>
                                          <p:spTgt spid="10"/>
                                        </p:tgtEl>
                                      </p:cBhvr>
                                    </p:animEffect>
                                    <p:anim calcmode="lin" valueType="num">
                                      <p:cBhvr>
                                        <p:cTn id="31" dur="420" fill="hold"/>
                                        <p:tgtEl>
                                          <p:spTgt spid="10"/>
                                        </p:tgtEl>
                                        <p:attrNameLst>
                                          <p:attrName>ppt_x</p:attrName>
                                        </p:attrNameLst>
                                      </p:cBhvr>
                                      <p:tavLst>
                                        <p:tav tm="0">
                                          <p:val>
                                            <p:strVal val="#ppt_x"/>
                                          </p:val>
                                        </p:tav>
                                        <p:tav tm="100000">
                                          <p:val>
                                            <p:strVal val="#ppt_x"/>
                                          </p:val>
                                        </p:tav>
                                      </p:tavLst>
                                    </p:anim>
                                    <p:anim calcmode="lin" valueType="num">
                                      <p:cBhvr>
                                        <p:cTn id="32" dur="378" decel="100000" fill="hold"/>
                                        <p:tgtEl>
                                          <p:spTgt spid="10"/>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uiExpand="1" build="allAtOnce"/>
      <p:bldP spid="6" grpId="2" uiExpand="1" build="allAtOnce"/>
      <p:bldP spid="8" grpId="3" uiExpand="1" build="allAtOnce"/>
      <p:bldP spid="9" grpId="4" uiExpand="1" build="allAtOnce"/>
      <p:bldP spid="10" grpId="5" uiExpand="1" build="allAtOnce"/>
      <p:bldP spid="4" grpId="0" animBg="1"/>
      <p:bldP spid="5" grpId="2"/>
      <p:bldP spid="6" grpId="3"/>
      <p:bldP spid="8" grpId="4"/>
      <p:bldP spid="9" grpId="5"/>
      <p:bldP spid="10" grpId="6"/>
      <p:bldP spid="5" grpId="3"/>
      <p:bldP spid="10" grpId="7"/>
      <p:bldP spid="6" grpId="4"/>
      <p:bldP spid="8" grpId="5"/>
      <p:bldP spid="9" grpId="6"/>
      <p:bldP spid="5" grpId="4"/>
      <p:bldP spid="10" grpId="8"/>
      <p:bldP spid="6" grpId="5"/>
      <p:bldP spid="8" grpId="6"/>
      <p:bldP spid="9" grpId="7"/>
      <p:bldP spid="5" grpId="5"/>
      <p:bldP spid="6" grpId="6"/>
      <p:bldP spid="8" grpId="7"/>
      <p:bldP spid="9" grpId="8"/>
      <p:bldP spid="10" grpId="9"/>
      <p:bldP spid="5" grpId="6"/>
      <p:bldP spid="6" grpId="7"/>
      <p:bldP spid="8" grpId="8"/>
      <p:bldP spid="9" grpId="9"/>
      <p:bldP spid="10" grpId="1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2EA"/>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01 破题</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先把问题问准：我们到底在问什么？</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731520" y="1417320"/>
            <a:ext cx="4983480" cy="1078992"/>
          </a:xfrm>
          <a:prstGeom prst="roundRect">
            <a:avLst/>
          </a:prstGeom>
          <a:solidFill>
            <a:srgbClr val="FFFDF7"/>
          </a:solidFill>
          <a:ln w="12700">
            <a:solidFill>
              <a:srgbClr val="E4DED2"/>
            </a:solidFill>
          </a:ln>
        </p:spPr>
        <p:txBody>
          <a:bodyPr/>
          <a:lstStyle/>
          <a:p/>
        </p:txBody>
      </p:sp>
      <p:sp>
        <p:nvSpPr>
          <p:cNvPr id="7" name="Shape"/>
          <p:cNvSpPr/>
          <p:nvPr/>
        </p:nvSpPr>
        <p:spPr>
          <a:xfrm>
            <a:off x="731520" y="1417320"/>
            <a:ext cx="50292" cy="1078992"/>
          </a:xfrm>
          <a:prstGeom prst="rect">
            <a:avLst/>
          </a:prstGeom>
          <a:solidFill>
            <a:srgbClr val="B91C1C"/>
          </a:solidFill>
          <a:ln>
            <a:noFill/>
          </a:ln>
        </p:spPr>
        <p:txBody>
          <a:bodyPr/>
          <a:lstStyle/>
          <a:p/>
        </p:txBody>
      </p:sp>
      <p:sp>
        <p:nvSpPr>
          <p:cNvPr id="8" name="Text"/>
          <p:cNvSpPr txBox="1"/>
          <p:nvPr/>
        </p:nvSpPr>
        <p:spPr>
          <a:xfrm>
            <a:off x="950976" y="1581912"/>
            <a:ext cx="45720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不是问</a:t>
            </a:r>
            <a:endParaRPr lang="zh-CN" sz="1050" b="1">
              <a:solidFill>
                <a:srgbClr val="15202B"/>
              </a:solidFill>
              <a:latin typeface="微软雅黑" panose="020B0503020204020204" charset="-122"/>
              <a:ea typeface="微软雅黑" panose="020B0503020204020204" charset="-122"/>
            </a:endParaRPr>
          </a:p>
        </p:txBody>
      </p:sp>
      <p:sp>
        <p:nvSpPr>
          <p:cNvPr id="9" name="Text"/>
          <p:cNvSpPr txBox="1"/>
          <p:nvPr/>
        </p:nvSpPr>
        <p:spPr>
          <a:xfrm>
            <a:off x="950976" y="1929384"/>
            <a:ext cx="4572000" cy="484631"/>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中国是不是还停留在计划经济时代。答案显然不是。</a:t>
            </a:r>
            <a:endParaRPr lang="zh-CN" sz="780" b="0">
              <a:solidFill>
                <a:srgbClr val="697586"/>
              </a:solidFill>
              <a:latin typeface="微软雅黑" panose="020B0503020204020204" charset="-122"/>
              <a:ea typeface="微软雅黑" panose="020B0503020204020204" charset="-122"/>
            </a:endParaRPr>
          </a:p>
        </p:txBody>
      </p:sp>
      <p:sp>
        <p:nvSpPr>
          <p:cNvPr id="10" name="Shape"/>
          <p:cNvSpPr/>
          <p:nvPr/>
        </p:nvSpPr>
        <p:spPr>
          <a:xfrm>
            <a:off x="6217920" y="1417320"/>
            <a:ext cx="4983480" cy="1078992"/>
          </a:xfrm>
          <a:prstGeom prst="roundRect">
            <a:avLst/>
          </a:prstGeom>
          <a:solidFill>
            <a:srgbClr val="FFFDF7"/>
          </a:solidFill>
          <a:ln w="12700">
            <a:solidFill>
              <a:srgbClr val="E4DED2"/>
            </a:solidFill>
          </a:ln>
        </p:spPr>
        <p:txBody>
          <a:bodyPr/>
          <a:lstStyle/>
          <a:p/>
        </p:txBody>
      </p:sp>
      <p:sp>
        <p:nvSpPr>
          <p:cNvPr id="11" name="Shape"/>
          <p:cNvSpPr/>
          <p:nvPr/>
        </p:nvSpPr>
        <p:spPr>
          <a:xfrm>
            <a:off x="6217920" y="1417320"/>
            <a:ext cx="50292" cy="1078992"/>
          </a:xfrm>
          <a:prstGeom prst="rect">
            <a:avLst/>
          </a:prstGeom>
          <a:solidFill>
            <a:srgbClr val="2563EB"/>
          </a:solidFill>
          <a:ln>
            <a:noFill/>
          </a:ln>
        </p:spPr>
        <p:txBody>
          <a:bodyPr/>
          <a:lstStyle/>
          <a:p/>
        </p:txBody>
      </p:sp>
      <p:sp>
        <p:nvSpPr>
          <p:cNvPr id="12" name="Text"/>
          <p:cNvSpPr txBox="1"/>
          <p:nvPr/>
        </p:nvSpPr>
        <p:spPr>
          <a:xfrm>
            <a:off x="6437376" y="1581912"/>
            <a:ext cx="45720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也不是问</a:t>
            </a:r>
            <a:endParaRPr lang="zh-CN" sz="1050" b="1">
              <a:solidFill>
                <a:srgbClr val="15202B"/>
              </a:solidFill>
              <a:latin typeface="微软雅黑" panose="020B0503020204020204" charset="-122"/>
              <a:ea typeface="微软雅黑" panose="020B0503020204020204" charset="-122"/>
            </a:endParaRPr>
          </a:p>
        </p:txBody>
      </p:sp>
      <p:sp>
        <p:nvSpPr>
          <p:cNvPr id="13" name="Text"/>
          <p:cNvSpPr txBox="1"/>
          <p:nvPr/>
        </p:nvSpPr>
        <p:spPr>
          <a:xfrm>
            <a:off x="6437376" y="1929384"/>
            <a:ext cx="4572000" cy="484631"/>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中国有没有市场、企业、竞争和资本。答案显然有。</a:t>
            </a:r>
            <a:endParaRPr lang="zh-CN" sz="780" b="0">
              <a:solidFill>
                <a:srgbClr val="697586"/>
              </a:solidFill>
              <a:latin typeface="微软雅黑" panose="020B0503020204020204" charset="-122"/>
              <a:ea typeface="微软雅黑" panose="020B0503020204020204" charset="-122"/>
            </a:endParaRPr>
          </a:p>
        </p:txBody>
      </p:sp>
      <p:sp>
        <p:nvSpPr>
          <p:cNvPr id="14" name="Shape"/>
          <p:cNvSpPr/>
          <p:nvPr/>
        </p:nvSpPr>
        <p:spPr>
          <a:xfrm>
            <a:off x="731520" y="3017520"/>
            <a:ext cx="4983480" cy="1078992"/>
          </a:xfrm>
          <a:prstGeom prst="roundRect">
            <a:avLst/>
          </a:prstGeom>
          <a:solidFill>
            <a:srgbClr val="FFFDF7"/>
          </a:solidFill>
          <a:ln w="12700">
            <a:solidFill>
              <a:srgbClr val="E4DED2"/>
            </a:solidFill>
          </a:ln>
        </p:spPr>
        <p:txBody>
          <a:bodyPr/>
          <a:lstStyle/>
          <a:p/>
        </p:txBody>
      </p:sp>
      <p:sp>
        <p:nvSpPr>
          <p:cNvPr id="15" name="Shape"/>
          <p:cNvSpPr/>
          <p:nvPr/>
        </p:nvSpPr>
        <p:spPr>
          <a:xfrm>
            <a:off x="731520" y="3017520"/>
            <a:ext cx="50292" cy="1078992"/>
          </a:xfrm>
          <a:prstGeom prst="rect">
            <a:avLst/>
          </a:prstGeom>
          <a:solidFill>
            <a:srgbClr val="16825D"/>
          </a:solidFill>
          <a:ln>
            <a:noFill/>
          </a:ln>
        </p:spPr>
        <p:txBody>
          <a:bodyPr/>
          <a:lstStyle/>
          <a:p/>
        </p:txBody>
      </p:sp>
      <p:sp>
        <p:nvSpPr>
          <p:cNvPr id="16" name="Text"/>
          <p:cNvSpPr txBox="1"/>
          <p:nvPr/>
        </p:nvSpPr>
        <p:spPr>
          <a:xfrm>
            <a:off x="950976" y="3182112"/>
            <a:ext cx="45720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真正要问</a:t>
            </a:r>
            <a:endParaRPr lang="zh-CN" sz="1050" b="1">
              <a:solidFill>
                <a:srgbClr val="15202B"/>
              </a:solidFill>
              <a:latin typeface="微软雅黑" panose="020B0503020204020204" charset="-122"/>
              <a:ea typeface="微软雅黑" panose="020B0503020204020204" charset="-122"/>
            </a:endParaRPr>
          </a:p>
        </p:txBody>
      </p:sp>
      <p:sp>
        <p:nvSpPr>
          <p:cNvPr id="17" name="Text"/>
          <p:cNvSpPr txBox="1"/>
          <p:nvPr/>
        </p:nvSpPr>
        <p:spPr>
          <a:xfrm>
            <a:off x="950976" y="3529584"/>
            <a:ext cx="4572000" cy="484631"/>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市场、资本和效率，最终服务谁？由什么制度来约束？</a:t>
            </a:r>
            <a:endParaRPr lang="zh-CN" sz="780" b="0">
              <a:solidFill>
                <a:srgbClr val="697586"/>
              </a:solidFill>
              <a:latin typeface="微软雅黑" panose="020B0503020204020204" charset="-122"/>
              <a:ea typeface="微软雅黑" panose="020B0503020204020204" charset="-122"/>
            </a:endParaRPr>
          </a:p>
        </p:txBody>
      </p:sp>
      <p:sp>
        <p:nvSpPr>
          <p:cNvPr id="18" name="Shape"/>
          <p:cNvSpPr/>
          <p:nvPr/>
        </p:nvSpPr>
        <p:spPr>
          <a:xfrm>
            <a:off x="6217920" y="3017520"/>
            <a:ext cx="4983480" cy="1078992"/>
          </a:xfrm>
          <a:prstGeom prst="roundRect">
            <a:avLst/>
          </a:prstGeom>
          <a:solidFill>
            <a:srgbClr val="FFFDF7"/>
          </a:solidFill>
          <a:ln w="12700">
            <a:solidFill>
              <a:srgbClr val="E4DED2"/>
            </a:solidFill>
          </a:ln>
        </p:spPr>
        <p:txBody>
          <a:bodyPr/>
          <a:lstStyle/>
          <a:p/>
        </p:txBody>
      </p:sp>
      <p:sp>
        <p:nvSpPr>
          <p:cNvPr id="19" name="Shape"/>
          <p:cNvSpPr/>
          <p:nvPr/>
        </p:nvSpPr>
        <p:spPr>
          <a:xfrm>
            <a:off x="6217920" y="3017520"/>
            <a:ext cx="50292" cy="1078992"/>
          </a:xfrm>
          <a:prstGeom prst="rect">
            <a:avLst/>
          </a:prstGeom>
          <a:solidFill>
            <a:srgbClr val="D6A13B"/>
          </a:solidFill>
          <a:ln>
            <a:noFill/>
          </a:ln>
        </p:spPr>
        <p:txBody>
          <a:bodyPr/>
          <a:lstStyle/>
          <a:p/>
        </p:txBody>
      </p:sp>
      <p:sp>
        <p:nvSpPr>
          <p:cNvPr id="20" name="Text"/>
          <p:cNvSpPr txBox="1"/>
          <p:nvPr/>
        </p:nvSpPr>
        <p:spPr>
          <a:xfrm>
            <a:off x="6437376" y="3182112"/>
            <a:ext cx="45720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判断方法</a:t>
            </a:r>
            <a:endParaRPr lang="zh-CN" sz="1050" b="1">
              <a:solidFill>
                <a:srgbClr val="15202B"/>
              </a:solidFill>
              <a:latin typeface="微软雅黑" panose="020B0503020204020204" charset="-122"/>
              <a:ea typeface="微软雅黑" panose="020B0503020204020204" charset="-122"/>
            </a:endParaRPr>
          </a:p>
        </p:txBody>
      </p:sp>
      <p:sp>
        <p:nvSpPr>
          <p:cNvPr id="21" name="Text"/>
          <p:cNvSpPr txBox="1"/>
          <p:nvPr/>
        </p:nvSpPr>
        <p:spPr>
          <a:xfrm>
            <a:off x="6437376" y="3529584"/>
            <a:ext cx="4572000" cy="484631"/>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看方向、看机制、看分配、看治理，而不是只看某一个现象。</a:t>
            </a:r>
            <a:endParaRPr lang="zh-CN" sz="780" b="0">
              <a:solidFill>
                <a:srgbClr val="697586"/>
              </a:solidFill>
              <a:latin typeface="微软雅黑" panose="020B0503020204020204" charset="-122"/>
              <a:ea typeface="微软雅黑" panose="020B0503020204020204" charset="-122"/>
            </a:endParaRPr>
          </a:p>
        </p:txBody>
      </p:sp>
      <p:sp>
        <p:nvSpPr>
          <p:cNvPr id="22" name="Shape"/>
          <p:cNvSpPr/>
          <p:nvPr/>
        </p:nvSpPr>
        <p:spPr>
          <a:xfrm>
            <a:off x="868680" y="5074920"/>
            <a:ext cx="10149840" cy="566928"/>
          </a:xfrm>
          <a:prstGeom prst="roundRect">
            <a:avLst/>
          </a:prstGeom>
          <a:solidFill>
            <a:srgbClr val="15202B"/>
          </a:solidFill>
          <a:ln>
            <a:noFill/>
          </a:ln>
        </p:spPr>
        <p:txBody>
          <a:bodyPr/>
          <a:lstStyle/>
          <a:p/>
        </p:txBody>
      </p:sp>
      <p:sp>
        <p:nvSpPr>
          <p:cNvPr id="23" name="Text"/>
          <p:cNvSpPr txBox="1"/>
          <p:nvPr/>
        </p:nvSpPr>
        <p:spPr>
          <a:xfrm>
            <a:off x="1097280" y="5285232"/>
            <a:ext cx="9646920" cy="146304"/>
          </a:xfrm>
          <a:prstGeom prst="rect">
            <a:avLst/>
          </a:prstGeom>
          <a:noFill/>
          <a:ln>
            <a:noFill/>
          </a:ln>
        </p:spPr>
        <p:txBody>
          <a:bodyPr wrap="square" anchor="t">
            <a:spAutoFit/>
          </a:bodyPr>
          <a:lstStyle/>
          <a:p>
            <a:pPr algn="ctr"/>
            <a:r>
              <a:rPr lang="zh-CN" sz="920" b="1">
                <a:solidFill>
                  <a:srgbClr val="FFFFFF"/>
                </a:solidFill>
                <a:latin typeface="微软雅黑" panose="020B0503020204020204" charset="-122"/>
                <a:ea typeface="微软雅黑" panose="020B0503020204020204" charset="-122"/>
              </a:rPr>
              <a:t>一句话：这个问题不能用“有没有市场”来判断，而要看市场被放在什么制度目标里。</a:t>
            </a:r>
            <a:endParaRPr lang="zh-CN" sz="920" b="1">
              <a:solidFill>
                <a:srgbClr val="FFFFFF"/>
              </a:solidFill>
              <a:latin typeface="微软雅黑" panose="020B0503020204020204" charset="-122"/>
              <a:ea typeface="微软雅黑" panose="020B0503020204020204" charset="-122"/>
            </a:endParaRPr>
          </a:p>
        </p:txBody>
      </p:sp>
      <p:sp>
        <p:nvSpPr>
          <p:cNvPr id="24"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资料来源：公开资料整理；宪法、二十大报告、二十届三中全会决定、财政部等</a:t>
            </a:r>
            <a:endParaRPr lang="zh-CN" sz="550" b="0">
              <a:solidFill>
                <a:srgbClr val="8C939D"/>
              </a:solidFill>
              <a:latin typeface="微软雅黑" panose="020B0503020204020204" charset="-122"/>
              <a:ea typeface="微软雅黑" panose="020B0503020204020204" charset="-122"/>
            </a:endParaRPr>
          </a:p>
        </p:txBody>
      </p:sp>
      <p:sp>
        <p:nvSpPr>
          <p:cNvPr id="25"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 presetClass="entr" presetSubtype="4" fill="hold" grpId="8" nodeType="afterEffect">
                                  <p:stCondLst>
                                    <p:cond delay="0"/>
                                  </p:stCondLst>
                                  <p:childTnLst>
                                    <p:set>
                                      <p:cBhvr>
                                        <p:cTn id="15" dur="420" fill="hold">
                                          <p:stCondLst>
                                            <p:cond delay="0"/>
                                          </p:stCondLst>
                                        </p:cTn>
                                        <p:tgtEl>
                                          <p:spTgt spid="8"/>
                                        </p:tgtEl>
                                        <p:attrNameLst>
                                          <p:attrName>style.visibility</p:attrName>
                                        </p:attrNameLst>
                                      </p:cBhvr>
                                      <p:to>
                                        <p:strVal val="visible"/>
                                      </p:to>
                                    </p:set>
                                    <p:anim calcmode="lin" valueType="num">
                                      <p:cBhvr additive="base">
                                        <p:cTn id="16" dur="420" fill="hold"/>
                                        <p:tgtEl>
                                          <p:spTgt spid="8"/>
                                        </p:tgtEl>
                                        <p:attrNameLst>
                                          <p:attrName>ppt_x</p:attrName>
                                        </p:attrNameLst>
                                      </p:cBhvr>
                                      <p:tavLst>
                                        <p:tav tm="0">
                                          <p:val>
                                            <p:strVal val="#ppt_x"/>
                                          </p:val>
                                        </p:tav>
                                        <p:tav tm="100000">
                                          <p:val>
                                            <p:strVal val="#ppt_x"/>
                                          </p:val>
                                        </p:tav>
                                      </p:tavLst>
                                    </p:anim>
                                    <p:anim calcmode="lin" valueType="num">
                                      <p:cBhvr additive="base">
                                        <p:cTn id="17" dur="42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9"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36" decel="100000"/>
                                        <p:tgtEl>
                                          <p:spTgt spid="9"/>
                                        </p:tgtEl>
                                      </p:cBhvr>
                                    </p:animEffect>
                                    <p:anim calcmode="lin" valueType="num">
                                      <p:cBhvr>
                                        <p:cTn id="22" dur="336" decel="100000" fill="hold"/>
                                        <p:tgtEl>
                                          <p:spTgt spid="9"/>
                                        </p:tgtEl>
                                        <p:attrNameLst>
                                          <p:attrName>style.rotation</p:attrName>
                                        </p:attrNameLst>
                                      </p:cBhvr>
                                      <p:tavLst>
                                        <p:tav tm="0">
                                          <p:val>
                                            <p:fltVal val="-90"/>
                                          </p:val>
                                        </p:tav>
                                        <p:tav tm="100000">
                                          <p:val>
                                            <p:fltVal val="0"/>
                                          </p:val>
                                        </p:tav>
                                      </p:tavLst>
                                    </p:anim>
                                    <p:anim calcmode="lin" valueType="num">
                                      <p:cBhvr>
                                        <p:cTn id="23" dur="336" decel="100000" fill="hold"/>
                                        <p:tgtEl>
                                          <p:spTgt spid="9"/>
                                        </p:tgtEl>
                                        <p:attrNameLst>
                                          <p:attrName>ppt_x</p:attrName>
                                        </p:attrNameLst>
                                      </p:cBhvr>
                                      <p:tavLst>
                                        <p:tav tm="0">
                                          <p:val>
                                            <p:strVal val="#ppt_x+0.4"/>
                                          </p:val>
                                        </p:tav>
                                        <p:tav tm="100000">
                                          <p:val>
                                            <p:strVal val="#ppt_x-0.05"/>
                                          </p:val>
                                        </p:tav>
                                      </p:tavLst>
                                    </p:anim>
                                    <p:anim calcmode="lin" valueType="num">
                                      <p:cBhvr>
                                        <p:cTn id="24" dur="336" decel="100000" fill="hold"/>
                                        <p:tgtEl>
                                          <p:spTgt spid="9"/>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9"/>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9"/>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11"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20"/>
                                        <p:tgtEl>
                                          <p:spTgt spid="12"/>
                                        </p:tgtEl>
                                      </p:cBhvr>
                                    </p:animEffect>
                                    <p:anim calcmode="lin" valueType="num">
                                      <p:cBhvr>
                                        <p:cTn id="31" dur="420" fill="hold"/>
                                        <p:tgtEl>
                                          <p:spTgt spid="12"/>
                                        </p:tgtEl>
                                        <p:attrNameLst>
                                          <p:attrName>ppt_x</p:attrName>
                                        </p:attrNameLst>
                                      </p:cBhvr>
                                      <p:tavLst>
                                        <p:tav tm="0">
                                          <p:val>
                                            <p:strVal val="#ppt_x"/>
                                          </p:val>
                                        </p:tav>
                                        <p:tav tm="100000">
                                          <p:val>
                                            <p:strVal val="#ppt_x"/>
                                          </p:val>
                                        </p:tav>
                                      </p:tavLst>
                                    </p:anim>
                                    <p:anim calcmode="lin" valueType="num">
                                      <p:cBhvr>
                                        <p:cTn id="32" dur="378" decel="100000" fill="hold"/>
                                        <p:tgtEl>
                                          <p:spTgt spid="12"/>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2"/>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2" nodeType="afterEffect">
                                  <p:stCondLst>
                                    <p:cond delay="0"/>
                                  </p:stCondLst>
                                  <p:childTnLst>
                                    <p:set>
                                      <p:cBhvr>
                                        <p:cTn id="36" dur="420" fill="hold">
                                          <p:stCondLst>
                                            <p:cond delay="0"/>
                                          </p:stCondLst>
                                        </p:cTn>
                                        <p:tgtEl>
                                          <p:spTgt spid="13"/>
                                        </p:tgtEl>
                                        <p:attrNameLst>
                                          <p:attrName>style.visibility</p:attrName>
                                        </p:attrNameLst>
                                      </p:cBhvr>
                                      <p:to>
                                        <p:strVal val="visible"/>
                                      </p:to>
                                    </p:set>
                                    <p:animEffect transition="in" filter="fade">
                                      <p:cBhvr>
                                        <p:cTn id="37" dur="420"/>
                                        <p:tgtEl>
                                          <p:spTgt spid="13"/>
                                        </p:tgtEl>
                                      </p:cBhvr>
                                    </p:animEffect>
                                  </p:childTnLst>
                                </p:cTn>
                              </p:par>
                            </p:childTnLst>
                          </p:cTn>
                        </p:par>
                        <p:par>
                          <p:cTn id="38" fill="hold">
                            <p:stCondLst>
                              <p:cond delay="3000"/>
                            </p:stCondLst>
                            <p:childTnLst>
                              <p:par>
                                <p:cTn id="39" presetID="22" presetClass="entr" presetSubtype="4" fill="hold" grpId="13" nodeType="afterEffect">
                                  <p:stCondLst>
                                    <p:cond delay="0"/>
                                  </p:stCondLst>
                                  <p:childTnLst>
                                    <p:set>
                                      <p:cBhvr>
                                        <p:cTn id="40" dur="420" fill="hold">
                                          <p:stCondLst>
                                            <p:cond delay="0"/>
                                          </p:stCondLst>
                                        </p:cTn>
                                        <p:tgtEl>
                                          <p:spTgt spid="16"/>
                                        </p:tgtEl>
                                        <p:attrNameLst>
                                          <p:attrName>style.visibility</p:attrName>
                                        </p:attrNameLst>
                                      </p:cBhvr>
                                      <p:to>
                                        <p:strVal val="visible"/>
                                      </p:to>
                                    </p:set>
                                    <p:animEffect transition="in" filter="wipe(down)">
                                      <p:cBhvr>
                                        <p:cTn id="41" dur="420"/>
                                        <p:tgtEl>
                                          <p:spTgt spid="16"/>
                                        </p:tgtEl>
                                      </p:cBhvr>
                                    </p:animEffect>
                                  </p:childTnLst>
                                </p:cTn>
                              </p:par>
                            </p:childTnLst>
                          </p:cTn>
                        </p:par>
                        <p:par>
                          <p:cTn id="42" fill="hold">
                            <p:stCondLst>
                              <p:cond delay="3500"/>
                            </p:stCondLst>
                            <p:childTnLst>
                              <p:par>
                                <p:cTn id="43" presetID="2" presetClass="entr" presetSubtype="4" fill="hold" grpId="14" nodeType="afterEffect">
                                  <p:stCondLst>
                                    <p:cond delay="0"/>
                                  </p:stCondLst>
                                  <p:childTnLst>
                                    <p:set>
                                      <p:cBhvr>
                                        <p:cTn id="44" dur="420" fill="hold">
                                          <p:stCondLst>
                                            <p:cond delay="0"/>
                                          </p:stCondLst>
                                        </p:cTn>
                                        <p:tgtEl>
                                          <p:spTgt spid="17"/>
                                        </p:tgtEl>
                                        <p:attrNameLst>
                                          <p:attrName>style.visibility</p:attrName>
                                        </p:attrNameLst>
                                      </p:cBhvr>
                                      <p:to>
                                        <p:strVal val="visible"/>
                                      </p:to>
                                    </p:set>
                                    <p:anim calcmode="lin" valueType="num">
                                      <p:cBhvr additive="base">
                                        <p:cTn id="45" dur="420" fill="hold"/>
                                        <p:tgtEl>
                                          <p:spTgt spid="17"/>
                                        </p:tgtEl>
                                        <p:attrNameLst>
                                          <p:attrName>ppt_x</p:attrName>
                                        </p:attrNameLst>
                                      </p:cBhvr>
                                      <p:tavLst>
                                        <p:tav tm="0">
                                          <p:val>
                                            <p:strVal val="#ppt_x"/>
                                          </p:val>
                                        </p:tav>
                                        <p:tav tm="100000">
                                          <p:val>
                                            <p:strVal val="#ppt_x"/>
                                          </p:val>
                                        </p:tav>
                                      </p:tavLst>
                                    </p:anim>
                                    <p:anim calcmode="lin" valueType="num">
                                      <p:cBhvr additive="base">
                                        <p:cTn id="46" dur="420" fill="hold"/>
                                        <p:tgtEl>
                                          <p:spTgt spid="17"/>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6"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36" decel="100000"/>
                                        <p:tgtEl>
                                          <p:spTgt spid="20"/>
                                        </p:tgtEl>
                                      </p:cBhvr>
                                    </p:animEffect>
                                    <p:anim calcmode="lin" valueType="num">
                                      <p:cBhvr>
                                        <p:cTn id="51" dur="336" decel="100000" fill="hold"/>
                                        <p:tgtEl>
                                          <p:spTgt spid="20"/>
                                        </p:tgtEl>
                                        <p:attrNameLst>
                                          <p:attrName>style.rotation</p:attrName>
                                        </p:attrNameLst>
                                      </p:cBhvr>
                                      <p:tavLst>
                                        <p:tav tm="0">
                                          <p:val>
                                            <p:fltVal val="-90"/>
                                          </p:val>
                                        </p:tav>
                                        <p:tav tm="100000">
                                          <p:val>
                                            <p:fltVal val="0"/>
                                          </p:val>
                                        </p:tav>
                                      </p:tavLst>
                                    </p:anim>
                                    <p:anim calcmode="lin" valueType="num">
                                      <p:cBhvr>
                                        <p:cTn id="52" dur="336" decel="100000" fill="hold"/>
                                        <p:tgtEl>
                                          <p:spTgt spid="20"/>
                                        </p:tgtEl>
                                        <p:attrNameLst>
                                          <p:attrName>ppt_x</p:attrName>
                                        </p:attrNameLst>
                                      </p:cBhvr>
                                      <p:tavLst>
                                        <p:tav tm="0">
                                          <p:val>
                                            <p:strVal val="#ppt_x+0.4"/>
                                          </p:val>
                                        </p:tav>
                                        <p:tav tm="100000">
                                          <p:val>
                                            <p:strVal val="#ppt_x-0.05"/>
                                          </p:val>
                                        </p:tav>
                                      </p:tavLst>
                                    </p:anim>
                                    <p:anim calcmode="lin" valueType="num">
                                      <p:cBhvr>
                                        <p:cTn id="53" dur="336" decel="100000" fill="hold"/>
                                        <p:tgtEl>
                                          <p:spTgt spid="20"/>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20"/>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20"/>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37" presetClass="entr" presetSubtype="0" fill="hold" grpId="3"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20"/>
                                        <p:tgtEl>
                                          <p:spTgt spid="21"/>
                                        </p:tgtEl>
                                      </p:cBhvr>
                                    </p:animEffect>
                                    <p:anim calcmode="lin" valueType="num">
                                      <p:cBhvr>
                                        <p:cTn id="60" dur="420" fill="hold"/>
                                        <p:tgtEl>
                                          <p:spTgt spid="21"/>
                                        </p:tgtEl>
                                        <p:attrNameLst>
                                          <p:attrName>ppt_x</p:attrName>
                                        </p:attrNameLst>
                                      </p:cBhvr>
                                      <p:tavLst>
                                        <p:tav tm="0">
                                          <p:val>
                                            <p:strVal val="#ppt_x"/>
                                          </p:val>
                                        </p:tav>
                                        <p:tav tm="100000">
                                          <p:val>
                                            <p:strVal val="#ppt_x"/>
                                          </p:val>
                                        </p:tav>
                                      </p:tavLst>
                                    </p:anim>
                                    <p:anim calcmode="lin" valueType="num">
                                      <p:cBhvr>
                                        <p:cTn id="61" dur="378" decel="100000" fill="hold"/>
                                        <p:tgtEl>
                                          <p:spTgt spid="21"/>
                                        </p:tgtEl>
                                        <p:attrNameLst>
                                          <p:attrName>ppt_y</p:attrName>
                                        </p:attrNameLst>
                                      </p:cBhvr>
                                      <p:tavLst>
                                        <p:tav tm="0">
                                          <p:val>
                                            <p:strVal val="#ppt_y+1"/>
                                          </p:val>
                                        </p:tav>
                                        <p:tav tm="100000">
                                          <p:val>
                                            <p:strVal val="#ppt_y-.03"/>
                                          </p:val>
                                        </p:tav>
                                      </p:tavLst>
                                    </p:anim>
                                    <p:anim calcmode="lin" valueType="num">
                                      <p:cBhvr>
                                        <p:cTn id="62" dur="42" accel="100000" fill="hold">
                                          <p:stCondLst>
                                            <p:cond delay="378"/>
                                          </p:stCondLst>
                                        </p:cTn>
                                        <p:tgtEl>
                                          <p:spTgt spid="21"/>
                                        </p:tgtEl>
                                        <p:attrNameLst>
                                          <p:attrName>ppt_y</p:attrName>
                                        </p:attrNameLst>
                                      </p:cBhvr>
                                      <p:tavLst>
                                        <p:tav tm="0">
                                          <p:val>
                                            <p:strVal val="#ppt_y-.03"/>
                                          </p:val>
                                        </p:tav>
                                        <p:tav tm="100000">
                                          <p:val>
                                            <p:strVal val="#ppt_y"/>
                                          </p:val>
                                        </p:tav>
                                      </p:tavLst>
                                    </p:anim>
                                  </p:childTnLst>
                                </p:cTn>
                              </p:par>
                            </p:childTnLst>
                          </p:cTn>
                        </p:par>
                        <p:par>
                          <p:cTn id="63" fill="hold">
                            <p:stCondLst>
                              <p:cond delay="5000"/>
                            </p:stCondLst>
                            <p:childTnLst>
                              <p:par>
                                <p:cTn id="64" presetID="16" presetClass="entr" presetSubtype="21" fill="hold" grpId="3" nodeType="afterEffect">
                                  <p:stCondLst>
                                    <p:cond delay="0"/>
                                  </p:stCondLst>
                                  <p:childTnLst>
                                    <p:set>
                                      <p:cBhvr>
                                        <p:cTn id="65" dur="420" fill="hold">
                                          <p:stCondLst>
                                            <p:cond delay="0"/>
                                          </p:stCondLst>
                                        </p:cTn>
                                        <p:tgtEl>
                                          <p:spTgt spid="23"/>
                                        </p:tgtEl>
                                        <p:attrNameLst>
                                          <p:attrName>style.visibility</p:attrName>
                                        </p:attrNameLst>
                                      </p:cBhvr>
                                      <p:to>
                                        <p:strVal val="visible"/>
                                      </p:to>
                                    </p:set>
                                    <p:animEffect transition="in" filter="barn(inVertical)">
                                      <p:cBhvr>
                                        <p:cTn id="66" dur="42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6" grpId="2" uiExpand="1" build="allAtOnce"/>
      <p:bldP spid="8" grpId="3" uiExpand="1" build="allAtOnce"/>
      <p:bldP spid="9" grpId="4" uiExpand="1" build="allAtOnce"/>
      <p:bldP spid="10" grpId="5" uiExpand="1" build="allAtOnce"/>
      <p:bldP spid="12" grpId="6" uiExpand="1" build="allAtOnce"/>
      <p:bldP spid="13" grpId="7" uiExpand="1" build="allAtOnce"/>
      <p:bldP spid="14" grpId="8" uiExpand="1" build="allAtOnce"/>
      <p:bldP spid="16" grpId="9" uiExpand="1" build="allAtOnce"/>
      <p:bldP spid="17" grpId="10" uiExpand="1" build="allAtOnce"/>
      <p:bldP spid="18" grpId="11" uiExpand="1" build="allAtOnce"/>
      <p:bldP spid="20" grpId="12" uiExpand="1" build="allAtOnce"/>
      <p:bldP spid="3" grpId="0"/>
      <p:bldP spid="4" grpId="2"/>
      <p:bldP spid="6" grpId="3" animBg="1"/>
      <p:bldP spid="8" grpId="4"/>
      <p:bldP spid="9" grpId="5"/>
      <p:bldP spid="10" grpId="6" animBg="1"/>
      <p:bldP spid="12" grpId="7"/>
      <p:bldP spid="13" grpId="8"/>
      <p:bldP spid="14" grpId="9" animBg="1"/>
      <p:bldP spid="3" grpId="1"/>
      <p:bldP spid="4" grpId="3"/>
      <p:bldP spid="8" grpId="5"/>
      <p:bldP spid="12" grpId="8"/>
      <p:bldP spid="16" grpId="10"/>
      <p:bldP spid="20" grpId="13"/>
      <p:bldP spid="9" grpId="6"/>
      <p:bldP spid="13" grpId="9"/>
      <p:bldP spid="17" grpId="11"/>
      <p:bldP spid="21" grpId="0"/>
      <p:bldP spid="23" grpId="0"/>
      <p:bldP spid="3" grpId="2"/>
      <p:bldP spid="4" grpId="4"/>
      <p:bldP spid="8" grpId="6"/>
      <p:bldP spid="12" grpId="9"/>
      <p:bldP spid="16" grpId="11"/>
      <p:bldP spid="20" grpId="14"/>
      <p:bldP spid="9" grpId="7"/>
      <p:bldP spid="13" grpId="10"/>
      <p:bldP spid="17" grpId="12"/>
      <p:bldP spid="21" grpId="1"/>
      <p:bldP spid="23" grpId="1"/>
      <p:bldP spid="3" grpId="3"/>
      <p:bldP spid="4" grpId="5"/>
      <p:bldP spid="8" grpId="7"/>
      <p:bldP spid="9" grpId="8"/>
      <p:bldP spid="12" grpId="10"/>
      <p:bldP spid="13" grpId="11"/>
      <p:bldP spid="16" grpId="12"/>
      <p:bldP spid="17" grpId="13"/>
      <p:bldP spid="20" grpId="15"/>
      <p:bldP spid="21" grpId="2"/>
      <p:bldP spid="23" grpId="2"/>
      <p:bldP spid="3" grpId="4"/>
      <p:bldP spid="4" grpId="6"/>
      <p:bldP spid="8" grpId="8"/>
      <p:bldP spid="9" grpId="9"/>
      <p:bldP spid="12" grpId="11"/>
      <p:bldP spid="13" grpId="12"/>
      <p:bldP spid="16" grpId="13"/>
      <p:bldP spid="17" grpId="14"/>
      <p:bldP spid="20" grpId="16"/>
      <p:bldP spid="21" grpId="3"/>
      <p:bldP spid="23" grpId="3"/>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D6A13B"/>
                </a:solidFill>
                <a:latin typeface="微软雅黑" panose="020B0503020204020204" charset="-122"/>
                <a:ea typeface="微软雅黑" panose="020B0503020204020204" charset="-122"/>
              </a:rPr>
              <a:t>02 判断框架</a:t>
            </a:r>
            <a:endParaRPr lang="zh-CN" sz="800" b="1">
              <a:solidFill>
                <a:srgbClr val="D6A13B"/>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FFFFFF"/>
                </a:solidFill>
                <a:latin typeface="微软雅黑" panose="020B0503020204020204" charset="-122"/>
                <a:ea typeface="微软雅黑" panose="020B0503020204020204" charset="-122"/>
              </a:rPr>
              <a:t>判断一条路，不能只看车速，要看方向盘、发动机和终点</a:t>
            </a:r>
            <a:endParaRPr lang="zh-CN" sz="1800" b="1">
              <a:solidFill>
                <a:srgbClr val="FFFFFF"/>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D6A13B"/>
          </a:solidFill>
          <a:ln>
            <a:noFill/>
          </a:ln>
        </p:spPr>
        <p:txBody>
          <a:bodyPr/>
          <a:lstStyle/>
          <a:p/>
        </p:txBody>
      </p:sp>
      <p:sp>
        <p:nvSpPr>
          <p:cNvPr id="6" name="Shape"/>
          <p:cNvSpPr/>
          <p:nvPr/>
        </p:nvSpPr>
        <p:spPr>
          <a:xfrm>
            <a:off x="0" y="0"/>
            <a:ext cx="12191695" cy="6858000"/>
          </a:xfrm>
          <a:prstGeom prst="rect">
            <a:avLst/>
          </a:prstGeom>
          <a:solidFill>
            <a:srgbClr val="000000">
              <a:alpha val="12000"/>
            </a:srgbClr>
          </a:solidFill>
          <a:ln>
            <a:noFill/>
          </a:ln>
        </p:spPr>
        <p:txBody>
          <a:bodyPr/>
          <a:lstStyle/>
          <a:p/>
        </p:txBody>
      </p:sp>
      <p:sp>
        <p:nvSpPr>
          <p:cNvPr id="7" name="Shape"/>
          <p:cNvSpPr/>
          <p:nvPr/>
        </p:nvSpPr>
        <p:spPr>
          <a:xfrm>
            <a:off x="777240" y="1645920"/>
            <a:ext cx="2240280" cy="2971800"/>
          </a:xfrm>
          <a:prstGeom prst="roundRect">
            <a:avLst/>
          </a:prstGeom>
          <a:solidFill>
            <a:srgbClr val="111C2D"/>
          </a:solidFill>
          <a:ln w="12700">
            <a:solidFill>
              <a:srgbClr val="2C3A4C"/>
            </a:solidFill>
          </a:ln>
        </p:spPr>
        <p:txBody>
          <a:bodyPr/>
          <a:lstStyle/>
          <a:p/>
        </p:txBody>
      </p:sp>
      <p:sp>
        <p:nvSpPr>
          <p:cNvPr id="8" name="Text"/>
          <p:cNvSpPr txBox="1"/>
          <p:nvPr/>
        </p:nvSpPr>
        <p:spPr>
          <a:xfrm>
            <a:off x="941832" y="1965960"/>
            <a:ext cx="1874519" cy="237744"/>
          </a:xfrm>
          <a:prstGeom prst="rect">
            <a:avLst/>
          </a:prstGeom>
          <a:noFill/>
          <a:ln>
            <a:noFill/>
          </a:ln>
        </p:spPr>
        <p:txBody>
          <a:bodyPr wrap="square" anchor="t">
            <a:spAutoFit/>
          </a:bodyPr>
          <a:lstStyle/>
          <a:p>
            <a:pPr algn="ctr"/>
            <a:r>
              <a:rPr lang="zh-CN" sz="1400" b="1">
                <a:solidFill>
                  <a:srgbClr val="B91C1C"/>
                </a:solidFill>
                <a:latin typeface="微软雅黑" panose="020B0503020204020204" charset="-122"/>
                <a:ea typeface="微软雅黑" panose="020B0503020204020204" charset="-122"/>
              </a:rPr>
              <a:t>方向盘</a:t>
            </a:r>
            <a:endParaRPr lang="zh-CN" sz="1400" b="1">
              <a:solidFill>
                <a:srgbClr val="B91C1C"/>
              </a:solidFill>
              <a:latin typeface="微软雅黑" panose="020B0503020204020204" charset="-122"/>
              <a:ea typeface="微软雅黑" panose="020B0503020204020204" charset="-122"/>
            </a:endParaRPr>
          </a:p>
        </p:txBody>
      </p:sp>
      <p:sp>
        <p:nvSpPr>
          <p:cNvPr id="9" name="Text"/>
          <p:cNvSpPr txBox="1"/>
          <p:nvPr/>
        </p:nvSpPr>
        <p:spPr>
          <a:xfrm>
            <a:off x="978408" y="2487168"/>
            <a:ext cx="1828800" cy="274320"/>
          </a:xfrm>
          <a:prstGeom prst="rect">
            <a:avLst/>
          </a:prstGeom>
          <a:noFill/>
          <a:ln>
            <a:noFill/>
          </a:ln>
        </p:spPr>
        <p:txBody>
          <a:bodyPr wrap="square" anchor="t">
            <a:spAutoFit/>
          </a:bodyPr>
          <a:lstStyle/>
          <a:p>
            <a:pPr algn="ctr"/>
            <a:r>
              <a:rPr lang="zh-CN" sz="1000" b="1">
                <a:solidFill>
                  <a:srgbClr val="FFFFFF"/>
                </a:solidFill>
                <a:latin typeface="微软雅黑" panose="020B0503020204020204" charset="-122"/>
                <a:ea typeface="微软雅黑" panose="020B0503020204020204" charset="-122"/>
              </a:rPr>
              <a:t>制度文本与政治方向</a:t>
            </a:r>
            <a:endParaRPr lang="zh-CN" sz="1000" b="1">
              <a:solidFill>
                <a:srgbClr val="FFFFFF"/>
              </a:solidFill>
              <a:latin typeface="微软雅黑" panose="020B0503020204020204" charset="-122"/>
              <a:ea typeface="微软雅黑" panose="020B0503020204020204" charset="-122"/>
            </a:endParaRPr>
          </a:p>
        </p:txBody>
      </p:sp>
      <p:sp>
        <p:nvSpPr>
          <p:cNvPr id="10" name="Text"/>
          <p:cNvSpPr txBox="1"/>
          <p:nvPr/>
        </p:nvSpPr>
        <p:spPr>
          <a:xfrm>
            <a:off x="996695" y="3090672"/>
            <a:ext cx="1783080" cy="594360"/>
          </a:xfrm>
          <a:prstGeom prst="rect">
            <a:avLst/>
          </a:prstGeom>
          <a:noFill/>
          <a:ln>
            <a:noFill/>
          </a:ln>
        </p:spPr>
        <p:txBody>
          <a:bodyPr wrap="square" anchor="t">
            <a:spAutoFit/>
          </a:bodyPr>
          <a:lstStyle/>
          <a:p>
            <a:pPr algn="ctr"/>
            <a:r>
              <a:rPr lang="zh-CN" sz="800" b="0">
                <a:solidFill>
                  <a:srgbClr val="BBC6D4"/>
                </a:solidFill>
                <a:latin typeface="微软雅黑" panose="020B0503020204020204" charset="-122"/>
                <a:ea typeface="微软雅黑" panose="020B0503020204020204" charset="-122"/>
              </a:rPr>
              <a:t>宪法、党的领导、社会主义制度</a:t>
            </a:r>
            <a:endParaRPr lang="zh-CN" sz="800" b="0">
              <a:solidFill>
                <a:srgbClr val="BBC6D4"/>
              </a:solidFill>
              <a:latin typeface="微软雅黑" panose="020B0503020204020204" charset="-122"/>
              <a:ea typeface="微软雅黑" panose="020B0503020204020204" charset="-122"/>
            </a:endParaRPr>
          </a:p>
        </p:txBody>
      </p:sp>
      <p:sp>
        <p:nvSpPr>
          <p:cNvPr id="11" name="Shape"/>
          <p:cNvSpPr/>
          <p:nvPr/>
        </p:nvSpPr>
        <p:spPr>
          <a:xfrm>
            <a:off x="3593592" y="1645920"/>
            <a:ext cx="2240280" cy="2971800"/>
          </a:xfrm>
          <a:prstGeom prst="roundRect">
            <a:avLst/>
          </a:prstGeom>
          <a:solidFill>
            <a:srgbClr val="111C2D"/>
          </a:solidFill>
          <a:ln w="12700">
            <a:solidFill>
              <a:srgbClr val="2C3A4C"/>
            </a:solidFill>
          </a:ln>
        </p:spPr>
        <p:txBody>
          <a:bodyPr/>
          <a:lstStyle/>
          <a:p/>
        </p:txBody>
      </p:sp>
      <p:sp>
        <p:nvSpPr>
          <p:cNvPr id="12" name="Text"/>
          <p:cNvSpPr txBox="1"/>
          <p:nvPr/>
        </p:nvSpPr>
        <p:spPr>
          <a:xfrm>
            <a:off x="3758184" y="1965960"/>
            <a:ext cx="1874519" cy="237744"/>
          </a:xfrm>
          <a:prstGeom prst="rect">
            <a:avLst/>
          </a:prstGeom>
          <a:noFill/>
          <a:ln>
            <a:noFill/>
          </a:ln>
        </p:spPr>
        <p:txBody>
          <a:bodyPr wrap="square" anchor="t">
            <a:spAutoFit/>
          </a:bodyPr>
          <a:lstStyle/>
          <a:p>
            <a:pPr algn="ctr"/>
            <a:r>
              <a:rPr lang="zh-CN" sz="1400" b="1">
                <a:solidFill>
                  <a:srgbClr val="00A6A6"/>
                </a:solidFill>
                <a:latin typeface="微软雅黑" panose="020B0503020204020204" charset="-122"/>
                <a:ea typeface="微软雅黑" panose="020B0503020204020204" charset="-122"/>
              </a:rPr>
              <a:t>发动机</a:t>
            </a:r>
            <a:endParaRPr lang="zh-CN" sz="1400" b="1">
              <a:solidFill>
                <a:srgbClr val="00A6A6"/>
              </a:solidFill>
              <a:latin typeface="微软雅黑" panose="020B0503020204020204" charset="-122"/>
              <a:ea typeface="微软雅黑" panose="020B0503020204020204" charset="-122"/>
            </a:endParaRPr>
          </a:p>
        </p:txBody>
      </p:sp>
      <p:sp>
        <p:nvSpPr>
          <p:cNvPr id="13" name="Text"/>
          <p:cNvSpPr txBox="1"/>
          <p:nvPr/>
        </p:nvSpPr>
        <p:spPr>
          <a:xfrm>
            <a:off x="3794760" y="2487168"/>
            <a:ext cx="1828800" cy="274320"/>
          </a:xfrm>
          <a:prstGeom prst="rect">
            <a:avLst/>
          </a:prstGeom>
          <a:noFill/>
          <a:ln>
            <a:noFill/>
          </a:ln>
        </p:spPr>
        <p:txBody>
          <a:bodyPr wrap="square" anchor="t">
            <a:spAutoFit/>
          </a:bodyPr>
          <a:lstStyle/>
          <a:p>
            <a:pPr algn="ctr"/>
            <a:r>
              <a:rPr lang="zh-CN" sz="1000" b="1">
                <a:solidFill>
                  <a:srgbClr val="FFFFFF"/>
                </a:solidFill>
                <a:latin typeface="微软雅黑" panose="020B0503020204020204" charset="-122"/>
                <a:ea typeface="微软雅黑" panose="020B0503020204020204" charset="-122"/>
              </a:rPr>
              <a:t>经济运行机制</a:t>
            </a:r>
            <a:endParaRPr lang="zh-CN" sz="1000" b="1">
              <a:solidFill>
                <a:srgbClr val="FFFFFF"/>
              </a:solidFill>
              <a:latin typeface="微软雅黑" panose="020B0503020204020204" charset="-122"/>
              <a:ea typeface="微软雅黑" panose="020B0503020204020204" charset="-122"/>
            </a:endParaRPr>
          </a:p>
        </p:txBody>
      </p:sp>
      <p:sp>
        <p:nvSpPr>
          <p:cNvPr id="14" name="Text"/>
          <p:cNvSpPr txBox="1"/>
          <p:nvPr/>
        </p:nvSpPr>
        <p:spPr>
          <a:xfrm>
            <a:off x="3813048" y="3090672"/>
            <a:ext cx="1783080" cy="594360"/>
          </a:xfrm>
          <a:prstGeom prst="rect">
            <a:avLst/>
          </a:prstGeom>
          <a:noFill/>
          <a:ln>
            <a:noFill/>
          </a:ln>
        </p:spPr>
        <p:txBody>
          <a:bodyPr wrap="square" anchor="t">
            <a:spAutoFit/>
          </a:bodyPr>
          <a:lstStyle/>
          <a:p>
            <a:pPr algn="ctr"/>
            <a:r>
              <a:rPr lang="zh-CN" sz="800" b="0">
                <a:solidFill>
                  <a:srgbClr val="BBC6D4"/>
                </a:solidFill>
                <a:latin typeface="微软雅黑" panose="020B0503020204020204" charset="-122"/>
                <a:ea typeface="微软雅黑" panose="020B0503020204020204" charset="-122"/>
              </a:rPr>
              <a:t>市场配置资源 + 政府战略引导</a:t>
            </a:r>
            <a:endParaRPr lang="zh-CN" sz="800" b="0">
              <a:solidFill>
                <a:srgbClr val="BBC6D4"/>
              </a:solidFill>
              <a:latin typeface="微软雅黑" panose="020B0503020204020204" charset="-122"/>
              <a:ea typeface="微软雅黑" panose="020B0503020204020204" charset="-122"/>
            </a:endParaRPr>
          </a:p>
        </p:txBody>
      </p:sp>
      <p:sp>
        <p:nvSpPr>
          <p:cNvPr id="15" name="Shape"/>
          <p:cNvSpPr/>
          <p:nvPr/>
        </p:nvSpPr>
        <p:spPr>
          <a:xfrm>
            <a:off x="6409944" y="1645920"/>
            <a:ext cx="2240280" cy="2971800"/>
          </a:xfrm>
          <a:prstGeom prst="roundRect">
            <a:avLst/>
          </a:prstGeom>
          <a:solidFill>
            <a:srgbClr val="111C2D"/>
          </a:solidFill>
          <a:ln w="12700">
            <a:solidFill>
              <a:srgbClr val="2C3A4C"/>
            </a:solidFill>
          </a:ln>
        </p:spPr>
        <p:txBody>
          <a:bodyPr/>
          <a:lstStyle/>
          <a:p/>
        </p:txBody>
      </p:sp>
      <p:sp>
        <p:nvSpPr>
          <p:cNvPr id="16" name="Text"/>
          <p:cNvSpPr txBox="1"/>
          <p:nvPr/>
        </p:nvSpPr>
        <p:spPr>
          <a:xfrm>
            <a:off x="6574536" y="1965960"/>
            <a:ext cx="1874519" cy="237744"/>
          </a:xfrm>
          <a:prstGeom prst="rect">
            <a:avLst/>
          </a:prstGeom>
          <a:noFill/>
          <a:ln>
            <a:noFill/>
          </a:ln>
        </p:spPr>
        <p:txBody>
          <a:bodyPr wrap="square" anchor="t">
            <a:spAutoFit/>
          </a:bodyPr>
          <a:lstStyle/>
          <a:p>
            <a:pPr algn="ctr"/>
            <a:r>
              <a:rPr lang="zh-CN" sz="1400" b="1">
                <a:solidFill>
                  <a:srgbClr val="D6A13B"/>
                </a:solidFill>
                <a:latin typeface="微软雅黑" panose="020B0503020204020204" charset="-122"/>
                <a:ea typeface="微软雅黑" panose="020B0503020204020204" charset="-122"/>
              </a:rPr>
              <a:t>乘客</a:t>
            </a:r>
            <a:endParaRPr lang="zh-CN" sz="1400" b="1">
              <a:solidFill>
                <a:srgbClr val="D6A13B"/>
              </a:solidFill>
              <a:latin typeface="微软雅黑" panose="020B0503020204020204" charset="-122"/>
              <a:ea typeface="微软雅黑" panose="020B0503020204020204" charset="-122"/>
            </a:endParaRPr>
          </a:p>
        </p:txBody>
      </p:sp>
      <p:sp>
        <p:nvSpPr>
          <p:cNvPr id="17" name="Text"/>
          <p:cNvSpPr txBox="1"/>
          <p:nvPr/>
        </p:nvSpPr>
        <p:spPr>
          <a:xfrm>
            <a:off x="6611112" y="2487168"/>
            <a:ext cx="1828800" cy="274320"/>
          </a:xfrm>
          <a:prstGeom prst="rect">
            <a:avLst/>
          </a:prstGeom>
          <a:noFill/>
          <a:ln>
            <a:noFill/>
          </a:ln>
        </p:spPr>
        <p:txBody>
          <a:bodyPr wrap="square" anchor="t">
            <a:spAutoFit/>
          </a:bodyPr>
          <a:lstStyle/>
          <a:p>
            <a:pPr algn="ctr"/>
            <a:r>
              <a:rPr lang="zh-CN" sz="1000" b="1">
                <a:solidFill>
                  <a:srgbClr val="FFFFFF"/>
                </a:solidFill>
                <a:latin typeface="微软雅黑" panose="020B0503020204020204" charset="-122"/>
                <a:ea typeface="微软雅黑" panose="020B0503020204020204" charset="-122"/>
              </a:rPr>
              <a:t>发展成果归属</a:t>
            </a:r>
            <a:endParaRPr lang="zh-CN" sz="1000" b="1">
              <a:solidFill>
                <a:srgbClr val="FFFFFF"/>
              </a:solidFill>
              <a:latin typeface="微软雅黑" panose="020B0503020204020204" charset="-122"/>
              <a:ea typeface="微软雅黑" panose="020B0503020204020204" charset="-122"/>
            </a:endParaRPr>
          </a:p>
        </p:txBody>
      </p:sp>
      <p:sp>
        <p:nvSpPr>
          <p:cNvPr id="18" name="Text"/>
          <p:cNvSpPr txBox="1"/>
          <p:nvPr/>
        </p:nvSpPr>
        <p:spPr>
          <a:xfrm>
            <a:off x="6629400" y="3090672"/>
            <a:ext cx="1783080" cy="594360"/>
          </a:xfrm>
          <a:prstGeom prst="rect">
            <a:avLst/>
          </a:prstGeom>
          <a:noFill/>
          <a:ln>
            <a:noFill/>
          </a:ln>
        </p:spPr>
        <p:txBody>
          <a:bodyPr wrap="square" anchor="t">
            <a:spAutoFit/>
          </a:bodyPr>
          <a:lstStyle/>
          <a:p>
            <a:pPr algn="ctr"/>
            <a:r>
              <a:rPr lang="zh-CN" sz="800" b="0">
                <a:solidFill>
                  <a:srgbClr val="BBC6D4"/>
                </a:solidFill>
                <a:latin typeface="微软雅黑" panose="020B0503020204020204" charset="-122"/>
                <a:ea typeface="微软雅黑" panose="020B0503020204020204" charset="-122"/>
              </a:rPr>
              <a:t>就业、收入、公共服务、共同富裕</a:t>
            </a:r>
            <a:endParaRPr lang="zh-CN" sz="800" b="0">
              <a:solidFill>
                <a:srgbClr val="BBC6D4"/>
              </a:solidFill>
              <a:latin typeface="微软雅黑" panose="020B0503020204020204" charset="-122"/>
              <a:ea typeface="微软雅黑" panose="020B0503020204020204" charset="-122"/>
            </a:endParaRPr>
          </a:p>
        </p:txBody>
      </p:sp>
      <p:sp>
        <p:nvSpPr>
          <p:cNvPr id="19" name="Shape"/>
          <p:cNvSpPr/>
          <p:nvPr/>
        </p:nvSpPr>
        <p:spPr>
          <a:xfrm>
            <a:off x="9226296" y="1645920"/>
            <a:ext cx="2240280" cy="2971800"/>
          </a:xfrm>
          <a:prstGeom prst="roundRect">
            <a:avLst/>
          </a:prstGeom>
          <a:solidFill>
            <a:srgbClr val="111C2D"/>
          </a:solidFill>
          <a:ln w="12700">
            <a:solidFill>
              <a:srgbClr val="2C3A4C"/>
            </a:solidFill>
          </a:ln>
        </p:spPr>
        <p:txBody>
          <a:bodyPr/>
          <a:lstStyle/>
          <a:p/>
        </p:txBody>
      </p:sp>
      <p:sp>
        <p:nvSpPr>
          <p:cNvPr id="20" name="Text"/>
          <p:cNvSpPr txBox="1"/>
          <p:nvPr/>
        </p:nvSpPr>
        <p:spPr>
          <a:xfrm>
            <a:off x="9390888" y="1965960"/>
            <a:ext cx="1874519" cy="237744"/>
          </a:xfrm>
          <a:prstGeom prst="rect">
            <a:avLst/>
          </a:prstGeom>
          <a:noFill/>
          <a:ln>
            <a:noFill/>
          </a:ln>
        </p:spPr>
        <p:txBody>
          <a:bodyPr wrap="square" anchor="t">
            <a:spAutoFit/>
          </a:bodyPr>
          <a:lstStyle/>
          <a:p>
            <a:pPr algn="ctr"/>
            <a:r>
              <a:rPr lang="zh-CN" sz="1400" b="1">
                <a:solidFill>
                  <a:srgbClr val="2563EB"/>
                </a:solidFill>
                <a:latin typeface="微软雅黑" panose="020B0503020204020204" charset="-122"/>
                <a:ea typeface="微软雅黑" panose="020B0503020204020204" charset="-122"/>
              </a:rPr>
              <a:t>路况</a:t>
            </a:r>
            <a:endParaRPr lang="zh-CN" sz="1400" b="1">
              <a:solidFill>
                <a:srgbClr val="2563EB"/>
              </a:solidFill>
              <a:latin typeface="微软雅黑" panose="020B0503020204020204" charset="-122"/>
              <a:ea typeface="微软雅黑" panose="020B0503020204020204" charset="-122"/>
            </a:endParaRPr>
          </a:p>
        </p:txBody>
      </p:sp>
      <p:sp>
        <p:nvSpPr>
          <p:cNvPr id="21" name="Text"/>
          <p:cNvSpPr txBox="1"/>
          <p:nvPr/>
        </p:nvSpPr>
        <p:spPr>
          <a:xfrm>
            <a:off x="9427464" y="2487168"/>
            <a:ext cx="1828800" cy="274320"/>
          </a:xfrm>
          <a:prstGeom prst="rect">
            <a:avLst/>
          </a:prstGeom>
          <a:noFill/>
          <a:ln>
            <a:noFill/>
          </a:ln>
        </p:spPr>
        <p:txBody>
          <a:bodyPr wrap="square" anchor="t">
            <a:spAutoFit/>
          </a:bodyPr>
          <a:lstStyle/>
          <a:p>
            <a:pPr algn="ctr"/>
            <a:r>
              <a:rPr lang="zh-CN" sz="1000" b="1">
                <a:solidFill>
                  <a:srgbClr val="FFFFFF"/>
                </a:solidFill>
                <a:latin typeface="微软雅黑" panose="020B0503020204020204" charset="-122"/>
                <a:ea typeface="微软雅黑" panose="020B0503020204020204" charset="-122"/>
              </a:rPr>
              <a:t>现实矛盾与调整</a:t>
            </a:r>
            <a:endParaRPr lang="zh-CN" sz="1000" b="1">
              <a:solidFill>
                <a:srgbClr val="FFFFFF"/>
              </a:solidFill>
              <a:latin typeface="微软雅黑" panose="020B0503020204020204" charset="-122"/>
              <a:ea typeface="微软雅黑" panose="020B0503020204020204" charset="-122"/>
            </a:endParaRPr>
          </a:p>
        </p:txBody>
      </p:sp>
      <p:sp>
        <p:nvSpPr>
          <p:cNvPr id="22" name="Text"/>
          <p:cNvSpPr txBox="1"/>
          <p:nvPr/>
        </p:nvSpPr>
        <p:spPr>
          <a:xfrm>
            <a:off x="9445752" y="3090672"/>
            <a:ext cx="1783080" cy="594360"/>
          </a:xfrm>
          <a:prstGeom prst="rect">
            <a:avLst/>
          </a:prstGeom>
          <a:noFill/>
          <a:ln>
            <a:noFill/>
          </a:ln>
        </p:spPr>
        <p:txBody>
          <a:bodyPr wrap="square" anchor="t">
            <a:spAutoFit/>
          </a:bodyPr>
          <a:lstStyle/>
          <a:p>
            <a:pPr algn="ctr"/>
            <a:r>
              <a:rPr lang="zh-CN" sz="800" b="0">
                <a:solidFill>
                  <a:srgbClr val="BBC6D4"/>
                </a:solidFill>
                <a:latin typeface="微软雅黑" panose="020B0503020204020204" charset="-122"/>
                <a:ea typeface="微软雅黑" panose="020B0503020204020204" charset="-122"/>
              </a:rPr>
              <a:t>不平衡、资本扩张、外部压力</a:t>
            </a:r>
            <a:endParaRPr lang="zh-CN" sz="800" b="0">
              <a:solidFill>
                <a:srgbClr val="BBC6D4"/>
              </a:solidFill>
              <a:latin typeface="微软雅黑" panose="020B0503020204020204" charset="-122"/>
              <a:ea typeface="微软雅黑" panose="020B0503020204020204" charset="-122"/>
            </a:endParaRPr>
          </a:p>
        </p:txBody>
      </p:sp>
      <p:sp>
        <p:nvSpPr>
          <p:cNvPr id="23" name="Text"/>
          <p:cNvSpPr txBox="1"/>
          <p:nvPr/>
        </p:nvSpPr>
        <p:spPr>
          <a:xfrm>
            <a:off x="914400" y="5349240"/>
            <a:ext cx="9966960" cy="237744"/>
          </a:xfrm>
          <a:prstGeom prst="rect">
            <a:avLst/>
          </a:prstGeom>
          <a:noFill/>
          <a:ln>
            <a:noFill/>
          </a:ln>
        </p:spPr>
        <p:txBody>
          <a:bodyPr wrap="square" anchor="t">
            <a:spAutoFit/>
          </a:bodyPr>
          <a:lstStyle/>
          <a:p>
            <a:pPr algn="ctr"/>
            <a:r>
              <a:rPr lang="zh-CN" sz="1300" b="1">
                <a:solidFill>
                  <a:srgbClr val="F2E6BE"/>
                </a:solidFill>
                <a:latin typeface="微软雅黑" panose="020B0503020204020204" charset="-122"/>
                <a:ea typeface="微软雅黑" panose="020B0503020204020204" charset="-122"/>
              </a:rPr>
              <a:t>如果四个维度放在一起看，答案会比“是/不是”更清楚。</a:t>
            </a:r>
            <a:endParaRPr lang="zh-CN" sz="1300" b="1">
              <a:solidFill>
                <a:srgbClr val="F2E6BE"/>
              </a:solidFill>
              <a:latin typeface="微软雅黑" panose="020B0503020204020204" charset="-122"/>
              <a:ea typeface="微软雅黑" panose="020B0503020204020204" charset="-122"/>
            </a:endParaRPr>
          </a:p>
        </p:txBody>
      </p:sp>
      <p:sp>
        <p:nvSpPr>
          <p:cNvPr id="24"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资料来源：公开资料整理；宪法、二十大报告、二十届三中全会决定、财政部等</a:t>
            </a:r>
            <a:endParaRPr lang="zh-CN" sz="550" b="0">
              <a:solidFill>
                <a:srgbClr val="8C939D"/>
              </a:solidFill>
              <a:latin typeface="微软雅黑" panose="020B0503020204020204" charset="-122"/>
              <a:ea typeface="微软雅黑" panose="020B0503020204020204" charset="-122"/>
            </a:endParaRPr>
          </a:p>
        </p:txBody>
      </p:sp>
      <p:sp>
        <p:nvSpPr>
          <p:cNvPr id="25"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 presetClass="entr" presetSubtype="4" fill="hold" grpId="7" nodeType="afterEffect">
                                  <p:stCondLst>
                                    <p:cond delay="0"/>
                                  </p:stCondLst>
                                  <p:childTnLst>
                                    <p:set>
                                      <p:cBhvr>
                                        <p:cTn id="15" dur="420" fill="hold">
                                          <p:stCondLst>
                                            <p:cond delay="0"/>
                                          </p:stCondLst>
                                        </p:cTn>
                                        <p:tgtEl>
                                          <p:spTgt spid="8"/>
                                        </p:tgtEl>
                                        <p:attrNameLst>
                                          <p:attrName>style.visibility</p:attrName>
                                        </p:attrNameLst>
                                      </p:cBhvr>
                                      <p:to>
                                        <p:strVal val="visible"/>
                                      </p:to>
                                    </p:set>
                                    <p:anim calcmode="lin" valueType="num">
                                      <p:cBhvr additive="base">
                                        <p:cTn id="16" dur="420" fill="hold"/>
                                        <p:tgtEl>
                                          <p:spTgt spid="8"/>
                                        </p:tgtEl>
                                        <p:attrNameLst>
                                          <p:attrName>ppt_x</p:attrName>
                                        </p:attrNameLst>
                                      </p:cBhvr>
                                      <p:tavLst>
                                        <p:tav tm="0">
                                          <p:val>
                                            <p:strVal val="#ppt_x"/>
                                          </p:val>
                                        </p:tav>
                                        <p:tav tm="100000">
                                          <p:val>
                                            <p:strVal val="#ppt_x"/>
                                          </p:val>
                                        </p:tav>
                                      </p:tavLst>
                                    </p:anim>
                                    <p:anim calcmode="lin" valueType="num">
                                      <p:cBhvr additive="base">
                                        <p:cTn id="17" dur="42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8"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36" decel="100000"/>
                                        <p:tgtEl>
                                          <p:spTgt spid="9"/>
                                        </p:tgtEl>
                                      </p:cBhvr>
                                    </p:animEffect>
                                    <p:anim calcmode="lin" valueType="num">
                                      <p:cBhvr>
                                        <p:cTn id="22" dur="336" decel="100000" fill="hold"/>
                                        <p:tgtEl>
                                          <p:spTgt spid="9"/>
                                        </p:tgtEl>
                                        <p:attrNameLst>
                                          <p:attrName>style.rotation</p:attrName>
                                        </p:attrNameLst>
                                      </p:cBhvr>
                                      <p:tavLst>
                                        <p:tav tm="0">
                                          <p:val>
                                            <p:fltVal val="-90"/>
                                          </p:val>
                                        </p:tav>
                                        <p:tav tm="100000">
                                          <p:val>
                                            <p:fltVal val="0"/>
                                          </p:val>
                                        </p:tav>
                                      </p:tavLst>
                                    </p:anim>
                                    <p:anim calcmode="lin" valueType="num">
                                      <p:cBhvr>
                                        <p:cTn id="23" dur="336" decel="100000" fill="hold"/>
                                        <p:tgtEl>
                                          <p:spTgt spid="9"/>
                                        </p:tgtEl>
                                        <p:attrNameLst>
                                          <p:attrName>ppt_x</p:attrName>
                                        </p:attrNameLst>
                                      </p:cBhvr>
                                      <p:tavLst>
                                        <p:tav tm="0">
                                          <p:val>
                                            <p:strVal val="#ppt_x+0.4"/>
                                          </p:val>
                                        </p:tav>
                                        <p:tav tm="100000">
                                          <p:val>
                                            <p:strVal val="#ppt_x-0.05"/>
                                          </p:val>
                                        </p:tav>
                                      </p:tavLst>
                                    </p:anim>
                                    <p:anim calcmode="lin" valueType="num">
                                      <p:cBhvr>
                                        <p:cTn id="24" dur="336" decel="100000" fill="hold"/>
                                        <p:tgtEl>
                                          <p:spTgt spid="9"/>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9"/>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9"/>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9"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20"/>
                                        <p:tgtEl>
                                          <p:spTgt spid="10"/>
                                        </p:tgtEl>
                                      </p:cBhvr>
                                    </p:animEffect>
                                    <p:anim calcmode="lin" valueType="num">
                                      <p:cBhvr>
                                        <p:cTn id="31" dur="420" fill="hold"/>
                                        <p:tgtEl>
                                          <p:spTgt spid="10"/>
                                        </p:tgtEl>
                                        <p:attrNameLst>
                                          <p:attrName>ppt_x</p:attrName>
                                        </p:attrNameLst>
                                      </p:cBhvr>
                                      <p:tavLst>
                                        <p:tav tm="0">
                                          <p:val>
                                            <p:strVal val="#ppt_x"/>
                                          </p:val>
                                        </p:tav>
                                        <p:tav tm="100000">
                                          <p:val>
                                            <p:strVal val="#ppt_x"/>
                                          </p:val>
                                        </p:tav>
                                      </p:tavLst>
                                    </p:anim>
                                    <p:anim calcmode="lin" valueType="num">
                                      <p:cBhvr>
                                        <p:cTn id="32" dur="378" decel="100000" fill="hold"/>
                                        <p:tgtEl>
                                          <p:spTgt spid="10"/>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0"/>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0" nodeType="afterEffect">
                                  <p:stCondLst>
                                    <p:cond delay="0"/>
                                  </p:stCondLst>
                                  <p:childTnLst>
                                    <p:set>
                                      <p:cBhvr>
                                        <p:cTn id="36" dur="420" fill="hold">
                                          <p:stCondLst>
                                            <p:cond delay="0"/>
                                          </p:stCondLst>
                                        </p:cTn>
                                        <p:tgtEl>
                                          <p:spTgt spid="12"/>
                                        </p:tgtEl>
                                        <p:attrNameLst>
                                          <p:attrName>style.visibility</p:attrName>
                                        </p:attrNameLst>
                                      </p:cBhvr>
                                      <p:to>
                                        <p:strVal val="visible"/>
                                      </p:to>
                                    </p:set>
                                    <p:animEffect transition="in" filter="fade">
                                      <p:cBhvr>
                                        <p:cTn id="37" dur="420"/>
                                        <p:tgtEl>
                                          <p:spTgt spid="12"/>
                                        </p:tgtEl>
                                      </p:cBhvr>
                                    </p:animEffect>
                                  </p:childTnLst>
                                </p:cTn>
                              </p:par>
                            </p:childTnLst>
                          </p:cTn>
                        </p:par>
                        <p:par>
                          <p:cTn id="38" fill="hold">
                            <p:stCondLst>
                              <p:cond delay="3000"/>
                            </p:stCondLst>
                            <p:childTnLst>
                              <p:par>
                                <p:cTn id="39" presetID="22" presetClass="entr" presetSubtype="4" fill="hold" grpId="11" nodeType="afterEffect">
                                  <p:stCondLst>
                                    <p:cond delay="0"/>
                                  </p:stCondLst>
                                  <p:childTnLst>
                                    <p:set>
                                      <p:cBhvr>
                                        <p:cTn id="40" dur="420" fill="hold">
                                          <p:stCondLst>
                                            <p:cond delay="0"/>
                                          </p:stCondLst>
                                        </p:cTn>
                                        <p:tgtEl>
                                          <p:spTgt spid="13"/>
                                        </p:tgtEl>
                                        <p:attrNameLst>
                                          <p:attrName>style.visibility</p:attrName>
                                        </p:attrNameLst>
                                      </p:cBhvr>
                                      <p:to>
                                        <p:strVal val="visible"/>
                                      </p:to>
                                    </p:set>
                                    <p:animEffect transition="in" filter="wipe(down)">
                                      <p:cBhvr>
                                        <p:cTn id="41" dur="420"/>
                                        <p:tgtEl>
                                          <p:spTgt spid="13"/>
                                        </p:tgtEl>
                                      </p:cBhvr>
                                    </p:animEffect>
                                  </p:childTnLst>
                                </p:cTn>
                              </p:par>
                            </p:childTnLst>
                          </p:cTn>
                        </p:par>
                        <p:par>
                          <p:cTn id="42" fill="hold">
                            <p:stCondLst>
                              <p:cond delay="3500"/>
                            </p:stCondLst>
                            <p:childTnLst>
                              <p:par>
                                <p:cTn id="43" presetID="2" presetClass="entr" presetSubtype="4" fill="hold" grpId="11" nodeType="afterEffect">
                                  <p:stCondLst>
                                    <p:cond delay="0"/>
                                  </p:stCondLst>
                                  <p:childTnLst>
                                    <p:set>
                                      <p:cBhvr>
                                        <p:cTn id="44" dur="420" fill="hold">
                                          <p:stCondLst>
                                            <p:cond delay="0"/>
                                          </p:stCondLst>
                                        </p:cTn>
                                        <p:tgtEl>
                                          <p:spTgt spid="14"/>
                                        </p:tgtEl>
                                        <p:attrNameLst>
                                          <p:attrName>style.visibility</p:attrName>
                                        </p:attrNameLst>
                                      </p:cBhvr>
                                      <p:to>
                                        <p:strVal val="visible"/>
                                      </p:to>
                                    </p:set>
                                    <p:anim calcmode="lin" valueType="num">
                                      <p:cBhvr additive="base">
                                        <p:cTn id="45" dur="420" fill="hold"/>
                                        <p:tgtEl>
                                          <p:spTgt spid="14"/>
                                        </p:tgtEl>
                                        <p:attrNameLst>
                                          <p:attrName>ppt_x</p:attrName>
                                        </p:attrNameLst>
                                      </p:cBhvr>
                                      <p:tavLst>
                                        <p:tav tm="0">
                                          <p:val>
                                            <p:strVal val="#ppt_x"/>
                                          </p:val>
                                        </p:tav>
                                        <p:tav tm="100000">
                                          <p:val>
                                            <p:strVal val="#ppt_x"/>
                                          </p:val>
                                        </p:tav>
                                      </p:tavLst>
                                    </p:anim>
                                    <p:anim calcmode="lin" valueType="num">
                                      <p:cBhvr additive="base">
                                        <p:cTn id="46" dur="420" fill="hold"/>
                                        <p:tgtEl>
                                          <p:spTgt spid="14"/>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2"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336" decel="100000"/>
                                        <p:tgtEl>
                                          <p:spTgt spid="16"/>
                                        </p:tgtEl>
                                      </p:cBhvr>
                                    </p:animEffect>
                                    <p:anim calcmode="lin" valueType="num">
                                      <p:cBhvr>
                                        <p:cTn id="51" dur="336" decel="100000" fill="hold"/>
                                        <p:tgtEl>
                                          <p:spTgt spid="16"/>
                                        </p:tgtEl>
                                        <p:attrNameLst>
                                          <p:attrName>style.rotation</p:attrName>
                                        </p:attrNameLst>
                                      </p:cBhvr>
                                      <p:tavLst>
                                        <p:tav tm="0">
                                          <p:val>
                                            <p:fltVal val="-90"/>
                                          </p:val>
                                        </p:tav>
                                        <p:tav tm="100000">
                                          <p:val>
                                            <p:fltVal val="0"/>
                                          </p:val>
                                        </p:tav>
                                      </p:tavLst>
                                    </p:anim>
                                    <p:anim calcmode="lin" valueType="num">
                                      <p:cBhvr>
                                        <p:cTn id="52" dur="336" decel="100000" fill="hold"/>
                                        <p:tgtEl>
                                          <p:spTgt spid="16"/>
                                        </p:tgtEl>
                                        <p:attrNameLst>
                                          <p:attrName>ppt_x</p:attrName>
                                        </p:attrNameLst>
                                      </p:cBhvr>
                                      <p:tavLst>
                                        <p:tav tm="0">
                                          <p:val>
                                            <p:strVal val="#ppt_x+0.4"/>
                                          </p:val>
                                        </p:tav>
                                        <p:tav tm="100000">
                                          <p:val>
                                            <p:strVal val="#ppt_x-0.05"/>
                                          </p:val>
                                        </p:tav>
                                      </p:tavLst>
                                    </p:anim>
                                    <p:anim calcmode="lin" valueType="num">
                                      <p:cBhvr>
                                        <p:cTn id="53" dur="336" decel="100000" fill="hold"/>
                                        <p:tgtEl>
                                          <p:spTgt spid="16"/>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16"/>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16"/>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37" presetClass="entr" presetSubtype="0" fill="hold" grpId="13"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420"/>
                                        <p:tgtEl>
                                          <p:spTgt spid="17"/>
                                        </p:tgtEl>
                                      </p:cBhvr>
                                    </p:animEffect>
                                    <p:anim calcmode="lin" valueType="num">
                                      <p:cBhvr>
                                        <p:cTn id="60" dur="420" fill="hold"/>
                                        <p:tgtEl>
                                          <p:spTgt spid="17"/>
                                        </p:tgtEl>
                                        <p:attrNameLst>
                                          <p:attrName>ppt_x</p:attrName>
                                        </p:attrNameLst>
                                      </p:cBhvr>
                                      <p:tavLst>
                                        <p:tav tm="0">
                                          <p:val>
                                            <p:strVal val="#ppt_x"/>
                                          </p:val>
                                        </p:tav>
                                        <p:tav tm="100000">
                                          <p:val>
                                            <p:strVal val="#ppt_x"/>
                                          </p:val>
                                        </p:tav>
                                      </p:tavLst>
                                    </p:anim>
                                    <p:anim calcmode="lin" valueType="num">
                                      <p:cBhvr>
                                        <p:cTn id="61" dur="378" decel="100000" fill="hold"/>
                                        <p:tgtEl>
                                          <p:spTgt spid="17"/>
                                        </p:tgtEl>
                                        <p:attrNameLst>
                                          <p:attrName>ppt_y</p:attrName>
                                        </p:attrNameLst>
                                      </p:cBhvr>
                                      <p:tavLst>
                                        <p:tav tm="0">
                                          <p:val>
                                            <p:strVal val="#ppt_y+1"/>
                                          </p:val>
                                        </p:tav>
                                        <p:tav tm="100000">
                                          <p:val>
                                            <p:strVal val="#ppt_y-.03"/>
                                          </p:val>
                                        </p:tav>
                                      </p:tavLst>
                                    </p:anim>
                                    <p:anim calcmode="lin" valueType="num">
                                      <p:cBhvr>
                                        <p:cTn id="62" dur="42" accel="100000" fill="hold">
                                          <p:stCondLst>
                                            <p:cond delay="378"/>
                                          </p:stCondLst>
                                        </p:cTn>
                                        <p:tgtEl>
                                          <p:spTgt spid="17"/>
                                        </p:tgtEl>
                                        <p:attrNameLst>
                                          <p:attrName>ppt_y</p:attrName>
                                        </p:attrNameLst>
                                      </p:cBhvr>
                                      <p:tavLst>
                                        <p:tav tm="0">
                                          <p:val>
                                            <p:strVal val="#ppt_y-.03"/>
                                          </p:val>
                                        </p:tav>
                                        <p:tav tm="100000">
                                          <p:val>
                                            <p:strVal val="#ppt_y"/>
                                          </p:val>
                                        </p:tav>
                                      </p:tavLst>
                                    </p:anim>
                                  </p:childTnLst>
                                </p:cTn>
                              </p:par>
                            </p:childTnLst>
                          </p:cTn>
                        </p:par>
                        <p:par>
                          <p:cTn id="63" fill="hold">
                            <p:stCondLst>
                              <p:cond delay="5000"/>
                            </p:stCondLst>
                            <p:childTnLst>
                              <p:par>
                                <p:cTn id="64" presetID="10" presetClass="entr" presetSubtype="0" fill="hold" grpId="12" nodeType="afterEffect">
                                  <p:stCondLst>
                                    <p:cond delay="0"/>
                                  </p:stCondLst>
                                  <p:childTnLst>
                                    <p:set>
                                      <p:cBhvr>
                                        <p:cTn id="65" dur="420" fill="hold">
                                          <p:stCondLst>
                                            <p:cond delay="0"/>
                                          </p:stCondLst>
                                        </p:cTn>
                                        <p:tgtEl>
                                          <p:spTgt spid="18"/>
                                        </p:tgtEl>
                                        <p:attrNameLst>
                                          <p:attrName>style.visibility</p:attrName>
                                        </p:attrNameLst>
                                      </p:cBhvr>
                                      <p:to>
                                        <p:strVal val="visible"/>
                                      </p:to>
                                    </p:set>
                                    <p:animEffect transition="in" filter="fade">
                                      <p:cBhvr>
                                        <p:cTn id="66" dur="420"/>
                                        <p:tgtEl>
                                          <p:spTgt spid="18"/>
                                        </p:tgtEl>
                                      </p:cBhvr>
                                    </p:animEffect>
                                  </p:childTnLst>
                                </p:cTn>
                              </p:par>
                            </p:childTnLst>
                          </p:cTn>
                        </p:par>
                        <p:par>
                          <p:cTn id="67" fill="hold">
                            <p:stCondLst>
                              <p:cond delay="5500"/>
                            </p:stCondLst>
                            <p:childTnLst>
                              <p:par>
                                <p:cTn id="68" presetID="22" presetClass="entr" presetSubtype="4" fill="hold" grpId="15" nodeType="afterEffect">
                                  <p:stCondLst>
                                    <p:cond delay="0"/>
                                  </p:stCondLst>
                                  <p:childTnLst>
                                    <p:set>
                                      <p:cBhvr>
                                        <p:cTn id="69" dur="420" fill="hold">
                                          <p:stCondLst>
                                            <p:cond delay="0"/>
                                          </p:stCondLst>
                                        </p:cTn>
                                        <p:tgtEl>
                                          <p:spTgt spid="20"/>
                                        </p:tgtEl>
                                        <p:attrNameLst>
                                          <p:attrName>style.visibility</p:attrName>
                                        </p:attrNameLst>
                                      </p:cBhvr>
                                      <p:to>
                                        <p:strVal val="visible"/>
                                      </p:to>
                                    </p:set>
                                    <p:animEffect transition="in" filter="wipe(down)">
                                      <p:cBhvr>
                                        <p:cTn id="70" dur="420"/>
                                        <p:tgtEl>
                                          <p:spTgt spid="20"/>
                                        </p:tgtEl>
                                      </p:cBhvr>
                                    </p:animEffect>
                                  </p:childTnLst>
                                </p:cTn>
                              </p:par>
                            </p:childTnLst>
                          </p:cTn>
                        </p:par>
                        <p:par>
                          <p:cTn id="71" fill="hold">
                            <p:stCondLst>
                              <p:cond delay="6000"/>
                            </p:stCondLst>
                            <p:childTnLst>
                              <p:par>
                                <p:cTn id="72" presetID="2" presetClass="entr" presetSubtype="4" fill="hold" grpId="15" nodeType="afterEffect">
                                  <p:stCondLst>
                                    <p:cond delay="0"/>
                                  </p:stCondLst>
                                  <p:childTnLst>
                                    <p:set>
                                      <p:cBhvr>
                                        <p:cTn id="73" dur="420" fill="hold">
                                          <p:stCondLst>
                                            <p:cond delay="0"/>
                                          </p:stCondLst>
                                        </p:cTn>
                                        <p:tgtEl>
                                          <p:spTgt spid="21"/>
                                        </p:tgtEl>
                                        <p:attrNameLst>
                                          <p:attrName>style.visibility</p:attrName>
                                        </p:attrNameLst>
                                      </p:cBhvr>
                                      <p:to>
                                        <p:strVal val="visible"/>
                                      </p:to>
                                    </p:set>
                                    <p:anim calcmode="lin" valueType="num">
                                      <p:cBhvr additive="base">
                                        <p:cTn id="74" dur="420" fill="hold"/>
                                        <p:tgtEl>
                                          <p:spTgt spid="21"/>
                                        </p:tgtEl>
                                        <p:attrNameLst>
                                          <p:attrName>ppt_x</p:attrName>
                                        </p:attrNameLst>
                                      </p:cBhvr>
                                      <p:tavLst>
                                        <p:tav tm="0">
                                          <p:val>
                                            <p:strVal val="#ppt_x"/>
                                          </p:val>
                                        </p:tav>
                                        <p:tav tm="100000">
                                          <p:val>
                                            <p:strVal val="#ppt_x"/>
                                          </p:val>
                                        </p:tav>
                                      </p:tavLst>
                                    </p:anim>
                                    <p:anim calcmode="lin" valueType="num">
                                      <p:cBhvr additive="base">
                                        <p:cTn id="75" dur="420" fill="hold"/>
                                        <p:tgtEl>
                                          <p:spTgt spid="21"/>
                                        </p:tgtEl>
                                        <p:attrNameLst>
                                          <p:attrName>ppt_y</p:attrName>
                                        </p:attrNameLst>
                                      </p:cBhvr>
                                      <p:tavLst>
                                        <p:tav tm="0">
                                          <p:val>
                                            <p:strVal val="1+#ppt_h/2"/>
                                          </p:val>
                                        </p:tav>
                                        <p:tav tm="100000">
                                          <p:val>
                                            <p:strVal val="#ppt_y"/>
                                          </p:val>
                                        </p:tav>
                                      </p:tavLst>
                                    </p:anim>
                                  </p:childTnLst>
                                </p:cTn>
                              </p:par>
                            </p:childTnLst>
                          </p:cTn>
                        </p:par>
                        <p:par>
                          <p:cTn id="76" fill="hold">
                            <p:stCondLst>
                              <p:cond delay="6500"/>
                            </p:stCondLst>
                            <p:childTnLst>
                              <p:par>
                                <p:cTn id="77" presetID="30" presetClass="entr" presetSubtype="0" fill="hold" grpId="0"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336" decel="100000"/>
                                        <p:tgtEl>
                                          <p:spTgt spid="22"/>
                                        </p:tgtEl>
                                      </p:cBhvr>
                                    </p:animEffect>
                                    <p:anim calcmode="lin" valueType="num">
                                      <p:cBhvr>
                                        <p:cTn id="80" dur="336" decel="100000" fill="hold"/>
                                        <p:tgtEl>
                                          <p:spTgt spid="22"/>
                                        </p:tgtEl>
                                        <p:attrNameLst>
                                          <p:attrName>style.rotation</p:attrName>
                                        </p:attrNameLst>
                                      </p:cBhvr>
                                      <p:tavLst>
                                        <p:tav tm="0">
                                          <p:val>
                                            <p:fltVal val="-90"/>
                                          </p:val>
                                        </p:tav>
                                        <p:tav tm="100000">
                                          <p:val>
                                            <p:fltVal val="0"/>
                                          </p:val>
                                        </p:tav>
                                      </p:tavLst>
                                    </p:anim>
                                    <p:anim calcmode="lin" valueType="num">
                                      <p:cBhvr>
                                        <p:cTn id="81" dur="336" decel="100000" fill="hold"/>
                                        <p:tgtEl>
                                          <p:spTgt spid="22"/>
                                        </p:tgtEl>
                                        <p:attrNameLst>
                                          <p:attrName>ppt_x</p:attrName>
                                        </p:attrNameLst>
                                      </p:cBhvr>
                                      <p:tavLst>
                                        <p:tav tm="0">
                                          <p:val>
                                            <p:strVal val="#ppt_x+0.4"/>
                                          </p:val>
                                        </p:tav>
                                        <p:tav tm="100000">
                                          <p:val>
                                            <p:strVal val="#ppt_x-0.05"/>
                                          </p:val>
                                        </p:tav>
                                      </p:tavLst>
                                    </p:anim>
                                    <p:anim calcmode="lin" valueType="num">
                                      <p:cBhvr>
                                        <p:cTn id="82" dur="336" decel="100000" fill="hold"/>
                                        <p:tgtEl>
                                          <p:spTgt spid="22"/>
                                        </p:tgtEl>
                                        <p:attrNameLst>
                                          <p:attrName>ppt_y</p:attrName>
                                        </p:attrNameLst>
                                      </p:cBhvr>
                                      <p:tavLst>
                                        <p:tav tm="0">
                                          <p:val>
                                            <p:strVal val="#ppt_y-0.4"/>
                                          </p:val>
                                        </p:tav>
                                        <p:tav tm="100000">
                                          <p:val>
                                            <p:strVal val="#ppt_y+0.1"/>
                                          </p:val>
                                        </p:tav>
                                      </p:tavLst>
                                    </p:anim>
                                    <p:anim calcmode="lin" valueType="num">
                                      <p:cBhvr>
                                        <p:cTn id="83" dur="84" accel="100000" fill="hold">
                                          <p:stCondLst>
                                            <p:cond delay="336"/>
                                          </p:stCondLst>
                                        </p:cTn>
                                        <p:tgtEl>
                                          <p:spTgt spid="22"/>
                                        </p:tgtEl>
                                        <p:attrNameLst>
                                          <p:attrName>ppt_x</p:attrName>
                                        </p:attrNameLst>
                                      </p:cBhvr>
                                      <p:tavLst>
                                        <p:tav tm="0">
                                          <p:val>
                                            <p:strVal val="#ppt_x-0.05"/>
                                          </p:val>
                                        </p:tav>
                                        <p:tav tm="100000">
                                          <p:val>
                                            <p:strVal val="#ppt_x"/>
                                          </p:val>
                                        </p:tav>
                                      </p:tavLst>
                                    </p:anim>
                                    <p:anim calcmode="lin" valueType="num">
                                      <p:cBhvr>
                                        <p:cTn id="84" dur="84" accel="100000" fill="hold">
                                          <p:stCondLst>
                                            <p:cond delay="336"/>
                                          </p:stCondLst>
                                        </p:cTn>
                                        <p:tgtEl>
                                          <p:spTgt spid="22"/>
                                        </p:tgtEl>
                                        <p:attrNameLst>
                                          <p:attrName>ppt_y</p:attrName>
                                        </p:attrNameLst>
                                      </p:cBhvr>
                                      <p:tavLst>
                                        <p:tav tm="0">
                                          <p:val>
                                            <p:strVal val="#ppt_y+0.1"/>
                                          </p:val>
                                        </p:tav>
                                        <p:tav tm="100000">
                                          <p:val>
                                            <p:strVal val="#ppt_y"/>
                                          </p:val>
                                        </p:tav>
                                      </p:tavLst>
                                    </p:anim>
                                  </p:childTnLst>
                                </p:cTn>
                              </p:par>
                            </p:childTnLst>
                          </p:cTn>
                        </p:par>
                        <p:par>
                          <p:cTn id="85" fill="hold">
                            <p:stCondLst>
                              <p:cond delay="7000"/>
                            </p:stCondLst>
                            <p:childTnLst>
                              <p:par>
                                <p:cTn id="86" presetID="16" presetClass="entr" presetSubtype="21" fill="hold" grpId="0" nodeType="afterEffect">
                                  <p:stCondLst>
                                    <p:cond delay="0"/>
                                  </p:stCondLst>
                                  <p:childTnLst>
                                    <p:set>
                                      <p:cBhvr>
                                        <p:cTn id="87" dur="420" fill="hold">
                                          <p:stCondLst>
                                            <p:cond delay="0"/>
                                          </p:stCondLst>
                                        </p:cTn>
                                        <p:tgtEl>
                                          <p:spTgt spid="23"/>
                                        </p:tgtEl>
                                        <p:attrNameLst>
                                          <p:attrName>style.visibility</p:attrName>
                                        </p:attrNameLst>
                                      </p:cBhvr>
                                      <p:to>
                                        <p:strVal val="visible"/>
                                      </p:to>
                                    </p:set>
                                    <p:animEffect transition="in" filter="barn(inVertical)">
                                      <p:cBhvr>
                                        <p:cTn id="88" dur="42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8" grpId="2" uiExpand="1" build="allAtOnce"/>
      <p:bldP spid="9" grpId="3" uiExpand="1" build="allAtOnce"/>
      <p:bldP spid="10" grpId="4" uiExpand="1" build="allAtOnce"/>
      <p:bldP spid="12" grpId="5" uiExpand="1" build="allAtOnce"/>
      <p:bldP spid="13" grpId="6" uiExpand="1" build="allAtOnce"/>
      <p:bldP spid="14" grpId="7" uiExpand="1" build="allAtOnce"/>
      <p:bldP spid="16" grpId="8" uiExpand="1" build="allAtOnce"/>
      <p:bldP spid="17" grpId="9" uiExpand="1" build="allAtOnce"/>
      <p:bldP spid="18" grpId="10" uiExpand="1" build="allAtOnce"/>
      <p:bldP spid="20" grpId="11" uiExpand="1" build="allAtOnce"/>
      <p:bldP spid="21" grpId="12" uiExpand="1" build="allAtOnce"/>
      <p:bldP spid="3" grpId="0"/>
      <p:bldP spid="4" grpId="2"/>
      <p:bldP spid="7" grpId="0" animBg="1"/>
      <p:bldP spid="8" grpId="3"/>
      <p:bldP spid="9" grpId="4"/>
      <p:bldP spid="10" grpId="5"/>
      <p:bldP spid="11" grpId="0" animBg="1"/>
      <p:bldP spid="12" grpId="6"/>
      <p:bldP spid="13" grpId="7"/>
      <p:bldP spid="3" grpId="1"/>
      <p:bldP spid="4" grpId="3"/>
      <p:bldP spid="8" grpId="4"/>
      <p:bldP spid="12" grpId="7"/>
      <p:bldP spid="16" grpId="9"/>
      <p:bldP spid="20" grpId="12"/>
      <p:bldP spid="13" grpId="8"/>
      <p:bldP spid="17" grpId="10"/>
      <p:bldP spid="21" grpId="13"/>
      <p:bldP spid="9" grpId="5"/>
      <p:bldP spid="10" grpId="6"/>
      <p:bldP spid="14" grpId="8"/>
      <p:bldP spid="3" grpId="2"/>
      <p:bldP spid="4" grpId="4"/>
      <p:bldP spid="8" grpId="5"/>
      <p:bldP spid="12" grpId="8"/>
      <p:bldP spid="13" grpId="9"/>
      <p:bldP spid="16" grpId="10"/>
      <p:bldP spid="17" grpId="11"/>
      <p:bldP spid="20" grpId="13"/>
      <p:bldP spid="21" grpId="14"/>
      <p:bldP spid="9" grpId="6"/>
      <p:bldP spid="10" grpId="7"/>
      <p:bldP spid="14" grpId="9"/>
      <p:bldP spid="3" grpId="3"/>
      <p:bldP spid="4" grpId="5"/>
      <p:bldP spid="8" grpId="6"/>
      <p:bldP spid="9" grpId="7"/>
      <p:bldP spid="10" grpId="8"/>
      <p:bldP spid="12" grpId="9"/>
      <p:bldP spid="13" grpId="10"/>
      <p:bldP spid="14" grpId="10"/>
      <p:bldP spid="16" grpId="11"/>
      <p:bldP spid="17" grpId="12"/>
      <p:bldP spid="18" grpId="11"/>
      <p:bldP spid="20" grpId="14"/>
      <p:bldP spid="3" grpId="4"/>
      <p:bldP spid="4" grpId="6"/>
      <p:bldP spid="8" grpId="7"/>
      <p:bldP spid="9" grpId="8"/>
      <p:bldP spid="10" grpId="9"/>
      <p:bldP spid="12" grpId="10"/>
      <p:bldP spid="13" grpId="11"/>
      <p:bldP spid="14" grpId="11"/>
      <p:bldP spid="16" grpId="12"/>
      <p:bldP spid="17" grpId="13"/>
      <p:bldP spid="18" grpId="12"/>
      <p:bldP spid="20" grpId="15"/>
      <p:bldP spid="21" grpId="15"/>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8F5E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03 方向盘</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制度文本上，中国明确把社会主义作为根本制度</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713232" y="1389888"/>
            <a:ext cx="5074920" cy="4114800"/>
          </a:xfrm>
          <a:prstGeom prst="roundRect">
            <a:avLst/>
          </a:prstGeom>
          <a:solidFill>
            <a:srgbClr val="15202B"/>
          </a:solidFill>
          <a:ln>
            <a:noFill/>
          </a:ln>
        </p:spPr>
        <p:txBody>
          <a:bodyPr/>
          <a:lstStyle/>
          <a:p/>
        </p:txBody>
      </p:sp>
      <p:sp>
        <p:nvSpPr>
          <p:cNvPr id="7" name="Text"/>
          <p:cNvSpPr txBox="1"/>
          <p:nvPr/>
        </p:nvSpPr>
        <p:spPr>
          <a:xfrm>
            <a:off x="1060704" y="1975104"/>
            <a:ext cx="4343400" cy="868680"/>
          </a:xfrm>
          <a:prstGeom prst="rect">
            <a:avLst/>
          </a:prstGeom>
          <a:noFill/>
          <a:ln>
            <a:noFill/>
          </a:ln>
        </p:spPr>
        <p:txBody>
          <a:bodyPr wrap="square" anchor="t">
            <a:spAutoFit/>
          </a:bodyPr>
          <a:lstStyle/>
          <a:p>
            <a:pPr algn="l"/>
            <a:r>
              <a:rPr lang="zh-CN" sz="1800" b="1">
                <a:solidFill>
                  <a:srgbClr val="FFFFFF"/>
                </a:solidFill>
                <a:latin typeface="微软雅黑" panose="020B0503020204020204" charset="-122"/>
                <a:ea typeface="微软雅黑" panose="020B0503020204020204" charset="-122"/>
              </a:rPr>
              <a:t>宪法第一条明确：</a:t>
            </a:r>
            <a:endParaRPr lang="zh-CN" sz="1800" b="1">
              <a:solidFill>
                <a:srgbClr val="FFFFFF"/>
              </a:solidFill>
              <a:latin typeface="微软雅黑" panose="020B0503020204020204" charset="-122"/>
              <a:ea typeface="微软雅黑" panose="020B0503020204020204" charset="-122"/>
            </a:endParaRPr>
          </a:p>
          <a:p>
            <a:pPr algn="l"/>
            <a:r>
              <a:rPr lang="zh-CN" sz="1800" b="1">
                <a:solidFill>
                  <a:srgbClr val="FFFFFF"/>
                </a:solidFill>
                <a:latin typeface="微软雅黑" panose="020B0503020204020204" charset="-122"/>
                <a:ea typeface="微软雅黑" panose="020B0503020204020204" charset="-122"/>
              </a:rPr>
              <a:t>社会主义制度是中华人民共和国的根本制度。</a:t>
            </a:r>
            <a:endParaRPr lang="zh-CN" sz="1800" b="1">
              <a:solidFill>
                <a:srgbClr val="FFFFFF"/>
              </a:solidFill>
              <a:latin typeface="微软雅黑" panose="020B0503020204020204" charset="-122"/>
              <a:ea typeface="微软雅黑" panose="020B0503020204020204" charset="-122"/>
            </a:endParaRPr>
          </a:p>
        </p:txBody>
      </p:sp>
      <p:sp>
        <p:nvSpPr>
          <p:cNvPr id="8" name="Text"/>
          <p:cNvSpPr txBox="1"/>
          <p:nvPr/>
        </p:nvSpPr>
        <p:spPr>
          <a:xfrm>
            <a:off x="1097280" y="3310128"/>
            <a:ext cx="4160520" cy="502920"/>
          </a:xfrm>
          <a:prstGeom prst="rect">
            <a:avLst/>
          </a:prstGeom>
          <a:noFill/>
          <a:ln>
            <a:noFill/>
          </a:ln>
        </p:spPr>
        <p:txBody>
          <a:bodyPr wrap="square" anchor="t">
            <a:spAutoFit/>
          </a:bodyPr>
          <a:lstStyle/>
          <a:p>
            <a:pPr algn="l"/>
            <a:r>
              <a:rPr lang="zh-CN" sz="1000" b="0">
                <a:solidFill>
                  <a:srgbClr val="D5DEE8"/>
                </a:solidFill>
                <a:latin typeface="微软雅黑" panose="020B0503020204020204" charset="-122"/>
                <a:ea typeface="微软雅黑" panose="020B0503020204020204" charset="-122"/>
              </a:rPr>
              <a:t>这意味着，在正式制度表达中，“社会主义”不是一个可有可无的标签，而是国家制度身份。</a:t>
            </a:r>
            <a:endParaRPr lang="zh-CN" sz="1000" b="0">
              <a:solidFill>
                <a:srgbClr val="D5DEE8"/>
              </a:solidFill>
              <a:latin typeface="微软雅黑" panose="020B0503020204020204" charset="-122"/>
              <a:ea typeface="微软雅黑" panose="020B0503020204020204" charset="-122"/>
            </a:endParaRPr>
          </a:p>
        </p:txBody>
      </p:sp>
      <p:sp>
        <p:nvSpPr>
          <p:cNvPr id="9" name="Shape"/>
          <p:cNvSpPr/>
          <p:nvPr/>
        </p:nvSpPr>
        <p:spPr>
          <a:xfrm>
            <a:off x="6172200" y="1426464"/>
            <a:ext cx="4526280" cy="960120"/>
          </a:xfrm>
          <a:prstGeom prst="roundRect">
            <a:avLst/>
          </a:prstGeom>
          <a:solidFill>
            <a:srgbClr val="FFFDF7"/>
          </a:solidFill>
          <a:ln w="12700">
            <a:solidFill>
              <a:srgbClr val="E4DED2"/>
            </a:solidFill>
          </a:ln>
        </p:spPr>
        <p:txBody>
          <a:bodyPr/>
          <a:lstStyle/>
          <a:p/>
        </p:txBody>
      </p:sp>
      <p:sp>
        <p:nvSpPr>
          <p:cNvPr id="10" name="Shape"/>
          <p:cNvSpPr/>
          <p:nvPr/>
        </p:nvSpPr>
        <p:spPr>
          <a:xfrm>
            <a:off x="6172200" y="1426464"/>
            <a:ext cx="50292" cy="960120"/>
          </a:xfrm>
          <a:prstGeom prst="rect">
            <a:avLst/>
          </a:prstGeom>
          <a:solidFill>
            <a:srgbClr val="B91C1C"/>
          </a:solidFill>
          <a:ln>
            <a:noFill/>
          </a:ln>
        </p:spPr>
        <p:txBody>
          <a:bodyPr/>
          <a:lstStyle/>
          <a:p/>
        </p:txBody>
      </p:sp>
      <p:sp>
        <p:nvSpPr>
          <p:cNvPr id="11" name="Text"/>
          <p:cNvSpPr txBox="1"/>
          <p:nvPr/>
        </p:nvSpPr>
        <p:spPr>
          <a:xfrm>
            <a:off x="6391656" y="1591056"/>
            <a:ext cx="41148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党的领导</a:t>
            </a:r>
            <a:endParaRPr lang="zh-CN" sz="1050" b="1">
              <a:solidFill>
                <a:srgbClr val="15202B"/>
              </a:solidFill>
              <a:latin typeface="微软雅黑" panose="020B0503020204020204" charset="-122"/>
              <a:ea typeface="微软雅黑" panose="020B0503020204020204" charset="-122"/>
            </a:endParaRPr>
          </a:p>
        </p:txBody>
      </p:sp>
      <p:sp>
        <p:nvSpPr>
          <p:cNvPr id="12" name="Text"/>
          <p:cNvSpPr txBox="1"/>
          <p:nvPr/>
        </p:nvSpPr>
        <p:spPr>
          <a:xfrm>
            <a:off x="6391656" y="1938528"/>
            <a:ext cx="4114800" cy="365760"/>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官方表述中，中国共产党领导被视为中国特色社会主义最本质的特征。</a:t>
            </a:r>
            <a:endParaRPr lang="zh-CN" sz="780" b="0">
              <a:solidFill>
                <a:srgbClr val="697586"/>
              </a:solidFill>
              <a:latin typeface="微软雅黑" panose="020B0503020204020204" charset="-122"/>
              <a:ea typeface="微软雅黑" panose="020B0503020204020204" charset="-122"/>
            </a:endParaRPr>
          </a:p>
        </p:txBody>
      </p:sp>
      <p:sp>
        <p:nvSpPr>
          <p:cNvPr id="13" name="Shape"/>
          <p:cNvSpPr/>
          <p:nvPr/>
        </p:nvSpPr>
        <p:spPr>
          <a:xfrm>
            <a:off x="6172200" y="2651760"/>
            <a:ext cx="4526280" cy="960120"/>
          </a:xfrm>
          <a:prstGeom prst="roundRect">
            <a:avLst/>
          </a:prstGeom>
          <a:solidFill>
            <a:srgbClr val="FFFDF7"/>
          </a:solidFill>
          <a:ln w="12700">
            <a:solidFill>
              <a:srgbClr val="E4DED2"/>
            </a:solidFill>
          </a:ln>
        </p:spPr>
        <p:txBody>
          <a:bodyPr/>
          <a:lstStyle/>
          <a:p/>
        </p:txBody>
      </p:sp>
      <p:sp>
        <p:nvSpPr>
          <p:cNvPr id="14" name="Shape"/>
          <p:cNvSpPr/>
          <p:nvPr/>
        </p:nvSpPr>
        <p:spPr>
          <a:xfrm>
            <a:off x="6172200" y="2651760"/>
            <a:ext cx="50292" cy="960120"/>
          </a:xfrm>
          <a:prstGeom prst="rect">
            <a:avLst/>
          </a:prstGeom>
          <a:solidFill>
            <a:srgbClr val="D6A13B"/>
          </a:solidFill>
          <a:ln>
            <a:noFill/>
          </a:ln>
        </p:spPr>
        <p:txBody>
          <a:bodyPr/>
          <a:lstStyle/>
          <a:p/>
        </p:txBody>
      </p:sp>
      <p:sp>
        <p:nvSpPr>
          <p:cNvPr id="15" name="Text"/>
          <p:cNvSpPr txBox="1"/>
          <p:nvPr/>
        </p:nvSpPr>
        <p:spPr>
          <a:xfrm>
            <a:off x="6391656" y="2816352"/>
            <a:ext cx="41148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中国式现代化</a:t>
            </a:r>
            <a:endParaRPr lang="zh-CN" sz="1050" b="1">
              <a:solidFill>
                <a:srgbClr val="15202B"/>
              </a:solidFill>
              <a:latin typeface="微软雅黑" panose="020B0503020204020204" charset="-122"/>
              <a:ea typeface="微软雅黑" panose="020B0503020204020204" charset="-122"/>
            </a:endParaRPr>
          </a:p>
        </p:txBody>
      </p:sp>
      <p:sp>
        <p:nvSpPr>
          <p:cNvPr id="16" name="Text"/>
          <p:cNvSpPr txBox="1"/>
          <p:nvPr/>
        </p:nvSpPr>
        <p:spPr>
          <a:xfrm>
            <a:off x="6391656" y="3163824"/>
            <a:ext cx="4114800" cy="365760"/>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二十大报告将其定义为中国共产党领导的社会主义现代化。</a:t>
            </a:r>
            <a:endParaRPr lang="zh-CN" sz="780" b="0">
              <a:solidFill>
                <a:srgbClr val="697586"/>
              </a:solidFill>
              <a:latin typeface="微软雅黑" panose="020B0503020204020204" charset="-122"/>
              <a:ea typeface="微软雅黑" panose="020B0503020204020204" charset="-122"/>
            </a:endParaRPr>
          </a:p>
        </p:txBody>
      </p:sp>
      <p:sp>
        <p:nvSpPr>
          <p:cNvPr id="17" name="Shape"/>
          <p:cNvSpPr/>
          <p:nvPr/>
        </p:nvSpPr>
        <p:spPr>
          <a:xfrm>
            <a:off x="6172200" y="3877056"/>
            <a:ext cx="4526280" cy="960120"/>
          </a:xfrm>
          <a:prstGeom prst="roundRect">
            <a:avLst/>
          </a:prstGeom>
          <a:solidFill>
            <a:srgbClr val="FFFDF7"/>
          </a:solidFill>
          <a:ln w="12700">
            <a:solidFill>
              <a:srgbClr val="E4DED2"/>
            </a:solidFill>
          </a:ln>
        </p:spPr>
        <p:txBody>
          <a:bodyPr/>
          <a:lstStyle/>
          <a:p/>
        </p:txBody>
      </p:sp>
      <p:sp>
        <p:nvSpPr>
          <p:cNvPr id="18" name="Shape"/>
          <p:cNvSpPr/>
          <p:nvPr/>
        </p:nvSpPr>
        <p:spPr>
          <a:xfrm>
            <a:off x="6172200" y="3877056"/>
            <a:ext cx="50292" cy="960120"/>
          </a:xfrm>
          <a:prstGeom prst="rect">
            <a:avLst/>
          </a:prstGeom>
          <a:solidFill>
            <a:srgbClr val="16825D"/>
          </a:solidFill>
          <a:ln>
            <a:noFill/>
          </a:ln>
        </p:spPr>
        <p:txBody>
          <a:bodyPr/>
          <a:lstStyle/>
          <a:p/>
        </p:txBody>
      </p:sp>
      <p:sp>
        <p:nvSpPr>
          <p:cNvPr id="19" name="Text"/>
          <p:cNvSpPr txBox="1"/>
          <p:nvPr/>
        </p:nvSpPr>
        <p:spPr>
          <a:xfrm>
            <a:off x="6391656" y="4041648"/>
            <a:ext cx="41148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结论</a:t>
            </a:r>
            <a:endParaRPr lang="zh-CN" sz="1050" b="1">
              <a:solidFill>
                <a:srgbClr val="15202B"/>
              </a:solidFill>
              <a:latin typeface="微软雅黑" panose="020B0503020204020204" charset="-122"/>
              <a:ea typeface="微软雅黑" panose="020B0503020204020204" charset="-122"/>
            </a:endParaRPr>
          </a:p>
        </p:txBody>
      </p:sp>
      <p:sp>
        <p:nvSpPr>
          <p:cNvPr id="20" name="Text"/>
          <p:cNvSpPr txBox="1"/>
          <p:nvPr/>
        </p:nvSpPr>
        <p:spPr>
          <a:xfrm>
            <a:off x="6391656" y="4389120"/>
            <a:ext cx="4114800" cy="365760"/>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如果按制度文本和政治方向判断，中国仍然明确宣称并维护社会主义方向。</a:t>
            </a:r>
            <a:endParaRPr lang="zh-CN" sz="780" b="0">
              <a:solidFill>
                <a:srgbClr val="697586"/>
              </a:solidFill>
              <a:latin typeface="微软雅黑" panose="020B0503020204020204" charset="-122"/>
              <a:ea typeface="微软雅黑" panose="020B0503020204020204" charset="-122"/>
            </a:endParaRPr>
          </a:p>
        </p:txBody>
      </p:sp>
      <p:sp>
        <p:nvSpPr>
          <p:cNvPr id="21"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资料来源：中华人民共和国宪法；党的二十大报告</a:t>
            </a:r>
            <a:endParaRPr lang="zh-CN" sz="550" b="0">
              <a:solidFill>
                <a:srgbClr val="8C939D"/>
              </a:solidFill>
              <a:latin typeface="微软雅黑" panose="020B0503020204020204" charset="-122"/>
              <a:ea typeface="微软雅黑" panose="020B0503020204020204" charset="-122"/>
            </a:endParaRPr>
          </a:p>
        </p:txBody>
      </p:sp>
      <p:sp>
        <p:nvSpPr>
          <p:cNvPr id="22"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 presetClass="entr" presetSubtype="4" fill="hold" grpId="7" nodeType="afterEffect">
                                  <p:stCondLst>
                                    <p:cond delay="0"/>
                                  </p:stCondLst>
                                  <p:childTnLst>
                                    <p:set>
                                      <p:cBhvr>
                                        <p:cTn id="15" dur="420" fill="hold">
                                          <p:stCondLst>
                                            <p:cond delay="0"/>
                                          </p:stCondLst>
                                        </p:cTn>
                                        <p:tgtEl>
                                          <p:spTgt spid="7"/>
                                        </p:tgtEl>
                                        <p:attrNameLst>
                                          <p:attrName>style.visibility</p:attrName>
                                        </p:attrNameLst>
                                      </p:cBhvr>
                                      <p:to>
                                        <p:strVal val="visible"/>
                                      </p:to>
                                    </p:set>
                                    <p:anim calcmode="lin" valueType="num">
                                      <p:cBhvr additive="base">
                                        <p:cTn id="16" dur="420" fill="hold"/>
                                        <p:tgtEl>
                                          <p:spTgt spid="7"/>
                                        </p:tgtEl>
                                        <p:attrNameLst>
                                          <p:attrName>ppt_x</p:attrName>
                                        </p:attrNameLst>
                                      </p:cBhvr>
                                      <p:tavLst>
                                        <p:tav tm="0">
                                          <p:val>
                                            <p:strVal val="#ppt_x"/>
                                          </p:val>
                                        </p:tav>
                                        <p:tav tm="100000">
                                          <p:val>
                                            <p:strVal val="#ppt_x"/>
                                          </p:val>
                                        </p:tav>
                                      </p:tavLst>
                                    </p:anim>
                                    <p:anim calcmode="lin" valueType="num">
                                      <p:cBhvr additive="base">
                                        <p:cTn id="17" dur="42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1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36" decel="100000"/>
                                        <p:tgtEl>
                                          <p:spTgt spid="11"/>
                                        </p:tgtEl>
                                      </p:cBhvr>
                                    </p:animEffect>
                                    <p:anim calcmode="lin" valueType="num">
                                      <p:cBhvr>
                                        <p:cTn id="22" dur="336" decel="100000" fill="hold"/>
                                        <p:tgtEl>
                                          <p:spTgt spid="11"/>
                                        </p:tgtEl>
                                        <p:attrNameLst>
                                          <p:attrName>style.rotation</p:attrName>
                                        </p:attrNameLst>
                                      </p:cBhvr>
                                      <p:tavLst>
                                        <p:tav tm="0">
                                          <p:val>
                                            <p:fltVal val="-90"/>
                                          </p:val>
                                        </p:tav>
                                        <p:tav tm="100000">
                                          <p:val>
                                            <p:fltVal val="0"/>
                                          </p:val>
                                        </p:tav>
                                      </p:tavLst>
                                    </p:anim>
                                    <p:anim calcmode="lin" valueType="num">
                                      <p:cBhvr>
                                        <p:cTn id="23" dur="336" decel="100000" fill="hold"/>
                                        <p:tgtEl>
                                          <p:spTgt spid="11"/>
                                        </p:tgtEl>
                                        <p:attrNameLst>
                                          <p:attrName>ppt_x</p:attrName>
                                        </p:attrNameLst>
                                      </p:cBhvr>
                                      <p:tavLst>
                                        <p:tav tm="0">
                                          <p:val>
                                            <p:strVal val="#ppt_x+0.4"/>
                                          </p:val>
                                        </p:tav>
                                        <p:tav tm="100000">
                                          <p:val>
                                            <p:strVal val="#ppt_x-0.05"/>
                                          </p:val>
                                        </p:tav>
                                      </p:tavLst>
                                    </p:anim>
                                    <p:anim calcmode="lin" valueType="num">
                                      <p:cBhvr>
                                        <p:cTn id="24" dur="336" decel="100000" fill="hold"/>
                                        <p:tgtEl>
                                          <p:spTgt spid="11"/>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11"/>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11"/>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11"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20"/>
                                        <p:tgtEl>
                                          <p:spTgt spid="12"/>
                                        </p:tgtEl>
                                      </p:cBhvr>
                                    </p:animEffect>
                                    <p:anim calcmode="lin" valueType="num">
                                      <p:cBhvr>
                                        <p:cTn id="31" dur="420" fill="hold"/>
                                        <p:tgtEl>
                                          <p:spTgt spid="12"/>
                                        </p:tgtEl>
                                        <p:attrNameLst>
                                          <p:attrName>ppt_x</p:attrName>
                                        </p:attrNameLst>
                                      </p:cBhvr>
                                      <p:tavLst>
                                        <p:tav tm="0">
                                          <p:val>
                                            <p:strVal val="#ppt_x"/>
                                          </p:val>
                                        </p:tav>
                                        <p:tav tm="100000">
                                          <p:val>
                                            <p:strVal val="#ppt_x"/>
                                          </p:val>
                                        </p:tav>
                                      </p:tavLst>
                                    </p:anim>
                                    <p:anim calcmode="lin" valueType="num">
                                      <p:cBhvr>
                                        <p:cTn id="32" dur="378" decel="100000" fill="hold"/>
                                        <p:tgtEl>
                                          <p:spTgt spid="12"/>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2"/>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2" nodeType="afterEffect">
                                  <p:stCondLst>
                                    <p:cond delay="0"/>
                                  </p:stCondLst>
                                  <p:childTnLst>
                                    <p:set>
                                      <p:cBhvr>
                                        <p:cTn id="36" dur="420"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par>
                          <p:cTn id="38" fill="hold">
                            <p:stCondLst>
                              <p:cond delay="3000"/>
                            </p:stCondLst>
                            <p:childTnLst>
                              <p:par>
                                <p:cTn id="39" presetID="22" presetClass="entr" presetSubtype="4" fill="hold" grpId="13" nodeType="afterEffect">
                                  <p:stCondLst>
                                    <p:cond delay="0"/>
                                  </p:stCondLst>
                                  <p:childTnLst>
                                    <p:set>
                                      <p:cBhvr>
                                        <p:cTn id="40" dur="420" fill="hold">
                                          <p:stCondLst>
                                            <p:cond delay="0"/>
                                          </p:stCondLst>
                                        </p:cTn>
                                        <p:tgtEl>
                                          <p:spTgt spid="16"/>
                                        </p:tgtEl>
                                        <p:attrNameLst>
                                          <p:attrName>style.visibility</p:attrName>
                                        </p:attrNameLst>
                                      </p:cBhvr>
                                      <p:to>
                                        <p:strVal val="visible"/>
                                      </p:to>
                                    </p:set>
                                    <p:animEffect transition="in" filter="wipe(down)">
                                      <p:cBhvr>
                                        <p:cTn id="41" dur="420"/>
                                        <p:tgtEl>
                                          <p:spTgt spid="16"/>
                                        </p:tgtEl>
                                      </p:cBhvr>
                                    </p:animEffect>
                                  </p:childTnLst>
                                </p:cTn>
                              </p:par>
                            </p:childTnLst>
                          </p:cTn>
                        </p:par>
                        <p:par>
                          <p:cTn id="42" fill="hold">
                            <p:stCondLst>
                              <p:cond delay="3500"/>
                            </p:stCondLst>
                            <p:childTnLst>
                              <p:par>
                                <p:cTn id="43" presetID="2" presetClass="entr" presetSubtype="4" fill="hold" grpId="8" nodeType="afterEffect">
                                  <p:stCondLst>
                                    <p:cond delay="0"/>
                                  </p:stCondLst>
                                  <p:childTnLst>
                                    <p:set>
                                      <p:cBhvr>
                                        <p:cTn id="44" dur="420" fill="hold">
                                          <p:stCondLst>
                                            <p:cond delay="0"/>
                                          </p:stCondLst>
                                        </p:cTn>
                                        <p:tgtEl>
                                          <p:spTgt spid="8"/>
                                        </p:tgtEl>
                                        <p:attrNameLst>
                                          <p:attrName>style.visibility</p:attrName>
                                        </p:attrNameLst>
                                      </p:cBhvr>
                                      <p:to>
                                        <p:strVal val="visible"/>
                                      </p:to>
                                    </p:set>
                                    <p:anim calcmode="lin" valueType="num">
                                      <p:cBhvr additive="base">
                                        <p:cTn id="45" dur="420" fill="hold"/>
                                        <p:tgtEl>
                                          <p:spTgt spid="8"/>
                                        </p:tgtEl>
                                        <p:attrNameLst>
                                          <p:attrName>ppt_x</p:attrName>
                                        </p:attrNameLst>
                                      </p:cBhvr>
                                      <p:tavLst>
                                        <p:tav tm="0">
                                          <p:val>
                                            <p:strVal val="#ppt_x"/>
                                          </p:val>
                                        </p:tav>
                                        <p:tav tm="100000">
                                          <p:val>
                                            <p:strVal val="#ppt_x"/>
                                          </p:val>
                                        </p:tav>
                                      </p:tavLst>
                                    </p:anim>
                                    <p:anim calcmode="lin" valueType="num">
                                      <p:cBhvr additive="base">
                                        <p:cTn id="46" dur="420" fill="hold"/>
                                        <p:tgtEl>
                                          <p:spTgt spid="8"/>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5"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336" decel="100000"/>
                                        <p:tgtEl>
                                          <p:spTgt spid="19"/>
                                        </p:tgtEl>
                                      </p:cBhvr>
                                    </p:animEffect>
                                    <p:anim calcmode="lin" valueType="num">
                                      <p:cBhvr>
                                        <p:cTn id="51" dur="336" decel="100000" fill="hold"/>
                                        <p:tgtEl>
                                          <p:spTgt spid="19"/>
                                        </p:tgtEl>
                                        <p:attrNameLst>
                                          <p:attrName>style.rotation</p:attrName>
                                        </p:attrNameLst>
                                      </p:cBhvr>
                                      <p:tavLst>
                                        <p:tav tm="0">
                                          <p:val>
                                            <p:fltVal val="-90"/>
                                          </p:val>
                                        </p:tav>
                                        <p:tav tm="100000">
                                          <p:val>
                                            <p:fltVal val="0"/>
                                          </p:val>
                                        </p:tav>
                                      </p:tavLst>
                                    </p:anim>
                                    <p:anim calcmode="lin" valueType="num">
                                      <p:cBhvr>
                                        <p:cTn id="52" dur="336" decel="100000" fill="hold"/>
                                        <p:tgtEl>
                                          <p:spTgt spid="19"/>
                                        </p:tgtEl>
                                        <p:attrNameLst>
                                          <p:attrName>ppt_x</p:attrName>
                                        </p:attrNameLst>
                                      </p:cBhvr>
                                      <p:tavLst>
                                        <p:tav tm="0">
                                          <p:val>
                                            <p:strVal val="#ppt_x+0.4"/>
                                          </p:val>
                                        </p:tav>
                                        <p:tav tm="100000">
                                          <p:val>
                                            <p:strVal val="#ppt_x-0.05"/>
                                          </p:val>
                                        </p:tav>
                                      </p:tavLst>
                                    </p:anim>
                                    <p:anim calcmode="lin" valueType="num">
                                      <p:cBhvr>
                                        <p:cTn id="53" dur="336" decel="100000" fill="hold"/>
                                        <p:tgtEl>
                                          <p:spTgt spid="19"/>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19"/>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19"/>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37" presetClass="entr" presetSubtype="0" fill="hold" grpId="16"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20"/>
                                        <p:tgtEl>
                                          <p:spTgt spid="20"/>
                                        </p:tgtEl>
                                      </p:cBhvr>
                                    </p:animEffect>
                                    <p:anim calcmode="lin" valueType="num">
                                      <p:cBhvr>
                                        <p:cTn id="60" dur="420" fill="hold"/>
                                        <p:tgtEl>
                                          <p:spTgt spid="20"/>
                                        </p:tgtEl>
                                        <p:attrNameLst>
                                          <p:attrName>ppt_x</p:attrName>
                                        </p:attrNameLst>
                                      </p:cBhvr>
                                      <p:tavLst>
                                        <p:tav tm="0">
                                          <p:val>
                                            <p:strVal val="#ppt_x"/>
                                          </p:val>
                                        </p:tav>
                                        <p:tav tm="100000">
                                          <p:val>
                                            <p:strVal val="#ppt_x"/>
                                          </p:val>
                                        </p:tav>
                                      </p:tavLst>
                                    </p:anim>
                                    <p:anim calcmode="lin" valueType="num">
                                      <p:cBhvr>
                                        <p:cTn id="61" dur="378" decel="100000" fill="hold"/>
                                        <p:tgtEl>
                                          <p:spTgt spid="20"/>
                                        </p:tgtEl>
                                        <p:attrNameLst>
                                          <p:attrName>ppt_y</p:attrName>
                                        </p:attrNameLst>
                                      </p:cBhvr>
                                      <p:tavLst>
                                        <p:tav tm="0">
                                          <p:val>
                                            <p:strVal val="#ppt_y+1"/>
                                          </p:val>
                                        </p:tav>
                                        <p:tav tm="100000">
                                          <p:val>
                                            <p:strVal val="#ppt_y-.03"/>
                                          </p:val>
                                        </p:tav>
                                      </p:tavLst>
                                    </p:anim>
                                    <p:anim calcmode="lin" valueType="num">
                                      <p:cBhvr>
                                        <p:cTn id="62" dur="42" accel="100000" fill="hold">
                                          <p:stCondLst>
                                            <p:cond delay="378"/>
                                          </p:stCondLst>
                                        </p:cTn>
                                        <p:tgtEl>
                                          <p:spTgt spid="2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7" grpId="2" uiExpand="1" build="allAtOnce"/>
      <p:bldP spid="8" grpId="3" uiExpand="1" build="allAtOnce"/>
      <p:bldP spid="9" grpId="4" uiExpand="1" build="allAtOnce"/>
      <p:bldP spid="11" grpId="5" uiExpand="1" build="allAtOnce"/>
      <p:bldP spid="12" grpId="6" uiExpand="1" build="allAtOnce"/>
      <p:bldP spid="13" grpId="7" uiExpand="1" build="allAtOnce"/>
      <p:bldP spid="15" grpId="8" uiExpand="1" build="allAtOnce"/>
      <p:bldP spid="16" grpId="9" uiExpand="1" build="allAtOnce"/>
      <p:bldP spid="17" grpId="10" uiExpand="1" build="allAtOnce"/>
      <p:bldP spid="19" grpId="11" uiExpand="1" build="allAtOnce"/>
      <p:bldP spid="20" grpId="12" uiExpand="1" build="allAtOnce"/>
      <p:bldP spid="3" grpId="0"/>
      <p:bldP spid="4" grpId="2"/>
      <p:bldP spid="6" grpId="0" animBg="1"/>
      <p:bldP spid="7" grpId="3"/>
      <p:bldP spid="8" grpId="4"/>
      <p:bldP spid="9" grpId="5" animBg="1"/>
      <p:bldP spid="11" grpId="6"/>
      <p:bldP spid="12" grpId="7"/>
      <p:bldP spid="13" grpId="8" animBg="1"/>
      <p:bldP spid="3" grpId="1"/>
      <p:bldP spid="4" grpId="3"/>
      <p:bldP spid="11" grpId="7"/>
      <p:bldP spid="15" grpId="9"/>
      <p:bldP spid="19" grpId="12"/>
      <p:bldP spid="12" grpId="8"/>
      <p:bldP spid="7" grpId="4"/>
      <p:bldP spid="16" grpId="10"/>
      <p:bldP spid="8" grpId="5"/>
      <p:bldP spid="20" grpId="13"/>
      <p:bldP spid="3" grpId="2"/>
      <p:bldP spid="4" grpId="4"/>
      <p:bldP spid="11" grpId="8"/>
      <p:bldP spid="15" grpId="10"/>
      <p:bldP spid="19" grpId="13"/>
      <p:bldP spid="7" grpId="5"/>
      <p:bldP spid="12" grpId="9"/>
      <p:bldP spid="16" grpId="11"/>
      <p:bldP spid="8" grpId="6"/>
      <p:bldP spid="20" grpId="14"/>
      <p:bldP spid="3" grpId="3"/>
      <p:bldP spid="4" grpId="5"/>
      <p:bldP spid="7" grpId="6"/>
      <p:bldP spid="11" grpId="9"/>
      <p:bldP spid="12" grpId="10"/>
      <p:bldP spid="15" grpId="11"/>
      <p:bldP spid="16" grpId="12"/>
      <p:bldP spid="8" grpId="7"/>
      <p:bldP spid="19" grpId="14"/>
      <p:bldP spid="20" grpId="15"/>
      <p:bldP spid="3" grpId="4"/>
      <p:bldP spid="4" grpId="6"/>
      <p:bldP spid="7" grpId="7"/>
      <p:bldP spid="11" grpId="10"/>
      <p:bldP spid="12" grpId="11"/>
      <p:bldP spid="15" grpId="12"/>
      <p:bldP spid="16" grpId="13"/>
      <p:bldP spid="8" grpId="8"/>
      <p:bldP spid="19" grpId="15"/>
      <p:bldP spid="20" grpId="16"/>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4F1EA"/>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04 关键区别</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但中国走的不是老式计划经济，而是社会主义市场经济</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Text"/>
          <p:cNvSpPr txBox="1"/>
          <p:nvPr/>
        </p:nvSpPr>
        <p:spPr>
          <a:xfrm>
            <a:off x="713232" y="1234440"/>
            <a:ext cx="7863840" cy="402336"/>
          </a:xfrm>
          <a:prstGeom prst="rect">
            <a:avLst/>
          </a:prstGeom>
          <a:noFill/>
          <a:ln>
            <a:noFill/>
          </a:ln>
        </p:spPr>
        <p:txBody>
          <a:bodyPr wrap="square" anchor="t">
            <a:spAutoFit/>
          </a:bodyPr>
          <a:lstStyle/>
          <a:p>
            <a:pPr algn="l"/>
            <a:r>
              <a:rPr lang="zh-CN" sz="1050" b="0">
                <a:solidFill>
                  <a:srgbClr val="697586"/>
                </a:solidFill>
                <a:latin typeface="微软雅黑" panose="020B0503020204020204" charset="-122"/>
                <a:ea typeface="微软雅黑" panose="020B0503020204020204" charset="-122"/>
              </a:rPr>
              <a:t>很多人困惑，是因为把“社会主义”直接等同于“没有市场”。但中国官方理论中的核心概念，恰恰叫“社会主义市场经济”。</a:t>
            </a:r>
            <a:endParaRPr lang="zh-CN" sz="1050" b="0">
              <a:solidFill>
                <a:srgbClr val="697586"/>
              </a:solidFill>
              <a:latin typeface="微软雅黑" panose="020B0503020204020204" charset="-122"/>
              <a:ea typeface="微软雅黑" panose="020B0503020204020204" charset="-122"/>
            </a:endParaRPr>
          </a:p>
        </p:txBody>
      </p:sp>
      <p:sp>
        <p:nvSpPr>
          <p:cNvPr id="7" name="Shape"/>
          <p:cNvSpPr/>
          <p:nvPr/>
        </p:nvSpPr>
        <p:spPr>
          <a:xfrm>
            <a:off x="777240" y="1874519"/>
            <a:ext cx="3154680" cy="2468880"/>
          </a:xfrm>
          <a:prstGeom prst="roundRect">
            <a:avLst/>
          </a:prstGeom>
          <a:solidFill>
            <a:srgbClr val="FFFDF7"/>
          </a:solidFill>
          <a:ln w="12700">
            <a:solidFill>
              <a:srgbClr val="E4DED2"/>
            </a:solidFill>
          </a:ln>
        </p:spPr>
        <p:txBody>
          <a:bodyPr/>
          <a:lstStyle/>
          <a:p/>
        </p:txBody>
      </p:sp>
      <p:sp>
        <p:nvSpPr>
          <p:cNvPr id="8" name="Shape"/>
          <p:cNvSpPr/>
          <p:nvPr/>
        </p:nvSpPr>
        <p:spPr>
          <a:xfrm>
            <a:off x="777240" y="1874519"/>
            <a:ext cx="50292" cy="2468880"/>
          </a:xfrm>
          <a:prstGeom prst="rect">
            <a:avLst/>
          </a:prstGeom>
          <a:solidFill>
            <a:srgbClr val="B91C1C"/>
          </a:solidFill>
          <a:ln>
            <a:noFill/>
          </a:ln>
        </p:spPr>
        <p:txBody>
          <a:bodyPr/>
          <a:lstStyle/>
          <a:p/>
        </p:txBody>
      </p:sp>
      <p:sp>
        <p:nvSpPr>
          <p:cNvPr id="9" name="Text"/>
          <p:cNvSpPr txBox="1"/>
          <p:nvPr/>
        </p:nvSpPr>
        <p:spPr>
          <a:xfrm>
            <a:off x="996695" y="2039112"/>
            <a:ext cx="27432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老式计划经济印象</a:t>
            </a:r>
            <a:endParaRPr lang="zh-CN" sz="1050" b="1">
              <a:solidFill>
                <a:srgbClr val="15202B"/>
              </a:solidFill>
              <a:latin typeface="微软雅黑" panose="020B0503020204020204" charset="-122"/>
              <a:ea typeface="微软雅黑" panose="020B0503020204020204" charset="-122"/>
            </a:endParaRPr>
          </a:p>
        </p:txBody>
      </p:sp>
      <p:sp>
        <p:nvSpPr>
          <p:cNvPr id="10" name="Text"/>
          <p:cNvSpPr txBox="1"/>
          <p:nvPr/>
        </p:nvSpPr>
        <p:spPr>
          <a:xfrm>
            <a:off x="996695" y="2386584"/>
            <a:ext cx="2743200" cy="1874520"/>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价格主要由计划决定</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企业缺少竞争压力</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资源主要靠行政分配</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消费选择相对有限</a:t>
            </a:r>
            <a:endParaRPr lang="zh-CN" sz="780" b="0">
              <a:solidFill>
                <a:srgbClr val="697586"/>
              </a:solidFill>
              <a:latin typeface="微软雅黑" panose="020B0503020204020204" charset="-122"/>
              <a:ea typeface="微软雅黑" panose="020B0503020204020204" charset="-122"/>
            </a:endParaRPr>
          </a:p>
        </p:txBody>
      </p:sp>
      <p:sp>
        <p:nvSpPr>
          <p:cNvPr id="11" name="Shape"/>
          <p:cNvSpPr/>
          <p:nvPr/>
        </p:nvSpPr>
        <p:spPr>
          <a:xfrm>
            <a:off x="4526280" y="1874519"/>
            <a:ext cx="3154680" cy="2468880"/>
          </a:xfrm>
          <a:prstGeom prst="roundRect">
            <a:avLst/>
          </a:prstGeom>
          <a:solidFill>
            <a:srgbClr val="FFFDF7"/>
          </a:solidFill>
          <a:ln w="12700">
            <a:solidFill>
              <a:srgbClr val="E4DED2"/>
            </a:solidFill>
          </a:ln>
        </p:spPr>
        <p:txBody>
          <a:bodyPr/>
          <a:lstStyle/>
          <a:p/>
        </p:txBody>
      </p:sp>
      <p:sp>
        <p:nvSpPr>
          <p:cNvPr id="12" name="Shape"/>
          <p:cNvSpPr/>
          <p:nvPr/>
        </p:nvSpPr>
        <p:spPr>
          <a:xfrm>
            <a:off x="4526280" y="1874519"/>
            <a:ext cx="50292" cy="2468880"/>
          </a:xfrm>
          <a:prstGeom prst="rect">
            <a:avLst/>
          </a:prstGeom>
          <a:solidFill>
            <a:srgbClr val="2563EB"/>
          </a:solidFill>
          <a:ln>
            <a:noFill/>
          </a:ln>
        </p:spPr>
        <p:txBody>
          <a:bodyPr/>
          <a:lstStyle/>
          <a:p/>
        </p:txBody>
      </p:sp>
      <p:sp>
        <p:nvSpPr>
          <p:cNvPr id="13" name="Text"/>
          <p:cNvSpPr txBox="1"/>
          <p:nvPr/>
        </p:nvSpPr>
        <p:spPr>
          <a:xfrm>
            <a:off x="4745736" y="2039112"/>
            <a:ext cx="27432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中国现实机制</a:t>
            </a:r>
            <a:endParaRPr lang="zh-CN" sz="1050" b="1">
              <a:solidFill>
                <a:srgbClr val="15202B"/>
              </a:solidFill>
              <a:latin typeface="微软雅黑" panose="020B0503020204020204" charset="-122"/>
              <a:ea typeface="微软雅黑" panose="020B0503020204020204" charset="-122"/>
            </a:endParaRPr>
          </a:p>
        </p:txBody>
      </p:sp>
      <p:sp>
        <p:nvSpPr>
          <p:cNvPr id="14" name="Text"/>
          <p:cNvSpPr txBox="1"/>
          <p:nvPr/>
        </p:nvSpPr>
        <p:spPr>
          <a:xfrm>
            <a:off x="4745736" y="2386584"/>
            <a:ext cx="2743200" cy="1874520"/>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市场决定很多价格</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企业之间激烈竞争</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资本和技术参与创新</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政府保留战略引导</a:t>
            </a:r>
            <a:endParaRPr lang="zh-CN" sz="780" b="0">
              <a:solidFill>
                <a:srgbClr val="697586"/>
              </a:solidFill>
              <a:latin typeface="微软雅黑" panose="020B0503020204020204" charset="-122"/>
              <a:ea typeface="微软雅黑" panose="020B0503020204020204" charset="-122"/>
            </a:endParaRPr>
          </a:p>
        </p:txBody>
      </p:sp>
      <p:sp>
        <p:nvSpPr>
          <p:cNvPr id="15" name="Shape"/>
          <p:cNvSpPr/>
          <p:nvPr/>
        </p:nvSpPr>
        <p:spPr>
          <a:xfrm>
            <a:off x="8275320" y="1874519"/>
            <a:ext cx="3154680" cy="2468880"/>
          </a:xfrm>
          <a:prstGeom prst="roundRect">
            <a:avLst/>
          </a:prstGeom>
          <a:solidFill>
            <a:srgbClr val="FFFDF7"/>
          </a:solidFill>
          <a:ln w="12700">
            <a:solidFill>
              <a:srgbClr val="E4DED2"/>
            </a:solidFill>
          </a:ln>
        </p:spPr>
        <p:txBody>
          <a:bodyPr/>
          <a:lstStyle/>
          <a:p/>
        </p:txBody>
      </p:sp>
      <p:sp>
        <p:nvSpPr>
          <p:cNvPr id="16" name="Shape"/>
          <p:cNvSpPr/>
          <p:nvPr/>
        </p:nvSpPr>
        <p:spPr>
          <a:xfrm>
            <a:off x="8275320" y="1874519"/>
            <a:ext cx="50292" cy="2468880"/>
          </a:xfrm>
          <a:prstGeom prst="rect">
            <a:avLst/>
          </a:prstGeom>
          <a:solidFill>
            <a:srgbClr val="16825D"/>
          </a:solidFill>
          <a:ln>
            <a:noFill/>
          </a:ln>
        </p:spPr>
        <p:txBody>
          <a:bodyPr/>
          <a:lstStyle/>
          <a:p/>
        </p:txBody>
      </p:sp>
      <p:sp>
        <p:nvSpPr>
          <p:cNvPr id="17" name="Text"/>
          <p:cNvSpPr txBox="1"/>
          <p:nvPr/>
        </p:nvSpPr>
        <p:spPr>
          <a:xfrm>
            <a:off x="8494776" y="2039112"/>
            <a:ext cx="27432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社会主义市场经济</a:t>
            </a:r>
            <a:endParaRPr lang="zh-CN" sz="1050" b="1">
              <a:solidFill>
                <a:srgbClr val="15202B"/>
              </a:solidFill>
              <a:latin typeface="微软雅黑" panose="020B0503020204020204" charset="-122"/>
              <a:ea typeface="微软雅黑" panose="020B0503020204020204" charset="-122"/>
            </a:endParaRPr>
          </a:p>
        </p:txBody>
      </p:sp>
      <p:sp>
        <p:nvSpPr>
          <p:cNvPr id="18" name="Text"/>
          <p:cNvSpPr txBox="1"/>
          <p:nvPr/>
        </p:nvSpPr>
        <p:spPr>
          <a:xfrm>
            <a:off x="8494776" y="2386584"/>
            <a:ext cx="2743200" cy="1874520"/>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市场是工具</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发展是目标</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公共利益是约束</a:t>
            </a:r>
            <a:endParaRPr lang="zh-CN" sz="780" b="0">
              <a:solidFill>
                <a:srgbClr val="697586"/>
              </a:solidFill>
              <a:latin typeface="微软雅黑" panose="020B0503020204020204" charset="-122"/>
              <a:ea typeface="微软雅黑" panose="020B0503020204020204" charset="-122"/>
            </a:endParaRPr>
          </a:p>
          <a:p>
            <a:pPr algn="l"/>
            <a:r>
              <a:rPr lang="zh-CN" sz="780" b="0">
                <a:solidFill>
                  <a:srgbClr val="697586"/>
                </a:solidFill>
                <a:latin typeface="微软雅黑" panose="020B0503020204020204" charset="-122"/>
                <a:ea typeface="微软雅黑" panose="020B0503020204020204" charset="-122"/>
              </a:rPr>
              <a:t>共同富裕是方向</a:t>
            </a:r>
            <a:endParaRPr lang="zh-CN" sz="780" b="0">
              <a:solidFill>
                <a:srgbClr val="697586"/>
              </a:solidFill>
              <a:latin typeface="微软雅黑" panose="020B0503020204020204" charset="-122"/>
              <a:ea typeface="微软雅黑" panose="020B0503020204020204" charset="-122"/>
            </a:endParaRPr>
          </a:p>
        </p:txBody>
      </p:sp>
      <p:sp>
        <p:nvSpPr>
          <p:cNvPr id="19" name="Shape"/>
          <p:cNvSpPr/>
          <p:nvPr/>
        </p:nvSpPr>
        <p:spPr>
          <a:xfrm>
            <a:off x="914400" y="5166360"/>
            <a:ext cx="10241280" cy="548640"/>
          </a:xfrm>
          <a:prstGeom prst="roundRect">
            <a:avLst/>
          </a:prstGeom>
          <a:solidFill>
            <a:srgbClr val="15202B"/>
          </a:solidFill>
          <a:ln>
            <a:noFill/>
          </a:ln>
        </p:spPr>
        <p:txBody>
          <a:bodyPr/>
          <a:lstStyle/>
          <a:p/>
        </p:txBody>
      </p:sp>
      <p:sp>
        <p:nvSpPr>
          <p:cNvPr id="20" name="Text"/>
          <p:cNvSpPr txBox="1"/>
          <p:nvPr/>
        </p:nvSpPr>
        <p:spPr>
          <a:xfrm>
            <a:off x="1078992" y="5367528"/>
            <a:ext cx="9893808" cy="164592"/>
          </a:xfrm>
          <a:prstGeom prst="rect">
            <a:avLst/>
          </a:prstGeom>
          <a:noFill/>
          <a:ln>
            <a:noFill/>
          </a:ln>
        </p:spPr>
        <p:txBody>
          <a:bodyPr wrap="square" anchor="t">
            <a:spAutoFit/>
          </a:bodyPr>
          <a:lstStyle/>
          <a:p>
            <a:pPr algn="ctr"/>
            <a:r>
              <a:rPr lang="zh-CN" sz="940" b="1">
                <a:solidFill>
                  <a:srgbClr val="FFFFFF"/>
                </a:solidFill>
                <a:latin typeface="微软雅黑" panose="020B0503020204020204" charset="-122"/>
                <a:ea typeface="微软雅黑" panose="020B0503020204020204" charset="-122"/>
              </a:rPr>
              <a:t>所以，中国不是没有市场的社会主义，而是把市场嵌入社会主义制度目标之中。</a:t>
            </a:r>
            <a:endParaRPr lang="zh-CN" sz="940" b="1">
              <a:solidFill>
                <a:srgbClr val="FFFFFF"/>
              </a:solidFill>
              <a:latin typeface="微软雅黑" panose="020B0503020204020204" charset="-122"/>
              <a:ea typeface="微软雅黑" panose="020B0503020204020204" charset="-122"/>
            </a:endParaRPr>
          </a:p>
        </p:txBody>
      </p:sp>
      <p:sp>
        <p:nvSpPr>
          <p:cNvPr id="21"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资料来源：二十届三中全会《决定》关于高水平社会主义市场经济体制的表述</a:t>
            </a:r>
            <a:endParaRPr lang="zh-CN" sz="550" b="0">
              <a:solidFill>
                <a:srgbClr val="8C939D"/>
              </a:solidFill>
              <a:latin typeface="微软雅黑" panose="020B0503020204020204" charset="-122"/>
              <a:ea typeface="微软雅黑" panose="020B0503020204020204" charset="-122"/>
            </a:endParaRPr>
          </a:p>
        </p:txBody>
      </p:sp>
      <p:sp>
        <p:nvSpPr>
          <p:cNvPr id="22"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3" presetClass="entr" presetSubtype="16" fill="hold" grpId="7" nodeType="afterEffect">
                                  <p:stCondLst>
                                    <p:cond delay="0"/>
                                  </p:stCondLst>
                                  <p:childTnLst>
                                    <p:set>
                                      <p:cBhvr>
                                        <p:cTn id="15" dur="350" fill="hold">
                                          <p:stCondLst>
                                            <p:cond delay="0"/>
                                          </p:stCondLst>
                                        </p:cTn>
                                        <p:tgtEl>
                                          <p:spTgt spid="6"/>
                                        </p:tgtEl>
                                        <p:attrNameLst>
                                          <p:attrName>style.visibility</p:attrName>
                                        </p:attrNameLst>
                                      </p:cBhvr>
                                      <p:to>
                                        <p:strVal val="visible"/>
                                      </p:to>
                                    </p:set>
                                    <p:anim calcmode="lin" valueType="num">
                                      <p:cBhvr>
                                        <p:cTn id="16" dur="350" fill="hold"/>
                                        <p:tgtEl>
                                          <p:spTgt spid="6"/>
                                        </p:tgtEl>
                                        <p:attrNameLst>
                                          <p:attrName>ppt_w</p:attrName>
                                        </p:attrNameLst>
                                      </p:cBhvr>
                                      <p:tavLst>
                                        <p:tav tm="0">
                                          <p:val>
                                            <p:fltVal val="0"/>
                                          </p:val>
                                        </p:tav>
                                        <p:tav tm="100000">
                                          <p:val>
                                            <p:strVal val="#ppt_w"/>
                                          </p:val>
                                        </p:tav>
                                      </p:tavLst>
                                    </p:anim>
                                    <p:anim calcmode="lin" valueType="num">
                                      <p:cBhvr>
                                        <p:cTn id="17" dur="350" fill="hold"/>
                                        <p:tgtEl>
                                          <p:spTgt spid="6"/>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30" presetClass="entr" presetSubtype="0" fill="hold" grpId="9"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36" decel="100000"/>
                                        <p:tgtEl>
                                          <p:spTgt spid="9"/>
                                        </p:tgtEl>
                                      </p:cBhvr>
                                    </p:animEffect>
                                    <p:anim calcmode="lin" valueType="num">
                                      <p:cBhvr>
                                        <p:cTn id="22" dur="336" decel="100000" fill="hold"/>
                                        <p:tgtEl>
                                          <p:spTgt spid="9"/>
                                        </p:tgtEl>
                                        <p:attrNameLst>
                                          <p:attrName>style.rotation</p:attrName>
                                        </p:attrNameLst>
                                      </p:cBhvr>
                                      <p:tavLst>
                                        <p:tav tm="0">
                                          <p:val>
                                            <p:fltVal val="-90"/>
                                          </p:val>
                                        </p:tav>
                                        <p:tav tm="100000">
                                          <p:val>
                                            <p:fltVal val="0"/>
                                          </p:val>
                                        </p:tav>
                                      </p:tavLst>
                                    </p:anim>
                                    <p:anim calcmode="lin" valueType="num">
                                      <p:cBhvr>
                                        <p:cTn id="23" dur="336" decel="100000" fill="hold"/>
                                        <p:tgtEl>
                                          <p:spTgt spid="9"/>
                                        </p:tgtEl>
                                        <p:attrNameLst>
                                          <p:attrName>ppt_x</p:attrName>
                                        </p:attrNameLst>
                                      </p:cBhvr>
                                      <p:tavLst>
                                        <p:tav tm="0">
                                          <p:val>
                                            <p:strVal val="#ppt_x+0.4"/>
                                          </p:val>
                                        </p:tav>
                                        <p:tav tm="100000">
                                          <p:val>
                                            <p:strVal val="#ppt_x-0.05"/>
                                          </p:val>
                                        </p:tav>
                                      </p:tavLst>
                                    </p:anim>
                                    <p:anim calcmode="lin" valueType="num">
                                      <p:cBhvr>
                                        <p:cTn id="24" dur="336" decel="100000" fill="hold"/>
                                        <p:tgtEl>
                                          <p:spTgt spid="9"/>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9"/>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9"/>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1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20"/>
                                        <p:tgtEl>
                                          <p:spTgt spid="10"/>
                                        </p:tgtEl>
                                      </p:cBhvr>
                                    </p:animEffect>
                                    <p:anim calcmode="lin" valueType="num">
                                      <p:cBhvr>
                                        <p:cTn id="31" dur="420" fill="hold"/>
                                        <p:tgtEl>
                                          <p:spTgt spid="10"/>
                                        </p:tgtEl>
                                        <p:attrNameLst>
                                          <p:attrName>ppt_x</p:attrName>
                                        </p:attrNameLst>
                                      </p:cBhvr>
                                      <p:tavLst>
                                        <p:tav tm="0">
                                          <p:val>
                                            <p:strVal val="#ppt_x"/>
                                          </p:val>
                                        </p:tav>
                                        <p:tav tm="100000">
                                          <p:val>
                                            <p:strVal val="#ppt_x"/>
                                          </p:val>
                                        </p:tav>
                                      </p:tavLst>
                                    </p:anim>
                                    <p:anim calcmode="lin" valueType="num">
                                      <p:cBhvr>
                                        <p:cTn id="32" dur="378" decel="100000" fill="hold"/>
                                        <p:tgtEl>
                                          <p:spTgt spid="10"/>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0"/>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2" nodeType="afterEffect">
                                  <p:stCondLst>
                                    <p:cond delay="0"/>
                                  </p:stCondLst>
                                  <p:childTnLst>
                                    <p:set>
                                      <p:cBhvr>
                                        <p:cTn id="36" dur="420" fill="hold">
                                          <p:stCondLst>
                                            <p:cond delay="0"/>
                                          </p:stCondLst>
                                        </p:cTn>
                                        <p:tgtEl>
                                          <p:spTgt spid="13"/>
                                        </p:tgtEl>
                                        <p:attrNameLst>
                                          <p:attrName>style.visibility</p:attrName>
                                        </p:attrNameLst>
                                      </p:cBhvr>
                                      <p:to>
                                        <p:strVal val="visible"/>
                                      </p:to>
                                    </p:set>
                                    <p:animEffect transition="in" filter="fade">
                                      <p:cBhvr>
                                        <p:cTn id="37" dur="420"/>
                                        <p:tgtEl>
                                          <p:spTgt spid="13"/>
                                        </p:tgtEl>
                                      </p:cBhvr>
                                    </p:animEffect>
                                  </p:childTnLst>
                                </p:cTn>
                              </p:par>
                            </p:childTnLst>
                          </p:cTn>
                        </p:par>
                        <p:par>
                          <p:cTn id="38" fill="hold">
                            <p:stCondLst>
                              <p:cond delay="3000"/>
                            </p:stCondLst>
                            <p:childTnLst>
                              <p:par>
                                <p:cTn id="39" presetID="22" presetClass="entr" presetSubtype="4" fill="hold" grpId="13" nodeType="afterEffect">
                                  <p:stCondLst>
                                    <p:cond delay="0"/>
                                  </p:stCondLst>
                                  <p:childTnLst>
                                    <p:set>
                                      <p:cBhvr>
                                        <p:cTn id="40" dur="420" fill="hold">
                                          <p:stCondLst>
                                            <p:cond delay="0"/>
                                          </p:stCondLst>
                                        </p:cTn>
                                        <p:tgtEl>
                                          <p:spTgt spid="14"/>
                                        </p:tgtEl>
                                        <p:attrNameLst>
                                          <p:attrName>style.visibility</p:attrName>
                                        </p:attrNameLst>
                                      </p:cBhvr>
                                      <p:to>
                                        <p:strVal val="visible"/>
                                      </p:to>
                                    </p:set>
                                    <p:animEffect transition="in" filter="wipe(down)">
                                      <p:cBhvr>
                                        <p:cTn id="41" dur="420"/>
                                        <p:tgtEl>
                                          <p:spTgt spid="14"/>
                                        </p:tgtEl>
                                      </p:cBhvr>
                                    </p:animEffect>
                                  </p:childTnLst>
                                </p:cTn>
                              </p:par>
                            </p:childTnLst>
                          </p:cTn>
                        </p:par>
                        <p:par>
                          <p:cTn id="42" fill="hold">
                            <p:stCondLst>
                              <p:cond delay="3500"/>
                            </p:stCondLst>
                            <p:childTnLst>
                              <p:par>
                                <p:cTn id="43" presetID="2" presetClass="entr" presetSubtype="4" fill="hold" grpId="14" nodeType="afterEffect">
                                  <p:stCondLst>
                                    <p:cond delay="0"/>
                                  </p:stCondLst>
                                  <p:childTnLst>
                                    <p:set>
                                      <p:cBhvr>
                                        <p:cTn id="44" dur="420" fill="hold">
                                          <p:stCondLst>
                                            <p:cond delay="0"/>
                                          </p:stCondLst>
                                        </p:cTn>
                                        <p:tgtEl>
                                          <p:spTgt spid="17"/>
                                        </p:tgtEl>
                                        <p:attrNameLst>
                                          <p:attrName>style.visibility</p:attrName>
                                        </p:attrNameLst>
                                      </p:cBhvr>
                                      <p:to>
                                        <p:strVal val="visible"/>
                                      </p:to>
                                    </p:set>
                                    <p:anim calcmode="lin" valueType="num">
                                      <p:cBhvr additive="base">
                                        <p:cTn id="45" dur="420" fill="hold"/>
                                        <p:tgtEl>
                                          <p:spTgt spid="17"/>
                                        </p:tgtEl>
                                        <p:attrNameLst>
                                          <p:attrName>ppt_x</p:attrName>
                                        </p:attrNameLst>
                                      </p:cBhvr>
                                      <p:tavLst>
                                        <p:tav tm="0">
                                          <p:val>
                                            <p:strVal val="#ppt_x"/>
                                          </p:val>
                                        </p:tav>
                                        <p:tav tm="100000">
                                          <p:val>
                                            <p:strVal val="#ppt_x"/>
                                          </p:val>
                                        </p:tav>
                                      </p:tavLst>
                                    </p:anim>
                                    <p:anim calcmode="lin" valueType="num">
                                      <p:cBhvr additive="base">
                                        <p:cTn id="46" dur="420" fill="hold"/>
                                        <p:tgtEl>
                                          <p:spTgt spid="17"/>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5"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36" decel="100000"/>
                                        <p:tgtEl>
                                          <p:spTgt spid="18"/>
                                        </p:tgtEl>
                                      </p:cBhvr>
                                    </p:animEffect>
                                    <p:anim calcmode="lin" valueType="num">
                                      <p:cBhvr>
                                        <p:cTn id="51" dur="336" decel="100000" fill="hold"/>
                                        <p:tgtEl>
                                          <p:spTgt spid="18"/>
                                        </p:tgtEl>
                                        <p:attrNameLst>
                                          <p:attrName>style.rotation</p:attrName>
                                        </p:attrNameLst>
                                      </p:cBhvr>
                                      <p:tavLst>
                                        <p:tav tm="0">
                                          <p:val>
                                            <p:fltVal val="-90"/>
                                          </p:val>
                                        </p:tav>
                                        <p:tav tm="100000">
                                          <p:val>
                                            <p:fltVal val="0"/>
                                          </p:val>
                                        </p:tav>
                                      </p:tavLst>
                                    </p:anim>
                                    <p:anim calcmode="lin" valueType="num">
                                      <p:cBhvr>
                                        <p:cTn id="52" dur="336" decel="100000" fill="hold"/>
                                        <p:tgtEl>
                                          <p:spTgt spid="18"/>
                                        </p:tgtEl>
                                        <p:attrNameLst>
                                          <p:attrName>ppt_x</p:attrName>
                                        </p:attrNameLst>
                                      </p:cBhvr>
                                      <p:tavLst>
                                        <p:tav tm="0">
                                          <p:val>
                                            <p:strVal val="#ppt_x+0.4"/>
                                          </p:val>
                                        </p:tav>
                                        <p:tav tm="100000">
                                          <p:val>
                                            <p:strVal val="#ppt_x-0.05"/>
                                          </p:val>
                                        </p:tav>
                                      </p:tavLst>
                                    </p:anim>
                                    <p:anim calcmode="lin" valueType="num">
                                      <p:cBhvr>
                                        <p:cTn id="53" dur="336" decel="100000" fill="hold"/>
                                        <p:tgtEl>
                                          <p:spTgt spid="18"/>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18"/>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18"/>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23" presetClass="entr" presetSubtype="16" fill="hold" grpId="16" nodeType="afterEffect">
                                  <p:stCondLst>
                                    <p:cond delay="0"/>
                                  </p:stCondLst>
                                  <p:childTnLst>
                                    <p:set>
                                      <p:cBhvr>
                                        <p:cTn id="58" dur="420" fill="hold">
                                          <p:stCondLst>
                                            <p:cond delay="0"/>
                                          </p:stCondLst>
                                        </p:cTn>
                                        <p:tgtEl>
                                          <p:spTgt spid="20"/>
                                        </p:tgtEl>
                                        <p:attrNameLst>
                                          <p:attrName>style.visibility</p:attrName>
                                        </p:attrNameLst>
                                      </p:cBhvr>
                                      <p:to>
                                        <p:strVal val="visible"/>
                                      </p:to>
                                    </p:set>
                                    <p:anim calcmode="lin" valueType="num">
                                      <p:cBhvr>
                                        <p:cTn id="59" dur="420" fill="hold"/>
                                        <p:tgtEl>
                                          <p:spTgt spid="20"/>
                                        </p:tgtEl>
                                        <p:attrNameLst>
                                          <p:attrName>ppt_w</p:attrName>
                                        </p:attrNameLst>
                                      </p:cBhvr>
                                      <p:tavLst>
                                        <p:tav tm="0">
                                          <p:val>
                                            <p:fltVal val="0"/>
                                          </p:val>
                                        </p:tav>
                                        <p:tav tm="100000">
                                          <p:val>
                                            <p:strVal val="#ppt_w"/>
                                          </p:val>
                                        </p:tav>
                                      </p:tavLst>
                                    </p:anim>
                                    <p:anim calcmode="lin" valueType="num">
                                      <p:cBhvr>
                                        <p:cTn id="60" dur="42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6" grpId="2" uiExpand="1" build="allAtOnce"/>
      <p:bldP spid="7" grpId="3" uiExpand="1" build="allAtOnce"/>
      <p:bldP spid="9" grpId="4" uiExpand="1" build="allAtOnce"/>
      <p:bldP spid="10" grpId="5" uiExpand="1" build="allAtOnce"/>
      <p:bldP spid="11" grpId="6" uiExpand="1" build="allAtOnce"/>
      <p:bldP spid="13" grpId="7" uiExpand="1" build="allAtOnce"/>
      <p:bldP spid="14" grpId="8" uiExpand="1" build="allAtOnce"/>
      <p:bldP spid="15" grpId="9" uiExpand="1" build="allAtOnce"/>
      <p:bldP spid="17" grpId="10" uiExpand="1" build="allAtOnce"/>
      <p:bldP spid="18" grpId="11" uiExpand="1" build="allAtOnce"/>
      <p:bldP spid="20" grpId="12" uiExpand="1" build="allAtOnce"/>
      <p:bldP spid="3" grpId="0"/>
      <p:bldP spid="4" grpId="2"/>
      <p:bldP spid="6" grpId="3"/>
      <p:bldP spid="7" grpId="4" animBg="1"/>
      <p:bldP spid="9" grpId="5"/>
      <p:bldP spid="10" grpId="6"/>
      <p:bldP spid="11" grpId="7" animBg="1"/>
      <p:bldP spid="13" grpId="8"/>
      <p:bldP spid="14" grpId="9"/>
      <p:bldP spid="3" grpId="1"/>
      <p:bldP spid="4" grpId="3"/>
      <p:bldP spid="6" grpId="4"/>
      <p:bldP spid="9" grpId="6"/>
      <p:bldP spid="13" grpId="9"/>
      <p:bldP spid="17" grpId="11"/>
      <p:bldP spid="10" grpId="7"/>
      <p:bldP spid="14" grpId="10"/>
      <p:bldP spid="18" grpId="12"/>
      <p:bldP spid="20" grpId="13"/>
      <p:bldP spid="3" grpId="2"/>
      <p:bldP spid="4" grpId="4"/>
      <p:bldP spid="6" grpId="5"/>
      <p:bldP spid="9" grpId="7"/>
      <p:bldP spid="13" grpId="10"/>
      <p:bldP spid="17" grpId="12"/>
      <p:bldP spid="10" grpId="8"/>
      <p:bldP spid="14" grpId="11"/>
      <p:bldP spid="18" grpId="13"/>
      <p:bldP spid="20" grpId="14"/>
      <p:bldP spid="3" grpId="3"/>
      <p:bldP spid="4" grpId="5"/>
      <p:bldP spid="6" grpId="6"/>
      <p:bldP spid="9" grpId="8"/>
      <p:bldP spid="10" grpId="9"/>
      <p:bldP spid="13" grpId="11"/>
      <p:bldP spid="14" grpId="12"/>
      <p:bldP spid="17" grpId="13"/>
      <p:bldP spid="18" grpId="14"/>
      <p:bldP spid="20" grpId="15"/>
      <p:bldP spid="3" grpId="4"/>
      <p:bldP spid="4" grpId="6"/>
      <p:bldP spid="6" grpId="7"/>
      <p:bldP spid="9" grpId="9"/>
      <p:bldP spid="10" grpId="10"/>
      <p:bldP spid="13" grpId="12"/>
      <p:bldP spid="14" grpId="13"/>
      <p:bldP spid="17" grpId="14"/>
      <p:bldP spid="18" grpId="15"/>
      <p:bldP spid="20" grpId="16"/>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pic>
        <p:nvPicPr>
          <p:cNvPr id="3" name="state_market_section.png"/>
          <p:cNvPicPr/>
          <p:nvPr/>
        </p:nvPicPr>
        <p:blipFill>
          <a:blip r:embed="rId1"/>
          <a:stretch>
            <a:fillRect/>
          </a:stretch>
        </p:blipFill>
        <p:spPr>
          <a:xfrm>
            <a:off x="0" y="0"/>
            <a:ext cx="12191695" cy="6858000"/>
          </a:xfrm>
          <a:prstGeom prst="rect">
            <a:avLst/>
          </a:prstGeom>
        </p:spPr>
      </p:pic>
      <p:sp>
        <p:nvSpPr>
          <p:cNvPr id="4" name="Shape"/>
          <p:cNvSpPr/>
          <p:nvPr/>
        </p:nvSpPr>
        <p:spPr>
          <a:xfrm>
            <a:off x="0" y="0"/>
            <a:ext cx="12191695" cy="6858000"/>
          </a:xfrm>
          <a:prstGeom prst="rect">
            <a:avLst/>
          </a:prstGeom>
          <a:solidFill>
            <a:srgbClr val="04101B">
              <a:alpha val="62000"/>
            </a:srgbClr>
          </a:solidFill>
          <a:ln>
            <a:noFill/>
          </a:ln>
        </p:spPr>
        <p:txBody>
          <a:bodyPr/>
          <a:lstStyle/>
          <a:p/>
        </p:txBody>
      </p:sp>
      <p:sp>
        <p:nvSpPr>
          <p:cNvPr id="5" name="Text"/>
          <p:cNvSpPr txBox="1"/>
          <p:nvPr/>
        </p:nvSpPr>
        <p:spPr>
          <a:xfrm>
            <a:off x="658368" y="1243584"/>
            <a:ext cx="4114800" cy="384048"/>
          </a:xfrm>
          <a:prstGeom prst="rect">
            <a:avLst/>
          </a:prstGeom>
          <a:noFill/>
          <a:ln>
            <a:noFill/>
          </a:ln>
        </p:spPr>
        <p:txBody>
          <a:bodyPr wrap="square" anchor="t">
            <a:spAutoFit/>
          </a:bodyPr>
          <a:lstStyle/>
          <a:p>
            <a:pPr algn="l"/>
            <a:r>
              <a:rPr lang="zh-CN" sz="1500" b="1">
                <a:solidFill>
                  <a:srgbClr val="D6A13B"/>
                </a:solidFill>
                <a:latin typeface="微软雅黑" panose="020B0503020204020204" charset="-122"/>
                <a:ea typeface="微软雅黑" panose="020B0503020204020204" charset="-122"/>
              </a:rPr>
              <a:t>国家与市场</a:t>
            </a:r>
            <a:endParaRPr lang="zh-CN" sz="1500" b="1">
              <a:solidFill>
                <a:srgbClr val="D6A13B"/>
              </a:solidFill>
              <a:latin typeface="微软雅黑" panose="020B0503020204020204" charset="-122"/>
              <a:ea typeface="微软雅黑" panose="020B0503020204020204" charset="-122"/>
            </a:endParaRPr>
          </a:p>
        </p:txBody>
      </p:sp>
      <p:sp>
        <p:nvSpPr>
          <p:cNvPr id="6" name="Text"/>
          <p:cNvSpPr txBox="1"/>
          <p:nvPr/>
        </p:nvSpPr>
        <p:spPr>
          <a:xfrm>
            <a:off x="658368" y="1755648"/>
            <a:ext cx="4572000" cy="914400"/>
          </a:xfrm>
          <a:prstGeom prst="rect">
            <a:avLst/>
          </a:prstGeom>
          <a:noFill/>
          <a:ln>
            <a:noFill/>
          </a:ln>
        </p:spPr>
        <p:txBody>
          <a:bodyPr wrap="square" anchor="t">
            <a:spAutoFit/>
          </a:bodyPr>
          <a:lstStyle/>
          <a:p>
            <a:pPr algn="l"/>
            <a:r>
              <a:rPr lang="zh-CN" sz="2700" b="1">
                <a:solidFill>
                  <a:srgbClr val="FFFFFF"/>
                </a:solidFill>
                <a:latin typeface="微软雅黑" panose="020B0503020204020204" charset="-122"/>
                <a:ea typeface="微软雅黑" panose="020B0503020204020204" charset="-122"/>
              </a:rPr>
              <a:t>不是二选一，</a:t>
            </a:r>
            <a:endParaRPr lang="zh-CN" sz="2700" b="1">
              <a:solidFill>
                <a:srgbClr val="FFFFFF"/>
              </a:solidFill>
              <a:latin typeface="微软雅黑" panose="020B0503020204020204" charset="-122"/>
              <a:ea typeface="微软雅黑" panose="020B0503020204020204" charset="-122"/>
            </a:endParaRPr>
          </a:p>
          <a:p>
            <a:pPr algn="l"/>
            <a:r>
              <a:rPr lang="zh-CN" sz="2700" b="1">
                <a:solidFill>
                  <a:srgbClr val="FFFFFF"/>
                </a:solidFill>
                <a:latin typeface="微软雅黑" panose="020B0503020204020204" charset="-122"/>
                <a:ea typeface="微软雅黑" panose="020B0503020204020204" charset="-122"/>
              </a:rPr>
              <a:t>而是边界与分工</a:t>
            </a:r>
            <a:endParaRPr lang="zh-CN" sz="2700" b="1">
              <a:solidFill>
                <a:srgbClr val="FFFFFF"/>
              </a:solidFill>
              <a:latin typeface="微软雅黑" panose="020B0503020204020204" charset="-122"/>
              <a:ea typeface="微软雅黑" panose="020B0503020204020204" charset="-122"/>
            </a:endParaRPr>
          </a:p>
        </p:txBody>
      </p:sp>
      <p:sp>
        <p:nvSpPr>
          <p:cNvPr id="7" name="Text"/>
          <p:cNvSpPr txBox="1"/>
          <p:nvPr/>
        </p:nvSpPr>
        <p:spPr>
          <a:xfrm>
            <a:off x="694944" y="2980944"/>
            <a:ext cx="4937760" cy="402336"/>
          </a:xfrm>
          <a:prstGeom prst="rect">
            <a:avLst/>
          </a:prstGeom>
          <a:noFill/>
          <a:ln>
            <a:noFill/>
          </a:ln>
        </p:spPr>
        <p:txBody>
          <a:bodyPr wrap="square" anchor="t">
            <a:spAutoFit/>
          </a:bodyPr>
          <a:lstStyle/>
          <a:p>
            <a:pPr algn="l"/>
            <a:r>
              <a:rPr lang="zh-CN" sz="1100" b="0">
                <a:solidFill>
                  <a:srgbClr val="E5EDF7"/>
                </a:solidFill>
                <a:latin typeface="微软雅黑" panose="020B0503020204020204" charset="-122"/>
                <a:ea typeface="微软雅黑" panose="020B0503020204020204" charset="-122"/>
              </a:rPr>
              <a:t>市场解决效率和活力，国家解决方向、底线和长期投入。</a:t>
            </a:r>
            <a:endParaRPr lang="zh-CN" sz="1100" b="0">
              <a:solidFill>
                <a:srgbClr val="E5EDF7"/>
              </a:solidFill>
              <a:latin typeface="微软雅黑" panose="020B0503020204020204" charset="-122"/>
              <a:ea typeface="微软雅黑" panose="020B050302020402020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6" nodeType="clickEffect">
                                  <p:stCondLst>
                                    <p:cond delay="0"/>
                                  </p:stCondLst>
                                  <p:childTnLst>
                                    <p:set>
                                      <p:cBhvr>
                                        <p:cTn id="6" dur="350" fill="hold">
                                          <p:stCondLst>
                                            <p:cond delay="0"/>
                                          </p:stCondLst>
                                        </p:cTn>
                                        <p:tgtEl>
                                          <p:spTgt spid="5"/>
                                        </p:tgtEl>
                                        <p:attrNameLst>
                                          <p:attrName>style.visibility</p:attrName>
                                        </p:attrNameLst>
                                      </p:cBhvr>
                                      <p:to>
                                        <p:strVal val="visible"/>
                                      </p:to>
                                    </p:set>
                                    <p:anim calcmode="lin" valueType="num">
                                      <p:cBhvr>
                                        <p:cTn id="7" dur="350" fill="hold"/>
                                        <p:tgtEl>
                                          <p:spTgt spid="5"/>
                                        </p:tgtEl>
                                        <p:attrNameLst>
                                          <p:attrName>ppt_w</p:attrName>
                                        </p:attrNameLst>
                                      </p:cBhvr>
                                      <p:tavLst>
                                        <p:tav tm="0">
                                          <p:val>
                                            <p:fltVal val="0"/>
                                          </p:val>
                                        </p:tav>
                                        <p:tav tm="100000">
                                          <p:val>
                                            <p:strVal val="#ppt_w"/>
                                          </p:val>
                                        </p:tav>
                                      </p:tavLst>
                                    </p:anim>
                                    <p:anim calcmode="lin" valueType="num">
                                      <p:cBhvr>
                                        <p:cTn id="8" dur="35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4" fill="hold" grpId="7" nodeType="afterEffect">
                                  <p:stCondLst>
                                    <p:cond delay="0"/>
                                  </p:stCondLst>
                                  <p:childTnLst>
                                    <p:set>
                                      <p:cBhvr>
                                        <p:cTn id="11" dur="420" fill="hold">
                                          <p:stCondLst>
                                            <p:cond delay="0"/>
                                          </p:stCondLst>
                                        </p:cTn>
                                        <p:tgtEl>
                                          <p:spTgt spid="6"/>
                                        </p:tgtEl>
                                        <p:attrNameLst>
                                          <p:attrName>style.visibility</p:attrName>
                                        </p:attrNameLst>
                                      </p:cBhvr>
                                      <p:to>
                                        <p:strVal val="visible"/>
                                      </p:to>
                                    </p:set>
                                    <p:animEffect transition="in" filter="wipe(down)">
                                      <p:cBhvr>
                                        <p:cTn id="12" dur="420"/>
                                        <p:tgtEl>
                                          <p:spTgt spid="6"/>
                                        </p:tgtEl>
                                      </p:cBhvr>
                                    </p:animEffect>
                                  </p:childTnLst>
                                </p:cTn>
                              </p:par>
                            </p:childTnLst>
                          </p:cTn>
                        </p:par>
                        <p:par>
                          <p:cTn id="13" fill="hold">
                            <p:stCondLst>
                              <p:cond delay="1000"/>
                            </p:stCondLst>
                            <p:childTnLst>
                              <p:par>
                                <p:cTn id="14" presetID="2" presetClass="entr" presetSubtype="4" fill="hold" grpId="8" nodeType="afterEffect">
                                  <p:stCondLst>
                                    <p:cond delay="0"/>
                                  </p:stCondLst>
                                  <p:childTnLst>
                                    <p:set>
                                      <p:cBhvr>
                                        <p:cTn id="15" dur="420" fill="hold">
                                          <p:stCondLst>
                                            <p:cond delay="0"/>
                                          </p:stCondLst>
                                        </p:cTn>
                                        <p:tgtEl>
                                          <p:spTgt spid="7"/>
                                        </p:tgtEl>
                                        <p:attrNameLst>
                                          <p:attrName>style.visibility</p:attrName>
                                        </p:attrNameLst>
                                      </p:cBhvr>
                                      <p:to>
                                        <p:strVal val="visible"/>
                                      </p:to>
                                    </p:set>
                                    <p:anim calcmode="lin" valueType="num">
                                      <p:cBhvr additive="base">
                                        <p:cTn id="16" dur="420" fill="hold"/>
                                        <p:tgtEl>
                                          <p:spTgt spid="7"/>
                                        </p:tgtEl>
                                        <p:attrNameLst>
                                          <p:attrName>ppt_x</p:attrName>
                                        </p:attrNameLst>
                                      </p:cBhvr>
                                      <p:tavLst>
                                        <p:tav tm="0">
                                          <p:val>
                                            <p:strVal val="#ppt_x"/>
                                          </p:val>
                                        </p:tav>
                                        <p:tav tm="100000">
                                          <p:val>
                                            <p:strVal val="#ppt_x"/>
                                          </p:val>
                                        </p:tav>
                                      </p:tavLst>
                                    </p:anim>
                                    <p:anim calcmode="lin" valueType="num">
                                      <p:cBhvr additive="base">
                                        <p:cTn id="17" dur="42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uiExpand="1" build="allAtOnce"/>
      <p:bldP spid="6" grpId="2" uiExpand="1" build="allAtOnce"/>
      <p:bldP spid="7" grpId="3" uiExpand="1" build="allAtOnce"/>
      <p:bldP spid="5" grpId="2"/>
      <p:bldP spid="6" grpId="3"/>
      <p:bldP spid="7" grpId="4"/>
      <p:bldP spid="5" grpId="3"/>
      <p:bldP spid="6" grpId="4"/>
      <p:bldP spid="7" grpId="5"/>
      <p:bldP spid="5" grpId="4"/>
      <p:bldP spid="6" grpId="5"/>
      <p:bldP spid="7" grpId="6"/>
      <p:bldP spid="5" grpId="5"/>
      <p:bldP spid="6" grpId="6"/>
      <p:bldP spid="7" grpId="7"/>
      <p:bldP spid="5" grpId="6"/>
      <p:bldP spid="6" grpId="7"/>
      <p:bldP spid="7" grpId="8"/>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6F2E9"/>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05 机制</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国家与市场的关系：市场有活力，但不能失去公共方向</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731520" y="1426464"/>
            <a:ext cx="10698480" cy="914400"/>
          </a:xfrm>
          <a:prstGeom prst="roundRect">
            <a:avLst/>
          </a:prstGeom>
          <a:solidFill>
            <a:srgbClr val="15202B"/>
          </a:solidFill>
          <a:ln>
            <a:noFill/>
          </a:ln>
        </p:spPr>
        <p:txBody>
          <a:bodyPr/>
          <a:lstStyle/>
          <a:p/>
        </p:txBody>
      </p:sp>
      <p:sp>
        <p:nvSpPr>
          <p:cNvPr id="7" name="Text"/>
          <p:cNvSpPr txBox="1"/>
          <p:nvPr/>
        </p:nvSpPr>
        <p:spPr>
          <a:xfrm>
            <a:off x="1051560" y="1719072"/>
            <a:ext cx="4800600" cy="164592"/>
          </a:xfrm>
          <a:prstGeom prst="rect">
            <a:avLst/>
          </a:prstGeom>
          <a:noFill/>
          <a:ln>
            <a:noFill/>
          </a:ln>
        </p:spPr>
        <p:txBody>
          <a:bodyPr wrap="square" anchor="t">
            <a:spAutoFit/>
          </a:bodyPr>
          <a:lstStyle/>
          <a:p>
            <a:pPr algn="l"/>
            <a:r>
              <a:rPr lang="zh-CN" sz="1000" b="1">
                <a:solidFill>
                  <a:srgbClr val="FFFFFF"/>
                </a:solidFill>
                <a:latin typeface="微软雅黑" panose="020B0503020204020204" charset="-122"/>
                <a:ea typeface="微软雅黑" panose="020B0503020204020204" charset="-122"/>
              </a:rPr>
              <a:t>市场像发动机：负责提高效率、发现价格、激励创新。</a:t>
            </a:r>
            <a:endParaRPr lang="zh-CN" sz="1000" b="1">
              <a:solidFill>
                <a:srgbClr val="FFFFFF"/>
              </a:solidFill>
              <a:latin typeface="微软雅黑" panose="020B0503020204020204" charset="-122"/>
              <a:ea typeface="微软雅黑" panose="020B0503020204020204" charset="-122"/>
            </a:endParaRPr>
          </a:p>
        </p:txBody>
      </p:sp>
      <p:sp>
        <p:nvSpPr>
          <p:cNvPr id="8" name="Text"/>
          <p:cNvSpPr txBox="1"/>
          <p:nvPr/>
        </p:nvSpPr>
        <p:spPr>
          <a:xfrm>
            <a:off x="6080760" y="1719072"/>
            <a:ext cx="4754880" cy="164592"/>
          </a:xfrm>
          <a:prstGeom prst="rect">
            <a:avLst/>
          </a:prstGeom>
          <a:noFill/>
          <a:ln>
            <a:noFill/>
          </a:ln>
        </p:spPr>
        <p:txBody>
          <a:bodyPr wrap="square" anchor="t">
            <a:spAutoFit/>
          </a:bodyPr>
          <a:lstStyle/>
          <a:p>
            <a:pPr algn="l"/>
            <a:r>
              <a:rPr lang="zh-CN" sz="1000" b="1">
                <a:solidFill>
                  <a:srgbClr val="F1D58E"/>
                </a:solidFill>
                <a:latin typeface="微软雅黑" panose="020B0503020204020204" charset="-122"/>
                <a:ea typeface="微软雅黑" panose="020B0503020204020204" charset="-122"/>
              </a:rPr>
              <a:t>国家像方向盘和刹车：负责战略投入、公共服务、风险约束。</a:t>
            </a:r>
            <a:endParaRPr lang="zh-CN" sz="1000" b="1">
              <a:solidFill>
                <a:srgbClr val="F1D58E"/>
              </a:solidFill>
              <a:latin typeface="微软雅黑" panose="020B0503020204020204" charset="-122"/>
              <a:ea typeface="微软雅黑" panose="020B0503020204020204" charset="-122"/>
            </a:endParaRPr>
          </a:p>
        </p:txBody>
      </p:sp>
      <p:sp>
        <p:nvSpPr>
          <p:cNvPr id="9" name="Shape"/>
          <p:cNvSpPr/>
          <p:nvPr/>
        </p:nvSpPr>
        <p:spPr>
          <a:xfrm>
            <a:off x="822960" y="2816352"/>
            <a:ext cx="3154680" cy="1325880"/>
          </a:xfrm>
          <a:prstGeom prst="roundRect">
            <a:avLst/>
          </a:prstGeom>
          <a:solidFill>
            <a:srgbClr val="FFFDF7"/>
          </a:solidFill>
          <a:ln w="12700">
            <a:solidFill>
              <a:srgbClr val="E4DED2"/>
            </a:solidFill>
          </a:ln>
        </p:spPr>
        <p:txBody>
          <a:bodyPr/>
          <a:lstStyle/>
          <a:p/>
        </p:txBody>
      </p:sp>
      <p:sp>
        <p:nvSpPr>
          <p:cNvPr id="10" name="Shape"/>
          <p:cNvSpPr/>
          <p:nvPr/>
        </p:nvSpPr>
        <p:spPr>
          <a:xfrm>
            <a:off x="822960" y="2816352"/>
            <a:ext cx="50292" cy="1325880"/>
          </a:xfrm>
          <a:prstGeom prst="rect">
            <a:avLst/>
          </a:prstGeom>
          <a:solidFill>
            <a:srgbClr val="2563EB"/>
          </a:solidFill>
          <a:ln>
            <a:noFill/>
          </a:ln>
        </p:spPr>
        <p:txBody>
          <a:bodyPr/>
          <a:lstStyle/>
          <a:p/>
        </p:txBody>
      </p:sp>
      <p:sp>
        <p:nvSpPr>
          <p:cNvPr id="11" name="Text"/>
          <p:cNvSpPr txBox="1"/>
          <p:nvPr/>
        </p:nvSpPr>
        <p:spPr>
          <a:xfrm>
            <a:off x="1042416" y="2980944"/>
            <a:ext cx="27432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市场发挥作用</a:t>
            </a:r>
            <a:endParaRPr lang="zh-CN" sz="1050" b="1">
              <a:solidFill>
                <a:srgbClr val="15202B"/>
              </a:solidFill>
              <a:latin typeface="微软雅黑" panose="020B0503020204020204" charset="-122"/>
              <a:ea typeface="微软雅黑" panose="020B0503020204020204" charset="-122"/>
            </a:endParaRPr>
          </a:p>
        </p:txBody>
      </p:sp>
      <p:sp>
        <p:nvSpPr>
          <p:cNvPr id="12" name="Text"/>
          <p:cNvSpPr txBox="1"/>
          <p:nvPr/>
        </p:nvSpPr>
        <p:spPr>
          <a:xfrm>
            <a:off x="1042416" y="3328416"/>
            <a:ext cx="2743200" cy="731519"/>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价格、竞争、创新、消费者选择</a:t>
            </a:r>
            <a:endParaRPr lang="zh-CN" sz="780" b="0">
              <a:solidFill>
                <a:srgbClr val="697586"/>
              </a:solidFill>
              <a:latin typeface="微软雅黑" panose="020B0503020204020204" charset="-122"/>
              <a:ea typeface="微软雅黑" panose="020B0503020204020204" charset="-122"/>
            </a:endParaRPr>
          </a:p>
        </p:txBody>
      </p:sp>
      <p:sp>
        <p:nvSpPr>
          <p:cNvPr id="13" name="Shape"/>
          <p:cNvSpPr/>
          <p:nvPr/>
        </p:nvSpPr>
        <p:spPr>
          <a:xfrm>
            <a:off x="4480560" y="2816352"/>
            <a:ext cx="3154680" cy="1325880"/>
          </a:xfrm>
          <a:prstGeom prst="roundRect">
            <a:avLst/>
          </a:prstGeom>
          <a:solidFill>
            <a:srgbClr val="FFFDF7"/>
          </a:solidFill>
          <a:ln w="12700">
            <a:solidFill>
              <a:srgbClr val="E4DED2"/>
            </a:solidFill>
          </a:ln>
        </p:spPr>
        <p:txBody>
          <a:bodyPr/>
          <a:lstStyle/>
          <a:p/>
        </p:txBody>
      </p:sp>
      <p:sp>
        <p:nvSpPr>
          <p:cNvPr id="14" name="Shape"/>
          <p:cNvSpPr/>
          <p:nvPr/>
        </p:nvSpPr>
        <p:spPr>
          <a:xfrm>
            <a:off x="4480560" y="2816352"/>
            <a:ext cx="50292" cy="1325880"/>
          </a:xfrm>
          <a:prstGeom prst="rect">
            <a:avLst/>
          </a:prstGeom>
          <a:solidFill>
            <a:srgbClr val="B91C1C"/>
          </a:solidFill>
          <a:ln>
            <a:noFill/>
          </a:ln>
        </p:spPr>
        <p:txBody>
          <a:bodyPr/>
          <a:lstStyle/>
          <a:p/>
        </p:txBody>
      </p:sp>
      <p:sp>
        <p:nvSpPr>
          <p:cNvPr id="15" name="Text"/>
          <p:cNvSpPr txBox="1"/>
          <p:nvPr/>
        </p:nvSpPr>
        <p:spPr>
          <a:xfrm>
            <a:off x="4700016" y="2980944"/>
            <a:ext cx="27432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政府发挥作用</a:t>
            </a:r>
            <a:endParaRPr lang="zh-CN" sz="1050" b="1">
              <a:solidFill>
                <a:srgbClr val="15202B"/>
              </a:solidFill>
              <a:latin typeface="微软雅黑" panose="020B0503020204020204" charset="-122"/>
              <a:ea typeface="微软雅黑" panose="020B0503020204020204" charset="-122"/>
            </a:endParaRPr>
          </a:p>
        </p:txBody>
      </p:sp>
      <p:sp>
        <p:nvSpPr>
          <p:cNvPr id="16" name="Text"/>
          <p:cNvSpPr txBox="1"/>
          <p:nvPr/>
        </p:nvSpPr>
        <p:spPr>
          <a:xfrm>
            <a:off x="4700016" y="3328416"/>
            <a:ext cx="2743200" cy="731519"/>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产业规划、基础设施、公共服务、宏观调控</a:t>
            </a:r>
            <a:endParaRPr lang="zh-CN" sz="780" b="0">
              <a:solidFill>
                <a:srgbClr val="697586"/>
              </a:solidFill>
              <a:latin typeface="微软雅黑" panose="020B0503020204020204" charset="-122"/>
              <a:ea typeface="微软雅黑" panose="020B0503020204020204" charset="-122"/>
            </a:endParaRPr>
          </a:p>
        </p:txBody>
      </p:sp>
      <p:sp>
        <p:nvSpPr>
          <p:cNvPr id="17" name="Shape"/>
          <p:cNvSpPr/>
          <p:nvPr/>
        </p:nvSpPr>
        <p:spPr>
          <a:xfrm>
            <a:off x="8138160" y="2816352"/>
            <a:ext cx="3154680" cy="1325880"/>
          </a:xfrm>
          <a:prstGeom prst="roundRect">
            <a:avLst/>
          </a:prstGeom>
          <a:solidFill>
            <a:srgbClr val="FFFDF7"/>
          </a:solidFill>
          <a:ln w="12700">
            <a:solidFill>
              <a:srgbClr val="E4DED2"/>
            </a:solidFill>
          </a:ln>
        </p:spPr>
        <p:txBody>
          <a:bodyPr/>
          <a:lstStyle/>
          <a:p/>
        </p:txBody>
      </p:sp>
      <p:sp>
        <p:nvSpPr>
          <p:cNvPr id="18" name="Shape"/>
          <p:cNvSpPr/>
          <p:nvPr/>
        </p:nvSpPr>
        <p:spPr>
          <a:xfrm>
            <a:off x="8138160" y="2816352"/>
            <a:ext cx="50292" cy="1325880"/>
          </a:xfrm>
          <a:prstGeom prst="rect">
            <a:avLst/>
          </a:prstGeom>
          <a:solidFill>
            <a:srgbClr val="16825D"/>
          </a:solidFill>
          <a:ln>
            <a:noFill/>
          </a:ln>
        </p:spPr>
        <p:txBody>
          <a:bodyPr/>
          <a:lstStyle/>
          <a:p/>
        </p:txBody>
      </p:sp>
      <p:sp>
        <p:nvSpPr>
          <p:cNvPr id="19" name="Text"/>
          <p:cNvSpPr txBox="1"/>
          <p:nvPr/>
        </p:nvSpPr>
        <p:spPr>
          <a:xfrm>
            <a:off x="8357616" y="2980944"/>
            <a:ext cx="274320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共同目标</a:t>
            </a:r>
            <a:endParaRPr lang="zh-CN" sz="1050" b="1">
              <a:solidFill>
                <a:srgbClr val="15202B"/>
              </a:solidFill>
              <a:latin typeface="微软雅黑" panose="020B0503020204020204" charset="-122"/>
              <a:ea typeface="微软雅黑" panose="020B0503020204020204" charset="-122"/>
            </a:endParaRPr>
          </a:p>
        </p:txBody>
      </p:sp>
      <p:sp>
        <p:nvSpPr>
          <p:cNvPr id="20" name="Text"/>
          <p:cNvSpPr txBox="1"/>
          <p:nvPr/>
        </p:nvSpPr>
        <p:spPr>
          <a:xfrm>
            <a:off x="8357616" y="3328416"/>
            <a:ext cx="2743200" cy="731519"/>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发展生产力，同时防止发展成果被少数人独占</a:t>
            </a:r>
            <a:endParaRPr lang="zh-CN" sz="780" b="0">
              <a:solidFill>
                <a:srgbClr val="697586"/>
              </a:solidFill>
              <a:latin typeface="微软雅黑" panose="020B0503020204020204" charset="-122"/>
              <a:ea typeface="微软雅黑" panose="020B0503020204020204" charset="-122"/>
            </a:endParaRPr>
          </a:p>
        </p:txBody>
      </p:sp>
      <p:sp>
        <p:nvSpPr>
          <p:cNvPr id="21" name="Text"/>
          <p:cNvSpPr txBox="1"/>
          <p:nvPr/>
        </p:nvSpPr>
        <p:spPr>
          <a:xfrm>
            <a:off x="1097280" y="5166360"/>
            <a:ext cx="9784080" cy="256032"/>
          </a:xfrm>
          <a:prstGeom prst="rect">
            <a:avLst/>
          </a:prstGeom>
          <a:noFill/>
          <a:ln>
            <a:noFill/>
          </a:ln>
        </p:spPr>
        <p:txBody>
          <a:bodyPr wrap="square" anchor="t">
            <a:spAutoFit/>
          </a:bodyPr>
          <a:lstStyle/>
          <a:p>
            <a:pPr algn="ctr"/>
            <a:r>
              <a:rPr lang="zh-CN" sz="1400" b="1">
                <a:solidFill>
                  <a:srgbClr val="15202B"/>
                </a:solidFill>
                <a:latin typeface="微软雅黑" panose="020B0503020204020204" charset="-122"/>
                <a:ea typeface="微软雅黑" panose="020B0503020204020204" charset="-122"/>
              </a:rPr>
              <a:t>外行人可以这样理解：不是不用市场，而是不让市场变成唯一的裁判。</a:t>
            </a:r>
            <a:endParaRPr lang="zh-CN" sz="1400" b="1">
              <a:solidFill>
                <a:srgbClr val="15202B"/>
              </a:solidFill>
              <a:latin typeface="微软雅黑" panose="020B0503020204020204" charset="-122"/>
              <a:ea typeface="微软雅黑" panose="020B0503020204020204" charset="-122"/>
            </a:endParaRPr>
          </a:p>
        </p:txBody>
      </p:sp>
      <p:sp>
        <p:nvSpPr>
          <p:cNvPr id="22"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资料来源：公开资料整理；宪法、二十大报告、二十届三中全会决定、财政部等</a:t>
            </a:r>
            <a:endParaRPr lang="zh-CN" sz="550" b="0">
              <a:solidFill>
                <a:srgbClr val="8C939D"/>
              </a:solidFill>
              <a:latin typeface="微软雅黑" panose="020B0503020204020204" charset="-122"/>
              <a:ea typeface="微软雅黑" panose="020B0503020204020204" charset="-122"/>
            </a:endParaRPr>
          </a:p>
        </p:txBody>
      </p:sp>
      <p:sp>
        <p:nvSpPr>
          <p:cNvPr id="23"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 presetClass="entr" presetSubtype="4" fill="hold" grpId="7" nodeType="afterEffect">
                                  <p:stCondLst>
                                    <p:cond delay="0"/>
                                  </p:stCondLst>
                                  <p:childTnLst>
                                    <p:set>
                                      <p:cBhvr>
                                        <p:cTn id="15" dur="420" fill="hold">
                                          <p:stCondLst>
                                            <p:cond delay="0"/>
                                          </p:stCondLst>
                                        </p:cTn>
                                        <p:tgtEl>
                                          <p:spTgt spid="7"/>
                                        </p:tgtEl>
                                        <p:attrNameLst>
                                          <p:attrName>style.visibility</p:attrName>
                                        </p:attrNameLst>
                                      </p:cBhvr>
                                      <p:to>
                                        <p:strVal val="visible"/>
                                      </p:to>
                                    </p:set>
                                    <p:anim calcmode="lin" valueType="num">
                                      <p:cBhvr additive="base">
                                        <p:cTn id="16" dur="420" fill="hold"/>
                                        <p:tgtEl>
                                          <p:spTgt spid="7"/>
                                        </p:tgtEl>
                                        <p:attrNameLst>
                                          <p:attrName>ppt_x</p:attrName>
                                        </p:attrNameLst>
                                      </p:cBhvr>
                                      <p:tavLst>
                                        <p:tav tm="0">
                                          <p:val>
                                            <p:strVal val="#ppt_x"/>
                                          </p:val>
                                        </p:tav>
                                        <p:tav tm="100000">
                                          <p:val>
                                            <p:strVal val="#ppt_x"/>
                                          </p:val>
                                        </p:tav>
                                      </p:tavLst>
                                    </p:anim>
                                    <p:anim calcmode="lin" valueType="num">
                                      <p:cBhvr additive="base">
                                        <p:cTn id="17" dur="42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1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36" decel="100000"/>
                                        <p:tgtEl>
                                          <p:spTgt spid="11"/>
                                        </p:tgtEl>
                                      </p:cBhvr>
                                    </p:animEffect>
                                    <p:anim calcmode="lin" valueType="num">
                                      <p:cBhvr>
                                        <p:cTn id="22" dur="336" decel="100000" fill="hold"/>
                                        <p:tgtEl>
                                          <p:spTgt spid="11"/>
                                        </p:tgtEl>
                                        <p:attrNameLst>
                                          <p:attrName>style.rotation</p:attrName>
                                        </p:attrNameLst>
                                      </p:cBhvr>
                                      <p:tavLst>
                                        <p:tav tm="0">
                                          <p:val>
                                            <p:fltVal val="-90"/>
                                          </p:val>
                                        </p:tav>
                                        <p:tav tm="100000">
                                          <p:val>
                                            <p:fltVal val="0"/>
                                          </p:val>
                                        </p:tav>
                                      </p:tavLst>
                                    </p:anim>
                                    <p:anim calcmode="lin" valueType="num">
                                      <p:cBhvr>
                                        <p:cTn id="23" dur="336" decel="100000" fill="hold"/>
                                        <p:tgtEl>
                                          <p:spTgt spid="11"/>
                                        </p:tgtEl>
                                        <p:attrNameLst>
                                          <p:attrName>ppt_x</p:attrName>
                                        </p:attrNameLst>
                                      </p:cBhvr>
                                      <p:tavLst>
                                        <p:tav tm="0">
                                          <p:val>
                                            <p:strVal val="#ppt_x+0.4"/>
                                          </p:val>
                                        </p:tav>
                                        <p:tav tm="100000">
                                          <p:val>
                                            <p:strVal val="#ppt_x-0.05"/>
                                          </p:val>
                                        </p:tav>
                                      </p:tavLst>
                                    </p:anim>
                                    <p:anim calcmode="lin" valueType="num">
                                      <p:cBhvr>
                                        <p:cTn id="24" dur="336" decel="100000" fill="hold"/>
                                        <p:tgtEl>
                                          <p:spTgt spid="11"/>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11"/>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11"/>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8"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20"/>
                                        <p:tgtEl>
                                          <p:spTgt spid="8"/>
                                        </p:tgtEl>
                                      </p:cBhvr>
                                    </p:animEffect>
                                    <p:anim calcmode="lin" valueType="num">
                                      <p:cBhvr>
                                        <p:cTn id="31" dur="420" fill="hold"/>
                                        <p:tgtEl>
                                          <p:spTgt spid="8"/>
                                        </p:tgtEl>
                                        <p:attrNameLst>
                                          <p:attrName>ppt_x</p:attrName>
                                        </p:attrNameLst>
                                      </p:cBhvr>
                                      <p:tavLst>
                                        <p:tav tm="0">
                                          <p:val>
                                            <p:strVal val="#ppt_x"/>
                                          </p:val>
                                        </p:tav>
                                        <p:tav tm="100000">
                                          <p:val>
                                            <p:strVal val="#ppt_x"/>
                                          </p:val>
                                        </p:tav>
                                      </p:tavLst>
                                    </p:anim>
                                    <p:anim calcmode="lin" valueType="num">
                                      <p:cBhvr>
                                        <p:cTn id="32" dur="378" decel="100000" fill="hold"/>
                                        <p:tgtEl>
                                          <p:spTgt spid="8"/>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8"/>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2" nodeType="afterEffect">
                                  <p:stCondLst>
                                    <p:cond delay="0"/>
                                  </p:stCondLst>
                                  <p:childTnLst>
                                    <p:set>
                                      <p:cBhvr>
                                        <p:cTn id="36" dur="420"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par>
                          <p:cTn id="38" fill="hold">
                            <p:stCondLst>
                              <p:cond delay="3000"/>
                            </p:stCondLst>
                            <p:childTnLst>
                              <p:par>
                                <p:cTn id="39" presetID="22" presetClass="entr" presetSubtype="4" fill="hold" grpId="15" nodeType="afterEffect">
                                  <p:stCondLst>
                                    <p:cond delay="0"/>
                                  </p:stCondLst>
                                  <p:childTnLst>
                                    <p:set>
                                      <p:cBhvr>
                                        <p:cTn id="40" dur="420" fill="hold">
                                          <p:stCondLst>
                                            <p:cond delay="0"/>
                                          </p:stCondLst>
                                        </p:cTn>
                                        <p:tgtEl>
                                          <p:spTgt spid="19"/>
                                        </p:tgtEl>
                                        <p:attrNameLst>
                                          <p:attrName>style.visibility</p:attrName>
                                        </p:attrNameLst>
                                      </p:cBhvr>
                                      <p:to>
                                        <p:strVal val="visible"/>
                                      </p:to>
                                    </p:set>
                                    <p:animEffect transition="in" filter="wipe(down)">
                                      <p:cBhvr>
                                        <p:cTn id="41" dur="420"/>
                                        <p:tgtEl>
                                          <p:spTgt spid="19"/>
                                        </p:tgtEl>
                                      </p:cBhvr>
                                    </p:animEffect>
                                  </p:childTnLst>
                                </p:cTn>
                              </p:par>
                            </p:childTnLst>
                          </p:cTn>
                        </p:par>
                        <p:par>
                          <p:cTn id="42" fill="hold">
                            <p:stCondLst>
                              <p:cond delay="3500"/>
                            </p:stCondLst>
                            <p:childTnLst>
                              <p:par>
                                <p:cTn id="43" presetID="2" presetClass="entr" presetSubtype="4" fill="hold" grpId="11" nodeType="afterEffect">
                                  <p:stCondLst>
                                    <p:cond delay="0"/>
                                  </p:stCondLst>
                                  <p:childTnLst>
                                    <p:set>
                                      <p:cBhvr>
                                        <p:cTn id="44" dur="420" fill="hold">
                                          <p:stCondLst>
                                            <p:cond delay="0"/>
                                          </p:stCondLst>
                                        </p:cTn>
                                        <p:tgtEl>
                                          <p:spTgt spid="12"/>
                                        </p:tgtEl>
                                        <p:attrNameLst>
                                          <p:attrName>style.visibility</p:attrName>
                                        </p:attrNameLst>
                                      </p:cBhvr>
                                      <p:to>
                                        <p:strVal val="visible"/>
                                      </p:to>
                                    </p:set>
                                    <p:anim calcmode="lin" valueType="num">
                                      <p:cBhvr additive="base">
                                        <p:cTn id="45" dur="420" fill="hold"/>
                                        <p:tgtEl>
                                          <p:spTgt spid="12"/>
                                        </p:tgtEl>
                                        <p:attrNameLst>
                                          <p:attrName>ppt_x</p:attrName>
                                        </p:attrNameLst>
                                      </p:cBhvr>
                                      <p:tavLst>
                                        <p:tav tm="0">
                                          <p:val>
                                            <p:strVal val="#ppt_x"/>
                                          </p:val>
                                        </p:tav>
                                        <p:tav tm="100000">
                                          <p:val>
                                            <p:strVal val="#ppt_x"/>
                                          </p:val>
                                        </p:tav>
                                      </p:tavLst>
                                    </p:anim>
                                    <p:anim calcmode="lin" valueType="num">
                                      <p:cBhvr additive="base">
                                        <p:cTn id="46" dur="420" fill="hold"/>
                                        <p:tgtEl>
                                          <p:spTgt spid="12"/>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3"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336" decel="100000"/>
                                        <p:tgtEl>
                                          <p:spTgt spid="16"/>
                                        </p:tgtEl>
                                      </p:cBhvr>
                                    </p:animEffect>
                                    <p:anim calcmode="lin" valueType="num">
                                      <p:cBhvr>
                                        <p:cTn id="51" dur="336" decel="100000" fill="hold"/>
                                        <p:tgtEl>
                                          <p:spTgt spid="16"/>
                                        </p:tgtEl>
                                        <p:attrNameLst>
                                          <p:attrName>style.rotation</p:attrName>
                                        </p:attrNameLst>
                                      </p:cBhvr>
                                      <p:tavLst>
                                        <p:tav tm="0">
                                          <p:val>
                                            <p:fltVal val="-90"/>
                                          </p:val>
                                        </p:tav>
                                        <p:tav tm="100000">
                                          <p:val>
                                            <p:fltVal val="0"/>
                                          </p:val>
                                        </p:tav>
                                      </p:tavLst>
                                    </p:anim>
                                    <p:anim calcmode="lin" valueType="num">
                                      <p:cBhvr>
                                        <p:cTn id="52" dur="336" decel="100000" fill="hold"/>
                                        <p:tgtEl>
                                          <p:spTgt spid="16"/>
                                        </p:tgtEl>
                                        <p:attrNameLst>
                                          <p:attrName>ppt_x</p:attrName>
                                        </p:attrNameLst>
                                      </p:cBhvr>
                                      <p:tavLst>
                                        <p:tav tm="0">
                                          <p:val>
                                            <p:strVal val="#ppt_x+0.4"/>
                                          </p:val>
                                        </p:tav>
                                        <p:tav tm="100000">
                                          <p:val>
                                            <p:strVal val="#ppt_x-0.05"/>
                                          </p:val>
                                        </p:tav>
                                      </p:tavLst>
                                    </p:anim>
                                    <p:anim calcmode="lin" valueType="num">
                                      <p:cBhvr>
                                        <p:cTn id="53" dur="336" decel="100000" fill="hold"/>
                                        <p:tgtEl>
                                          <p:spTgt spid="16"/>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16"/>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16"/>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37" presetClass="entr" presetSubtype="0" fill="hold" grpId="16"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20"/>
                                        <p:tgtEl>
                                          <p:spTgt spid="20"/>
                                        </p:tgtEl>
                                      </p:cBhvr>
                                    </p:animEffect>
                                    <p:anim calcmode="lin" valueType="num">
                                      <p:cBhvr>
                                        <p:cTn id="60" dur="420" fill="hold"/>
                                        <p:tgtEl>
                                          <p:spTgt spid="20"/>
                                        </p:tgtEl>
                                        <p:attrNameLst>
                                          <p:attrName>ppt_x</p:attrName>
                                        </p:attrNameLst>
                                      </p:cBhvr>
                                      <p:tavLst>
                                        <p:tav tm="0">
                                          <p:val>
                                            <p:strVal val="#ppt_x"/>
                                          </p:val>
                                        </p:tav>
                                        <p:tav tm="100000">
                                          <p:val>
                                            <p:strVal val="#ppt_x"/>
                                          </p:val>
                                        </p:tav>
                                      </p:tavLst>
                                    </p:anim>
                                    <p:anim calcmode="lin" valueType="num">
                                      <p:cBhvr>
                                        <p:cTn id="61" dur="378" decel="100000" fill="hold"/>
                                        <p:tgtEl>
                                          <p:spTgt spid="20"/>
                                        </p:tgtEl>
                                        <p:attrNameLst>
                                          <p:attrName>ppt_y</p:attrName>
                                        </p:attrNameLst>
                                      </p:cBhvr>
                                      <p:tavLst>
                                        <p:tav tm="0">
                                          <p:val>
                                            <p:strVal val="#ppt_y+1"/>
                                          </p:val>
                                        </p:tav>
                                        <p:tav tm="100000">
                                          <p:val>
                                            <p:strVal val="#ppt_y-.03"/>
                                          </p:val>
                                        </p:tav>
                                      </p:tavLst>
                                    </p:anim>
                                    <p:anim calcmode="lin" valueType="num">
                                      <p:cBhvr>
                                        <p:cTn id="62" dur="42" accel="100000" fill="hold">
                                          <p:stCondLst>
                                            <p:cond delay="378"/>
                                          </p:stCondLst>
                                        </p:cTn>
                                        <p:tgtEl>
                                          <p:spTgt spid="20"/>
                                        </p:tgtEl>
                                        <p:attrNameLst>
                                          <p:attrName>ppt_y</p:attrName>
                                        </p:attrNameLst>
                                      </p:cBhvr>
                                      <p:tavLst>
                                        <p:tav tm="0">
                                          <p:val>
                                            <p:strVal val="#ppt_y-.03"/>
                                          </p:val>
                                        </p:tav>
                                        <p:tav tm="100000">
                                          <p:val>
                                            <p:strVal val="#ppt_y"/>
                                          </p:val>
                                        </p:tav>
                                      </p:tavLst>
                                    </p:anim>
                                  </p:childTnLst>
                                </p:cTn>
                              </p:par>
                            </p:childTnLst>
                          </p:cTn>
                        </p:par>
                        <p:par>
                          <p:cTn id="63" fill="hold">
                            <p:stCondLst>
                              <p:cond delay="5000"/>
                            </p:stCondLst>
                            <p:childTnLst>
                              <p:par>
                                <p:cTn id="64" presetID="16" presetClass="entr" presetSubtype="21" fill="hold" grpId="3" nodeType="afterEffect">
                                  <p:stCondLst>
                                    <p:cond delay="0"/>
                                  </p:stCondLst>
                                  <p:childTnLst>
                                    <p:set>
                                      <p:cBhvr>
                                        <p:cTn id="65" dur="420" fill="hold">
                                          <p:stCondLst>
                                            <p:cond delay="0"/>
                                          </p:stCondLst>
                                        </p:cTn>
                                        <p:tgtEl>
                                          <p:spTgt spid="21"/>
                                        </p:tgtEl>
                                        <p:attrNameLst>
                                          <p:attrName>style.visibility</p:attrName>
                                        </p:attrNameLst>
                                      </p:cBhvr>
                                      <p:to>
                                        <p:strVal val="visible"/>
                                      </p:to>
                                    </p:set>
                                    <p:animEffect transition="in" filter="barn(inVertical)">
                                      <p:cBhvr>
                                        <p:cTn id="66" dur="4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7" grpId="2" uiExpand="1" build="allAtOnce"/>
      <p:bldP spid="8" grpId="3" uiExpand="1" build="allAtOnce"/>
      <p:bldP spid="9" grpId="4" uiExpand="1" build="allAtOnce"/>
      <p:bldP spid="11" grpId="5" uiExpand="1" build="allAtOnce"/>
      <p:bldP spid="12" grpId="6" uiExpand="1" build="allAtOnce"/>
      <p:bldP spid="13" grpId="7" uiExpand="1" build="allAtOnce"/>
      <p:bldP spid="15" grpId="8" uiExpand="1" build="allAtOnce"/>
      <p:bldP spid="16" grpId="9" uiExpand="1" build="allAtOnce"/>
      <p:bldP spid="17" grpId="10" uiExpand="1" build="allAtOnce"/>
      <p:bldP spid="19" grpId="11" uiExpand="1" build="allAtOnce"/>
      <p:bldP spid="20" grpId="12" uiExpand="1" build="allAtOnce"/>
      <p:bldP spid="3" grpId="0"/>
      <p:bldP spid="4" grpId="2"/>
      <p:bldP spid="6" grpId="0" animBg="1"/>
      <p:bldP spid="7" grpId="3"/>
      <p:bldP spid="8" grpId="4"/>
      <p:bldP spid="9" grpId="5" animBg="1"/>
      <p:bldP spid="11" grpId="6"/>
      <p:bldP spid="12" grpId="7"/>
      <p:bldP spid="13" grpId="8" animBg="1"/>
      <p:bldP spid="3" grpId="1"/>
      <p:bldP spid="4" grpId="3"/>
      <p:bldP spid="11" grpId="7"/>
      <p:bldP spid="15" grpId="9"/>
      <p:bldP spid="19" grpId="12"/>
      <p:bldP spid="7" grpId="4"/>
      <p:bldP spid="8" grpId="5"/>
      <p:bldP spid="12" grpId="8"/>
      <p:bldP spid="16" grpId="10"/>
      <p:bldP spid="20" grpId="13"/>
      <p:bldP spid="21" grpId="0"/>
      <p:bldP spid="3" grpId="2"/>
      <p:bldP spid="4" grpId="4"/>
      <p:bldP spid="11" grpId="8"/>
      <p:bldP spid="15" grpId="10"/>
      <p:bldP spid="19" grpId="13"/>
      <p:bldP spid="7" grpId="5"/>
      <p:bldP spid="8" grpId="6"/>
      <p:bldP spid="12" grpId="9"/>
      <p:bldP spid="16" grpId="11"/>
      <p:bldP spid="20" grpId="14"/>
      <p:bldP spid="21" grpId="1"/>
      <p:bldP spid="3" grpId="3"/>
      <p:bldP spid="4" grpId="5"/>
      <p:bldP spid="7" grpId="6"/>
      <p:bldP spid="11" grpId="9"/>
      <p:bldP spid="8" grpId="7"/>
      <p:bldP spid="15" grpId="11"/>
      <p:bldP spid="19" grpId="14"/>
      <p:bldP spid="12" grpId="10"/>
      <p:bldP spid="16" grpId="12"/>
      <p:bldP spid="20" grpId="15"/>
      <p:bldP spid="21" grpId="2"/>
      <p:bldP spid="3" grpId="4"/>
      <p:bldP spid="4" grpId="6"/>
      <p:bldP spid="7" grpId="7"/>
      <p:bldP spid="11" grpId="10"/>
      <p:bldP spid="8" grpId="8"/>
      <p:bldP spid="15" grpId="12"/>
      <p:bldP spid="19" grpId="15"/>
      <p:bldP spid="12" grpId="11"/>
      <p:bldP spid="16" grpId="13"/>
      <p:bldP spid="20" grpId="16"/>
      <p:bldP spid="21" grpId="3"/>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D6A13B"/>
                </a:solidFill>
                <a:latin typeface="微软雅黑" panose="020B0503020204020204" charset="-122"/>
                <a:ea typeface="微软雅黑" panose="020B0503020204020204" charset="-122"/>
              </a:rPr>
              <a:t>06 所有制</a:t>
            </a:r>
            <a:endParaRPr lang="zh-CN" sz="800" b="1">
              <a:solidFill>
                <a:srgbClr val="D6A13B"/>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FFFFFF"/>
                </a:solidFill>
                <a:latin typeface="微软雅黑" panose="020B0503020204020204" charset="-122"/>
                <a:ea typeface="微软雅黑" panose="020B0503020204020204" charset="-122"/>
              </a:rPr>
              <a:t>所有制结构：公有制主体 + 多种所有制共同发展</a:t>
            </a:r>
            <a:endParaRPr lang="zh-CN" sz="1800" b="1">
              <a:solidFill>
                <a:srgbClr val="FFFFFF"/>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D6A13B"/>
          </a:solidFill>
          <a:ln>
            <a:noFill/>
          </a:ln>
        </p:spPr>
        <p:txBody>
          <a:bodyPr/>
          <a:lstStyle/>
          <a:p/>
        </p:txBody>
      </p:sp>
      <p:sp>
        <p:nvSpPr>
          <p:cNvPr id="6" name="Shape"/>
          <p:cNvSpPr/>
          <p:nvPr/>
        </p:nvSpPr>
        <p:spPr>
          <a:xfrm>
            <a:off x="731520" y="1417320"/>
            <a:ext cx="5166360" cy="3794760"/>
          </a:xfrm>
          <a:prstGeom prst="roundRect">
            <a:avLst/>
          </a:prstGeom>
          <a:solidFill>
            <a:srgbClr val="101B2A"/>
          </a:solidFill>
          <a:ln w="12700">
            <a:solidFill>
              <a:srgbClr val="2B394B"/>
            </a:solidFill>
          </a:ln>
        </p:spPr>
        <p:txBody>
          <a:bodyPr/>
          <a:lstStyle/>
          <a:p/>
        </p:txBody>
      </p:sp>
      <p:sp>
        <p:nvSpPr>
          <p:cNvPr id="7" name="Text"/>
          <p:cNvSpPr txBox="1"/>
          <p:nvPr/>
        </p:nvSpPr>
        <p:spPr>
          <a:xfrm>
            <a:off x="1024128" y="1755648"/>
            <a:ext cx="2194560" cy="237744"/>
          </a:xfrm>
          <a:prstGeom prst="rect">
            <a:avLst/>
          </a:prstGeom>
          <a:noFill/>
          <a:ln>
            <a:noFill/>
          </a:ln>
        </p:spPr>
        <p:txBody>
          <a:bodyPr wrap="square" anchor="t">
            <a:spAutoFit/>
          </a:bodyPr>
          <a:lstStyle/>
          <a:p>
            <a:pPr algn="l"/>
            <a:r>
              <a:rPr lang="zh-CN" sz="1500" b="1">
                <a:solidFill>
                  <a:srgbClr val="D6A13B"/>
                </a:solidFill>
                <a:latin typeface="微软雅黑" panose="020B0503020204020204" charset="-122"/>
                <a:ea typeface="微软雅黑" panose="020B0503020204020204" charset="-122"/>
              </a:rPr>
              <a:t>公有制经济</a:t>
            </a:r>
            <a:endParaRPr lang="zh-CN" sz="1500" b="1">
              <a:solidFill>
                <a:srgbClr val="D6A13B"/>
              </a:solidFill>
              <a:latin typeface="微软雅黑" panose="020B0503020204020204" charset="-122"/>
              <a:ea typeface="微软雅黑" panose="020B0503020204020204" charset="-122"/>
            </a:endParaRPr>
          </a:p>
        </p:txBody>
      </p:sp>
      <p:sp>
        <p:nvSpPr>
          <p:cNvPr id="8" name="Text"/>
          <p:cNvSpPr txBox="1"/>
          <p:nvPr/>
        </p:nvSpPr>
        <p:spPr>
          <a:xfrm>
            <a:off x="1051560" y="2331720"/>
            <a:ext cx="4297680" cy="475488"/>
          </a:xfrm>
          <a:prstGeom prst="rect">
            <a:avLst/>
          </a:prstGeom>
          <a:noFill/>
          <a:ln>
            <a:noFill/>
          </a:ln>
        </p:spPr>
        <p:txBody>
          <a:bodyPr wrap="square" anchor="t">
            <a:spAutoFit/>
          </a:bodyPr>
          <a:lstStyle/>
          <a:p>
            <a:pPr algn="l"/>
            <a:r>
              <a:rPr lang="zh-CN" sz="1000" b="0">
                <a:solidFill>
                  <a:srgbClr val="D7E0EA"/>
                </a:solidFill>
                <a:latin typeface="微软雅黑" panose="020B0503020204020204" charset="-122"/>
                <a:ea typeface="微软雅黑" panose="020B0503020204020204" charset="-122"/>
              </a:rPr>
              <a:t>承担基础行业、公共服务、战略安全、长期投资等功能。</a:t>
            </a:r>
            <a:endParaRPr lang="zh-CN" sz="1000" b="0">
              <a:solidFill>
                <a:srgbClr val="D7E0EA"/>
              </a:solidFill>
              <a:latin typeface="微软雅黑" panose="020B0503020204020204" charset="-122"/>
              <a:ea typeface="微软雅黑" panose="020B0503020204020204" charset="-122"/>
            </a:endParaRPr>
          </a:p>
        </p:txBody>
      </p:sp>
      <p:sp>
        <p:nvSpPr>
          <p:cNvPr id="9" name="Shape"/>
          <p:cNvSpPr/>
          <p:nvPr/>
        </p:nvSpPr>
        <p:spPr>
          <a:xfrm>
            <a:off x="1051560" y="3218688"/>
            <a:ext cx="1078992" cy="292608"/>
          </a:xfrm>
          <a:prstGeom prst="roundRect">
            <a:avLst/>
          </a:prstGeom>
          <a:solidFill>
            <a:srgbClr val="B91C1C"/>
          </a:solidFill>
          <a:ln>
            <a:noFill/>
          </a:ln>
        </p:spPr>
        <p:txBody>
          <a:bodyPr/>
          <a:lstStyle/>
          <a:p/>
        </p:txBody>
      </p:sp>
      <p:sp>
        <p:nvSpPr>
          <p:cNvPr id="10" name="Text"/>
          <p:cNvSpPr txBox="1"/>
          <p:nvPr/>
        </p:nvSpPr>
        <p:spPr>
          <a:xfrm>
            <a:off x="1143000" y="3300984"/>
            <a:ext cx="896112" cy="109728"/>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国有资本</a:t>
            </a:r>
            <a:endParaRPr lang="zh-CN" sz="720" b="1">
              <a:solidFill>
                <a:srgbClr val="FFFFFF"/>
              </a:solidFill>
              <a:latin typeface="微软雅黑" panose="020B0503020204020204" charset="-122"/>
              <a:ea typeface="微软雅黑" panose="020B0503020204020204" charset="-122"/>
            </a:endParaRPr>
          </a:p>
        </p:txBody>
      </p:sp>
      <p:sp>
        <p:nvSpPr>
          <p:cNvPr id="11" name="Shape"/>
          <p:cNvSpPr/>
          <p:nvPr/>
        </p:nvSpPr>
        <p:spPr>
          <a:xfrm>
            <a:off x="2331720" y="3218688"/>
            <a:ext cx="1115568" cy="292608"/>
          </a:xfrm>
          <a:prstGeom prst="roundRect">
            <a:avLst/>
          </a:prstGeom>
          <a:solidFill>
            <a:srgbClr val="2563EB"/>
          </a:solidFill>
          <a:ln>
            <a:noFill/>
          </a:ln>
        </p:spPr>
        <p:txBody>
          <a:bodyPr/>
          <a:lstStyle/>
          <a:p/>
        </p:txBody>
      </p:sp>
      <p:sp>
        <p:nvSpPr>
          <p:cNvPr id="12" name="Text"/>
          <p:cNvSpPr txBox="1"/>
          <p:nvPr/>
        </p:nvSpPr>
        <p:spPr>
          <a:xfrm>
            <a:off x="2423160" y="3300984"/>
            <a:ext cx="932688" cy="109728"/>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基础设施</a:t>
            </a:r>
            <a:endParaRPr lang="zh-CN" sz="720" b="1">
              <a:solidFill>
                <a:srgbClr val="FFFFFF"/>
              </a:solidFill>
              <a:latin typeface="微软雅黑" panose="020B0503020204020204" charset="-122"/>
              <a:ea typeface="微软雅黑" panose="020B0503020204020204" charset="-122"/>
            </a:endParaRPr>
          </a:p>
        </p:txBody>
      </p:sp>
      <p:sp>
        <p:nvSpPr>
          <p:cNvPr id="13" name="Shape"/>
          <p:cNvSpPr/>
          <p:nvPr/>
        </p:nvSpPr>
        <p:spPr>
          <a:xfrm>
            <a:off x="3639312" y="3218688"/>
            <a:ext cx="1115568" cy="292608"/>
          </a:xfrm>
          <a:prstGeom prst="roundRect">
            <a:avLst/>
          </a:prstGeom>
          <a:solidFill>
            <a:srgbClr val="16825D"/>
          </a:solidFill>
          <a:ln>
            <a:noFill/>
          </a:ln>
        </p:spPr>
        <p:txBody>
          <a:bodyPr/>
          <a:lstStyle/>
          <a:p/>
        </p:txBody>
      </p:sp>
      <p:sp>
        <p:nvSpPr>
          <p:cNvPr id="14" name="Text"/>
          <p:cNvSpPr txBox="1"/>
          <p:nvPr/>
        </p:nvSpPr>
        <p:spPr>
          <a:xfrm>
            <a:off x="3730752" y="3300984"/>
            <a:ext cx="932688" cy="109728"/>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能源通信</a:t>
            </a:r>
            <a:endParaRPr lang="zh-CN" sz="720" b="1">
              <a:solidFill>
                <a:srgbClr val="FFFFFF"/>
              </a:solidFill>
              <a:latin typeface="微软雅黑" panose="020B0503020204020204" charset="-122"/>
              <a:ea typeface="微软雅黑" panose="020B0503020204020204" charset="-122"/>
            </a:endParaRPr>
          </a:p>
        </p:txBody>
      </p:sp>
      <p:sp>
        <p:nvSpPr>
          <p:cNvPr id="15" name="Shape"/>
          <p:cNvSpPr/>
          <p:nvPr/>
        </p:nvSpPr>
        <p:spPr>
          <a:xfrm>
            <a:off x="6309360" y="1417320"/>
            <a:ext cx="5166360" cy="3794760"/>
          </a:xfrm>
          <a:prstGeom prst="roundRect">
            <a:avLst/>
          </a:prstGeom>
          <a:solidFill>
            <a:srgbClr val="101B2A"/>
          </a:solidFill>
          <a:ln w="12700">
            <a:solidFill>
              <a:srgbClr val="2B394B"/>
            </a:solidFill>
          </a:ln>
        </p:spPr>
        <p:txBody>
          <a:bodyPr/>
          <a:lstStyle/>
          <a:p/>
        </p:txBody>
      </p:sp>
      <p:sp>
        <p:nvSpPr>
          <p:cNvPr id="16" name="Text"/>
          <p:cNvSpPr txBox="1"/>
          <p:nvPr/>
        </p:nvSpPr>
        <p:spPr>
          <a:xfrm>
            <a:off x="6601968" y="1755648"/>
            <a:ext cx="2560320" cy="237744"/>
          </a:xfrm>
          <a:prstGeom prst="rect">
            <a:avLst/>
          </a:prstGeom>
          <a:noFill/>
          <a:ln>
            <a:noFill/>
          </a:ln>
        </p:spPr>
        <p:txBody>
          <a:bodyPr wrap="square" anchor="t">
            <a:spAutoFit/>
          </a:bodyPr>
          <a:lstStyle/>
          <a:p>
            <a:pPr algn="l"/>
            <a:r>
              <a:rPr lang="zh-CN" sz="1500" b="1">
                <a:solidFill>
                  <a:srgbClr val="00A6A6"/>
                </a:solidFill>
                <a:latin typeface="微软雅黑" panose="020B0503020204020204" charset="-122"/>
                <a:ea typeface="微软雅黑" panose="020B0503020204020204" charset="-122"/>
              </a:rPr>
              <a:t>非公有制经济</a:t>
            </a:r>
            <a:endParaRPr lang="zh-CN" sz="1500" b="1">
              <a:solidFill>
                <a:srgbClr val="00A6A6"/>
              </a:solidFill>
              <a:latin typeface="微软雅黑" panose="020B0503020204020204" charset="-122"/>
              <a:ea typeface="微软雅黑" panose="020B0503020204020204" charset="-122"/>
            </a:endParaRPr>
          </a:p>
        </p:txBody>
      </p:sp>
      <p:sp>
        <p:nvSpPr>
          <p:cNvPr id="17" name="Text"/>
          <p:cNvSpPr txBox="1"/>
          <p:nvPr/>
        </p:nvSpPr>
        <p:spPr>
          <a:xfrm>
            <a:off x="6629400" y="2331720"/>
            <a:ext cx="4315968" cy="512064"/>
          </a:xfrm>
          <a:prstGeom prst="rect">
            <a:avLst/>
          </a:prstGeom>
          <a:noFill/>
          <a:ln>
            <a:noFill/>
          </a:ln>
        </p:spPr>
        <p:txBody>
          <a:bodyPr wrap="square" anchor="t">
            <a:spAutoFit/>
          </a:bodyPr>
          <a:lstStyle/>
          <a:p>
            <a:pPr algn="l"/>
            <a:r>
              <a:rPr lang="zh-CN" sz="1000" b="0">
                <a:solidFill>
                  <a:srgbClr val="D7E0EA"/>
                </a:solidFill>
                <a:latin typeface="微软雅黑" panose="020B0503020204020204" charset="-122"/>
                <a:ea typeface="微软雅黑" panose="020B0503020204020204" charset="-122"/>
              </a:rPr>
              <a:t>提供大量就业、创新、税收和消费供给，是社会主义市场经济的重要组成部分。</a:t>
            </a:r>
            <a:endParaRPr lang="zh-CN" sz="1000" b="0">
              <a:solidFill>
                <a:srgbClr val="D7E0EA"/>
              </a:solidFill>
              <a:latin typeface="微软雅黑" panose="020B0503020204020204" charset="-122"/>
              <a:ea typeface="微软雅黑" panose="020B0503020204020204" charset="-122"/>
            </a:endParaRPr>
          </a:p>
        </p:txBody>
      </p:sp>
      <p:sp>
        <p:nvSpPr>
          <p:cNvPr id="18" name="Shape"/>
          <p:cNvSpPr/>
          <p:nvPr/>
        </p:nvSpPr>
        <p:spPr>
          <a:xfrm>
            <a:off x="6629400" y="3218688"/>
            <a:ext cx="1097280" cy="292608"/>
          </a:xfrm>
          <a:prstGeom prst="roundRect">
            <a:avLst/>
          </a:prstGeom>
          <a:solidFill>
            <a:srgbClr val="00A6A6"/>
          </a:solidFill>
          <a:ln>
            <a:noFill/>
          </a:ln>
        </p:spPr>
        <p:txBody>
          <a:bodyPr/>
          <a:lstStyle/>
          <a:p/>
        </p:txBody>
      </p:sp>
      <p:sp>
        <p:nvSpPr>
          <p:cNvPr id="19" name="Text"/>
          <p:cNvSpPr txBox="1"/>
          <p:nvPr/>
        </p:nvSpPr>
        <p:spPr>
          <a:xfrm>
            <a:off x="6720840" y="3300984"/>
            <a:ext cx="914400" cy="109728"/>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民营企业</a:t>
            </a:r>
            <a:endParaRPr lang="zh-CN" sz="720" b="1">
              <a:solidFill>
                <a:srgbClr val="FFFFFF"/>
              </a:solidFill>
              <a:latin typeface="微软雅黑" panose="020B0503020204020204" charset="-122"/>
              <a:ea typeface="微软雅黑" panose="020B0503020204020204" charset="-122"/>
            </a:endParaRPr>
          </a:p>
        </p:txBody>
      </p:sp>
      <p:sp>
        <p:nvSpPr>
          <p:cNvPr id="20" name="Shape"/>
          <p:cNvSpPr/>
          <p:nvPr/>
        </p:nvSpPr>
        <p:spPr>
          <a:xfrm>
            <a:off x="7936992" y="3218688"/>
            <a:ext cx="1097280" cy="292608"/>
          </a:xfrm>
          <a:prstGeom prst="roundRect">
            <a:avLst/>
          </a:prstGeom>
          <a:solidFill>
            <a:srgbClr val="D6A13B"/>
          </a:solidFill>
          <a:ln>
            <a:noFill/>
          </a:ln>
        </p:spPr>
        <p:txBody>
          <a:bodyPr/>
          <a:lstStyle/>
          <a:p/>
        </p:txBody>
      </p:sp>
      <p:sp>
        <p:nvSpPr>
          <p:cNvPr id="21" name="Text"/>
          <p:cNvSpPr txBox="1"/>
          <p:nvPr/>
        </p:nvSpPr>
        <p:spPr>
          <a:xfrm>
            <a:off x="8028431" y="3300984"/>
            <a:ext cx="914400" cy="109728"/>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外资企业</a:t>
            </a:r>
            <a:endParaRPr lang="zh-CN" sz="720" b="1">
              <a:solidFill>
                <a:srgbClr val="FFFFFF"/>
              </a:solidFill>
              <a:latin typeface="微软雅黑" panose="020B0503020204020204" charset="-122"/>
              <a:ea typeface="微软雅黑" panose="020B0503020204020204" charset="-122"/>
            </a:endParaRPr>
          </a:p>
        </p:txBody>
      </p:sp>
      <p:sp>
        <p:nvSpPr>
          <p:cNvPr id="22" name="Shape"/>
          <p:cNvSpPr/>
          <p:nvPr/>
        </p:nvSpPr>
        <p:spPr>
          <a:xfrm>
            <a:off x="9235440" y="3218688"/>
            <a:ext cx="1097280" cy="292608"/>
          </a:xfrm>
          <a:prstGeom prst="roundRect">
            <a:avLst/>
          </a:prstGeom>
          <a:solidFill>
            <a:srgbClr val="2563EB"/>
          </a:solidFill>
          <a:ln>
            <a:noFill/>
          </a:ln>
        </p:spPr>
        <p:txBody>
          <a:bodyPr/>
          <a:lstStyle/>
          <a:p/>
        </p:txBody>
      </p:sp>
      <p:sp>
        <p:nvSpPr>
          <p:cNvPr id="23" name="Text"/>
          <p:cNvSpPr txBox="1"/>
          <p:nvPr/>
        </p:nvSpPr>
        <p:spPr>
          <a:xfrm>
            <a:off x="9326880" y="3300984"/>
            <a:ext cx="914400" cy="109728"/>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平台经济</a:t>
            </a:r>
            <a:endParaRPr lang="zh-CN" sz="720" b="1">
              <a:solidFill>
                <a:srgbClr val="FFFFFF"/>
              </a:solidFill>
              <a:latin typeface="微软雅黑" panose="020B0503020204020204" charset="-122"/>
              <a:ea typeface="微软雅黑" panose="020B0503020204020204" charset="-122"/>
            </a:endParaRPr>
          </a:p>
        </p:txBody>
      </p:sp>
      <p:sp>
        <p:nvSpPr>
          <p:cNvPr id="24" name="Text"/>
          <p:cNvSpPr txBox="1"/>
          <p:nvPr/>
        </p:nvSpPr>
        <p:spPr>
          <a:xfrm>
            <a:off x="1097280" y="5650992"/>
            <a:ext cx="9966960" cy="219456"/>
          </a:xfrm>
          <a:prstGeom prst="rect">
            <a:avLst/>
          </a:prstGeom>
          <a:noFill/>
          <a:ln>
            <a:noFill/>
          </a:ln>
        </p:spPr>
        <p:txBody>
          <a:bodyPr wrap="square" anchor="t">
            <a:spAutoFit/>
          </a:bodyPr>
          <a:lstStyle/>
          <a:p>
            <a:pPr algn="ctr"/>
            <a:r>
              <a:rPr lang="zh-CN" sz="1250" b="1">
                <a:solidFill>
                  <a:srgbClr val="FFFFFF"/>
                </a:solidFill>
                <a:latin typeface="微软雅黑" panose="020B0503020204020204" charset="-122"/>
                <a:ea typeface="微软雅黑" panose="020B0503020204020204" charset="-122"/>
              </a:rPr>
              <a:t>重点不是“只有一种所有制”，而是不同所有制被放进同一个国家发展目标中。</a:t>
            </a:r>
            <a:endParaRPr lang="zh-CN" sz="1250" b="1">
              <a:solidFill>
                <a:srgbClr val="FFFFFF"/>
              </a:solidFill>
              <a:latin typeface="微软雅黑" panose="020B0503020204020204" charset="-122"/>
              <a:ea typeface="微软雅黑" panose="020B0503020204020204" charset="-122"/>
            </a:endParaRPr>
          </a:p>
        </p:txBody>
      </p:sp>
      <p:sp>
        <p:nvSpPr>
          <p:cNvPr id="25"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资料来源：宪法及社会主义市场经济相关政策表述；民营经济公开政策文件</a:t>
            </a:r>
            <a:endParaRPr lang="zh-CN" sz="550" b="0">
              <a:solidFill>
                <a:srgbClr val="8C939D"/>
              </a:solidFill>
              <a:latin typeface="微软雅黑" panose="020B0503020204020204" charset="-122"/>
              <a:ea typeface="微软雅黑" panose="020B0503020204020204" charset="-122"/>
            </a:endParaRPr>
          </a:p>
        </p:txBody>
      </p:sp>
      <p:sp>
        <p:nvSpPr>
          <p:cNvPr id="26"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 presetClass="entr" presetSubtype="4" fill="hold" grpId="7" nodeType="afterEffect">
                                  <p:stCondLst>
                                    <p:cond delay="0"/>
                                  </p:stCondLst>
                                  <p:childTnLst>
                                    <p:set>
                                      <p:cBhvr>
                                        <p:cTn id="15" dur="420" fill="hold">
                                          <p:stCondLst>
                                            <p:cond delay="0"/>
                                          </p:stCondLst>
                                        </p:cTn>
                                        <p:tgtEl>
                                          <p:spTgt spid="7"/>
                                        </p:tgtEl>
                                        <p:attrNameLst>
                                          <p:attrName>style.visibility</p:attrName>
                                        </p:attrNameLst>
                                      </p:cBhvr>
                                      <p:to>
                                        <p:strVal val="visible"/>
                                      </p:to>
                                    </p:set>
                                    <p:anim calcmode="lin" valueType="num">
                                      <p:cBhvr additive="base">
                                        <p:cTn id="16" dur="420" fill="hold"/>
                                        <p:tgtEl>
                                          <p:spTgt spid="7"/>
                                        </p:tgtEl>
                                        <p:attrNameLst>
                                          <p:attrName>ppt_x</p:attrName>
                                        </p:attrNameLst>
                                      </p:cBhvr>
                                      <p:tavLst>
                                        <p:tav tm="0">
                                          <p:val>
                                            <p:strVal val="#ppt_x"/>
                                          </p:val>
                                        </p:tav>
                                        <p:tav tm="100000">
                                          <p:val>
                                            <p:strVal val="#ppt_x"/>
                                          </p:val>
                                        </p:tav>
                                      </p:tavLst>
                                    </p:anim>
                                    <p:anim calcmode="lin" valueType="num">
                                      <p:cBhvr additive="base">
                                        <p:cTn id="17" dur="42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8"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36" decel="100000"/>
                                        <p:tgtEl>
                                          <p:spTgt spid="8"/>
                                        </p:tgtEl>
                                      </p:cBhvr>
                                    </p:animEffect>
                                    <p:anim calcmode="lin" valueType="num">
                                      <p:cBhvr>
                                        <p:cTn id="22" dur="336" decel="100000" fill="hold"/>
                                        <p:tgtEl>
                                          <p:spTgt spid="8"/>
                                        </p:tgtEl>
                                        <p:attrNameLst>
                                          <p:attrName>style.rotation</p:attrName>
                                        </p:attrNameLst>
                                      </p:cBhvr>
                                      <p:tavLst>
                                        <p:tav tm="0">
                                          <p:val>
                                            <p:fltVal val="-90"/>
                                          </p:val>
                                        </p:tav>
                                        <p:tav tm="100000">
                                          <p:val>
                                            <p:fltVal val="0"/>
                                          </p:val>
                                        </p:tav>
                                      </p:tavLst>
                                    </p:anim>
                                    <p:anim calcmode="lin" valueType="num">
                                      <p:cBhvr>
                                        <p:cTn id="23" dur="336" decel="100000" fill="hold"/>
                                        <p:tgtEl>
                                          <p:spTgt spid="8"/>
                                        </p:tgtEl>
                                        <p:attrNameLst>
                                          <p:attrName>ppt_x</p:attrName>
                                        </p:attrNameLst>
                                      </p:cBhvr>
                                      <p:tavLst>
                                        <p:tav tm="0">
                                          <p:val>
                                            <p:strVal val="#ppt_x+0.4"/>
                                          </p:val>
                                        </p:tav>
                                        <p:tav tm="100000">
                                          <p:val>
                                            <p:strVal val="#ppt_x-0.05"/>
                                          </p:val>
                                        </p:tav>
                                      </p:tavLst>
                                    </p:anim>
                                    <p:anim calcmode="lin" valueType="num">
                                      <p:cBhvr>
                                        <p:cTn id="24" dur="336" decel="100000" fill="hold"/>
                                        <p:tgtEl>
                                          <p:spTgt spid="8"/>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8"/>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8"/>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15"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20"/>
                                        <p:tgtEl>
                                          <p:spTgt spid="16"/>
                                        </p:tgtEl>
                                      </p:cBhvr>
                                    </p:animEffect>
                                    <p:anim calcmode="lin" valueType="num">
                                      <p:cBhvr>
                                        <p:cTn id="31" dur="420" fill="hold"/>
                                        <p:tgtEl>
                                          <p:spTgt spid="16"/>
                                        </p:tgtEl>
                                        <p:attrNameLst>
                                          <p:attrName>ppt_x</p:attrName>
                                        </p:attrNameLst>
                                      </p:cBhvr>
                                      <p:tavLst>
                                        <p:tav tm="0">
                                          <p:val>
                                            <p:strVal val="#ppt_x"/>
                                          </p:val>
                                        </p:tav>
                                        <p:tav tm="100000">
                                          <p:val>
                                            <p:strVal val="#ppt_x"/>
                                          </p:val>
                                        </p:tav>
                                      </p:tavLst>
                                    </p:anim>
                                    <p:anim calcmode="lin" valueType="num">
                                      <p:cBhvr>
                                        <p:cTn id="32" dur="378" decel="100000" fill="hold"/>
                                        <p:tgtEl>
                                          <p:spTgt spid="16"/>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6"/>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6" nodeType="afterEffect">
                                  <p:stCondLst>
                                    <p:cond delay="0"/>
                                  </p:stCondLst>
                                  <p:childTnLst>
                                    <p:set>
                                      <p:cBhvr>
                                        <p:cTn id="36" dur="420" fill="hold">
                                          <p:stCondLst>
                                            <p:cond delay="0"/>
                                          </p:stCondLst>
                                        </p:cTn>
                                        <p:tgtEl>
                                          <p:spTgt spid="17"/>
                                        </p:tgtEl>
                                        <p:attrNameLst>
                                          <p:attrName>style.visibility</p:attrName>
                                        </p:attrNameLst>
                                      </p:cBhvr>
                                      <p:to>
                                        <p:strVal val="visible"/>
                                      </p:to>
                                    </p:set>
                                    <p:animEffect transition="in" filter="fade">
                                      <p:cBhvr>
                                        <p:cTn id="37" dur="420"/>
                                        <p:tgtEl>
                                          <p:spTgt spid="17"/>
                                        </p:tgtEl>
                                      </p:cBhvr>
                                    </p:animEffect>
                                  </p:childTnLst>
                                </p:cTn>
                              </p:par>
                            </p:childTnLst>
                          </p:cTn>
                        </p:par>
                        <p:par>
                          <p:cTn id="38" fill="hold">
                            <p:stCondLst>
                              <p:cond delay="3000"/>
                            </p:stCondLst>
                            <p:childTnLst>
                              <p:par>
                                <p:cTn id="39" presetID="16" presetClass="entr" presetSubtype="21" fill="hold" grpId="4" nodeType="afterEffect">
                                  <p:stCondLst>
                                    <p:cond delay="0"/>
                                  </p:stCondLst>
                                  <p:childTnLst>
                                    <p:set>
                                      <p:cBhvr>
                                        <p:cTn id="40" dur="420" fill="hold">
                                          <p:stCondLst>
                                            <p:cond delay="0"/>
                                          </p:stCondLst>
                                        </p:cTn>
                                        <p:tgtEl>
                                          <p:spTgt spid="24"/>
                                        </p:tgtEl>
                                        <p:attrNameLst>
                                          <p:attrName>style.visibility</p:attrName>
                                        </p:attrNameLst>
                                      </p:cBhvr>
                                      <p:to>
                                        <p:strVal val="visible"/>
                                      </p:to>
                                    </p:set>
                                    <p:animEffect transition="in" filter="barn(inVertical)">
                                      <p:cBhvr>
                                        <p:cTn id="41" dur="4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7" grpId="2" uiExpand="1" build="allAtOnce"/>
      <p:bldP spid="8" grpId="3" uiExpand="1" build="allAtOnce"/>
      <p:bldP spid="9" grpId="4" uiExpand="1" build="allAtOnce"/>
      <p:bldP spid="10" grpId="5" uiExpand="1" build="allAtOnce"/>
      <p:bldP spid="11" grpId="6" uiExpand="1" build="allAtOnce"/>
      <p:bldP spid="12" grpId="7" uiExpand="1" build="allAtOnce"/>
      <p:bldP spid="13" grpId="8" uiExpand="1" build="allAtOnce"/>
      <p:bldP spid="14" grpId="9" uiExpand="1" build="allAtOnce"/>
      <p:bldP spid="16" grpId="10" uiExpand="1" build="allAtOnce"/>
      <p:bldP spid="17" grpId="11" uiExpand="1" build="allAtOnce"/>
      <p:bldP spid="18" grpId="12" uiExpand="1" build="allAtOnce"/>
      <p:bldP spid="3" grpId="0"/>
      <p:bldP spid="4" grpId="2"/>
      <p:bldP spid="6" grpId="0" animBg="1"/>
      <p:bldP spid="7" grpId="3"/>
      <p:bldP spid="8" grpId="4"/>
      <p:bldP spid="15" grpId="0" animBg="1"/>
      <p:bldP spid="16" grpId="11"/>
      <p:bldP spid="17" grpId="12"/>
      <p:bldP spid="24" grpId="0"/>
      <p:bldP spid="3" grpId="1"/>
      <p:bldP spid="4" grpId="3"/>
      <p:bldP spid="7" grpId="4"/>
      <p:bldP spid="16" grpId="12"/>
      <p:bldP spid="8" grpId="5"/>
      <p:bldP spid="17" grpId="13"/>
      <p:bldP spid="24" grpId="1"/>
      <p:bldP spid="3" grpId="2"/>
      <p:bldP spid="4" grpId="4"/>
      <p:bldP spid="7" grpId="5"/>
      <p:bldP spid="16" grpId="13"/>
      <p:bldP spid="8" grpId="6"/>
      <p:bldP spid="17" grpId="14"/>
      <p:bldP spid="24" grpId="2"/>
      <p:bldP spid="3" grpId="3"/>
      <p:bldP spid="4" grpId="5"/>
      <p:bldP spid="7" grpId="6"/>
      <p:bldP spid="8" grpId="7"/>
      <p:bldP spid="16" grpId="14"/>
      <p:bldP spid="17" grpId="15"/>
      <p:bldP spid="24" grpId="3"/>
      <p:bldP spid="3" grpId="4"/>
      <p:bldP spid="4" grpId="6"/>
      <p:bldP spid="7" grpId="7"/>
      <p:bldP spid="8" grpId="8"/>
      <p:bldP spid="16" grpId="15"/>
      <p:bldP spid="17" grpId="16"/>
      <p:bldP spid="24" grpId="4"/>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pic>
        <p:nvPicPr>
          <p:cNvPr id="3" name="common_prosperity_section.png"/>
          <p:cNvPicPr/>
          <p:nvPr/>
        </p:nvPicPr>
        <p:blipFill>
          <a:blip r:embed="rId1"/>
          <a:stretch>
            <a:fillRect/>
          </a:stretch>
        </p:blipFill>
        <p:spPr>
          <a:xfrm>
            <a:off x="0" y="0"/>
            <a:ext cx="12191695" cy="6858000"/>
          </a:xfrm>
          <a:prstGeom prst="rect">
            <a:avLst/>
          </a:prstGeom>
        </p:spPr>
      </p:pic>
      <p:sp>
        <p:nvSpPr>
          <p:cNvPr id="4" name="Shape"/>
          <p:cNvSpPr/>
          <p:nvPr/>
        </p:nvSpPr>
        <p:spPr>
          <a:xfrm>
            <a:off x="0" y="0"/>
            <a:ext cx="12191695" cy="6858000"/>
          </a:xfrm>
          <a:prstGeom prst="rect">
            <a:avLst/>
          </a:prstGeom>
          <a:solidFill>
            <a:srgbClr val="06111D">
              <a:alpha val="65000"/>
            </a:srgbClr>
          </a:solidFill>
          <a:ln>
            <a:noFill/>
          </a:ln>
        </p:spPr>
        <p:txBody>
          <a:bodyPr/>
          <a:lstStyle/>
          <a:p/>
        </p:txBody>
      </p:sp>
      <p:sp>
        <p:nvSpPr>
          <p:cNvPr id="5" name="Text"/>
          <p:cNvSpPr txBox="1"/>
          <p:nvPr/>
        </p:nvSpPr>
        <p:spPr>
          <a:xfrm>
            <a:off x="658368" y="1207008"/>
            <a:ext cx="5029200" cy="384048"/>
          </a:xfrm>
          <a:prstGeom prst="rect">
            <a:avLst/>
          </a:prstGeom>
          <a:noFill/>
          <a:ln>
            <a:noFill/>
          </a:ln>
        </p:spPr>
        <p:txBody>
          <a:bodyPr wrap="square" anchor="t">
            <a:spAutoFit/>
          </a:bodyPr>
          <a:lstStyle/>
          <a:p>
            <a:pPr algn="l"/>
            <a:r>
              <a:rPr lang="zh-CN" sz="1500" b="1">
                <a:solidFill>
                  <a:srgbClr val="D6A13B"/>
                </a:solidFill>
                <a:latin typeface="微软雅黑" panose="020B0503020204020204" charset="-122"/>
                <a:ea typeface="微软雅黑" panose="020B0503020204020204" charset="-122"/>
              </a:rPr>
              <a:t>社会主义最终看什么？</a:t>
            </a:r>
            <a:endParaRPr lang="zh-CN" sz="1500" b="1">
              <a:solidFill>
                <a:srgbClr val="D6A13B"/>
              </a:solidFill>
              <a:latin typeface="微软雅黑" panose="020B0503020204020204" charset="-122"/>
              <a:ea typeface="微软雅黑" panose="020B0503020204020204" charset="-122"/>
            </a:endParaRPr>
          </a:p>
        </p:txBody>
      </p:sp>
      <p:sp>
        <p:nvSpPr>
          <p:cNvPr id="6" name="Text"/>
          <p:cNvSpPr txBox="1"/>
          <p:nvPr/>
        </p:nvSpPr>
        <p:spPr>
          <a:xfrm>
            <a:off x="658368" y="1755648"/>
            <a:ext cx="4663440" cy="960120"/>
          </a:xfrm>
          <a:prstGeom prst="rect">
            <a:avLst/>
          </a:prstGeom>
          <a:noFill/>
          <a:ln>
            <a:noFill/>
          </a:ln>
        </p:spPr>
        <p:txBody>
          <a:bodyPr wrap="square" anchor="t">
            <a:spAutoFit/>
          </a:bodyPr>
          <a:lstStyle/>
          <a:p>
            <a:pPr algn="l"/>
            <a:r>
              <a:rPr lang="zh-CN" sz="2800" b="1">
                <a:solidFill>
                  <a:srgbClr val="FFFFFF"/>
                </a:solidFill>
                <a:latin typeface="微软雅黑" panose="020B0503020204020204" charset="-122"/>
                <a:ea typeface="微软雅黑" panose="020B0503020204020204" charset="-122"/>
              </a:rPr>
              <a:t>看发展成果</a:t>
            </a:r>
            <a:endParaRPr lang="zh-CN" sz="2800" b="1">
              <a:solidFill>
                <a:srgbClr val="FFFFFF"/>
              </a:solidFill>
              <a:latin typeface="微软雅黑" panose="020B0503020204020204" charset="-122"/>
              <a:ea typeface="微软雅黑" panose="020B0503020204020204" charset="-122"/>
            </a:endParaRPr>
          </a:p>
          <a:p>
            <a:pPr algn="l"/>
            <a:r>
              <a:rPr lang="zh-CN" sz="2800" b="1">
                <a:solidFill>
                  <a:srgbClr val="FFFFFF"/>
                </a:solidFill>
                <a:latin typeface="微软雅黑" panose="020B0503020204020204" charset="-122"/>
                <a:ea typeface="微软雅黑" panose="020B0503020204020204" charset="-122"/>
              </a:rPr>
              <a:t>如何分配</a:t>
            </a:r>
            <a:endParaRPr lang="zh-CN" sz="2800" b="1">
              <a:solidFill>
                <a:srgbClr val="FFFFFF"/>
              </a:solidFill>
              <a:latin typeface="微软雅黑" panose="020B0503020204020204" charset="-122"/>
              <a:ea typeface="微软雅黑" panose="020B0503020204020204" charset="-122"/>
            </a:endParaRPr>
          </a:p>
        </p:txBody>
      </p:sp>
      <p:sp>
        <p:nvSpPr>
          <p:cNvPr id="7" name="Text"/>
          <p:cNvSpPr txBox="1"/>
          <p:nvPr/>
        </p:nvSpPr>
        <p:spPr>
          <a:xfrm>
            <a:off x="694944" y="3063240"/>
            <a:ext cx="4846320" cy="502920"/>
          </a:xfrm>
          <a:prstGeom prst="rect">
            <a:avLst/>
          </a:prstGeom>
          <a:noFill/>
          <a:ln>
            <a:noFill/>
          </a:ln>
        </p:spPr>
        <p:txBody>
          <a:bodyPr wrap="square" anchor="t">
            <a:spAutoFit/>
          </a:bodyPr>
          <a:lstStyle/>
          <a:p>
            <a:pPr algn="l"/>
            <a:r>
              <a:rPr lang="zh-CN" sz="1100" b="0">
                <a:solidFill>
                  <a:srgbClr val="E5EDF7"/>
                </a:solidFill>
                <a:latin typeface="微软雅黑" panose="020B0503020204020204" charset="-122"/>
                <a:ea typeface="微软雅黑" panose="020B0503020204020204" charset="-122"/>
              </a:rPr>
              <a:t>不是只看 GDP 增长，而是看普通人的教育、医疗、住房、就业和社会保障。</a:t>
            </a:r>
            <a:endParaRPr lang="zh-CN" sz="1100" b="0">
              <a:solidFill>
                <a:srgbClr val="E5EDF7"/>
              </a:solidFill>
              <a:latin typeface="微软雅黑" panose="020B0503020204020204" charset="-122"/>
              <a:ea typeface="微软雅黑" panose="020B0503020204020204"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6" nodeType="clickEffect">
                                  <p:stCondLst>
                                    <p:cond delay="0"/>
                                  </p:stCondLst>
                                  <p:childTnLst>
                                    <p:set>
                                      <p:cBhvr>
                                        <p:cTn id="6" dur="350" fill="hold">
                                          <p:stCondLst>
                                            <p:cond delay="0"/>
                                          </p:stCondLst>
                                        </p:cTn>
                                        <p:tgtEl>
                                          <p:spTgt spid="5"/>
                                        </p:tgtEl>
                                        <p:attrNameLst>
                                          <p:attrName>style.visibility</p:attrName>
                                        </p:attrNameLst>
                                      </p:cBhvr>
                                      <p:to>
                                        <p:strVal val="visible"/>
                                      </p:to>
                                    </p:set>
                                    <p:anim calcmode="lin" valueType="num">
                                      <p:cBhvr>
                                        <p:cTn id="7" dur="350" fill="hold"/>
                                        <p:tgtEl>
                                          <p:spTgt spid="5"/>
                                        </p:tgtEl>
                                        <p:attrNameLst>
                                          <p:attrName>ppt_w</p:attrName>
                                        </p:attrNameLst>
                                      </p:cBhvr>
                                      <p:tavLst>
                                        <p:tav tm="0">
                                          <p:val>
                                            <p:fltVal val="0"/>
                                          </p:val>
                                        </p:tav>
                                        <p:tav tm="100000">
                                          <p:val>
                                            <p:strVal val="#ppt_w"/>
                                          </p:val>
                                        </p:tav>
                                      </p:tavLst>
                                    </p:anim>
                                    <p:anim calcmode="lin" valueType="num">
                                      <p:cBhvr>
                                        <p:cTn id="8" dur="350" fill="hold"/>
                                        <p:tgtEl>
                                          <p:spTgt spid="5"/>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4" fill="hold" grpId="7" nodeType="afterEffect">
                                  <p:stCondLst>
                                    <p:cond delay="0"/>
                                  </p:stCondLst>
                                  <p:childTnLst>
                                    <p:set>
                                      <p:cBhvr>
                                        <p:cTn id="11" dur="420" fill="hold">
                                          <p:stCondLst>
                                            <p:cond delay="0"/>
                                          </p:stCondLst>
                                        </p:cTn>
                                        <p:tgtEl>
                                          <p:spTgt spid="6"/>
                                        </p:tgtEl>
                                        <p:attrNameLst>
                                          <p:attrName>style.visibility</p:attrName>
                                        </p:attrNameLst>
                                      </p:cBhvr>
                                      <p:to>
                                        <p:strVal val="visible"/>
                                      </p:to>
                                    </p:set>
                                    <p:animEffect transition="in" filter="wipe(down)">
                                      <p:cBhvr>
                                        <p:cTn id="12" dur="420"/>
                                        <p:tgtEl>
                                          <p:spTgt spid="6"/>
                                        </p:tgtEl>
                                      </p:cBhvr>
                                    </p:animEffect>
                                  </p:childTnLst>
                                </p:cTn>
                              </p:par>
                            </p:childTnLst>
                          </p:cTn>
                        </p:par>
                        <p:par>
                          <p:cTn id="13" fill="hold">
                            <p:stCondLst>
                              <p:cond delay="1000"/>
                            </p:stCondLst>
                            <p:childTnLst>
                              <p:par>
                                <p:cTn id="14" presetID="2" presetClass="entr" presetSubtype="4" fill="hold" grpId="8" nodeType="afterEffect">
                                  <p:stCondLst>
                                    <p:cond delay="0"/>
                                  </p:stCondLst>
                                  <p:childTnLst>
                                    <p:set>
                                      <p:cBhvr>
                                        <p:cTn id="15" dur="420" fill="hold">
                                          <p:stCondLst>
                                            <p:cond delay="0"/>
                                          </p:stCondLst>
                                        </p:cTn>
                                        <p:tgtEl>
                                          <p:spTgt spid="7"/>
                                        </p:tgtEl>
                                        <p:attrNameLst>
                                          <p:attrName>style.visibility</p:attrName>
                                        </p:attrNameLst>
                                      </p:cBhvr>
                                      <p:to>
                                        <p:strVal val="visible"/>
                                      </p:to>
                                    </p:set>
                                    <p:anim calcmode="lin" valueType="num">
                                      <p:cBhvr additive="base">
                                        <p:cTn id="16" dur="420" fill="hold"/>
                                        <p:tgtEl>
                                          <p:spTgt spid="7"/>
                                        </p:tgtEl>
                                        <p:attrNameLst>
                                          <p:attrName>ppt_x</p:attrName>
                                        </p:attrNameLst>
                                      </p:cBhvr>
                                      <p:tavLst>
                                        <p:tav tm="0">
                                          <p:val>
                                            <p:strVal val="#ppt_x"/>
                                          </p:val>
                                        </p:tav>
                                        <p:tav tm="100000">
                                          <p:val>
                                            <p:strVal val="#ppt_x"/>
                                          </p:val>
                                        </p:tav>
                                      </p:tavLst>
                                    </p:anim>
                                    <p:anim calcmode="lin" valueType="num">
                                      <p:cBhvr additive="base">
                                        <p:cTn id="17" dur="42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uiExpand="1" build="allAtOnce"/>
      <p:bldP spid="6" grpId="2" uiExpand="1" build="allAtOnce"/>
      <p:bldP spid="7" grpId="3" uiExpand="1" build="allAtOnce"/>
      <p:bldP spid="5" grpId="2"/>
      <p:bldP spid="6" grpId="3"/>
      <p:bldP spid="7" grpId="4"/>
      <p:bldP spid="5" grpId="3"/>
      <p:bldP spid="6" grpId="4"/>
      <p:bldP spid="7" grpId="5"/>
      <p:bldP spid="5" grpId="4"/>
      <p:bldP spid="6" grpId="5"/>
      <p:bldP spid="7" grpId="6"/>
      <p:bldP spid="5" grpId="5"/>
      <p:bldP spid="6" grpId="6"/>
      <p:bldP spid="7" grpId="7"/>
      <p:bldP spid="5" grpId="6"/>
      <p:bldP spid="6" grpId="7"/>
      <p:bldP spid="7" grpId="8"/>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6F2E9"/>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07 分配目标</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共同富裕不是平均主义，而是防止发展成果过度集中</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Text"/>
          <p:cNvSpPr txBox="1"/>
          <p:nvPr/>
        </p:nvSpPr>
        <p:spPr>
          <a:xfrm>
            <a:off x="731520" y="1234440"/>
            <a:ext cx="8138160" cy="475488"/>
          </a:xfrm>
          <a:prstGeom prst="rect">
            <a:avLst/>
          </a:prstGeom>
          <a:noFill/>
          <a:ln>
            <a:noFill/>
          </a:ln>
        </p:spPr>
        <p:txBody>
          <a:bodyPr wrap="square" anchor="t">
            <a:spAutoFit/>
          </a:bodyPr>
          <a:lstStyle/>
          <a:p>
            <a:pPr algn="l"/>
            <a:r>
              <a:rPr lang="zh-CN" sz="1030" b="0">
                <a:solidFill>
                  <a:srgbClr val="697586"/>
                </a:solidFill>
                <a:latin typeface="微软雅黑" panose="020B0503020204020204" charset="-122"/>
                <a:ea typeface="微软雅黑" panose="020B0503020204020204" charset="-122"/>
              </a:rPr>
              <a:t>“共同富裕”常被误解为平均分配。更准确地说，它强调在允许差异和激励效率的同时，通过制度安排缩小过大差距，扩大中等收入群体。</a:t>
            </a:r>
            <a:endParaRPr lang="zh-CN" sz="1030" b="0">
              <a:solidFill>
                <a:srgbClr val="697586"/>
              </a:solidFill>
              <a:latin typeface="微软雅黑" panose="020B0503020204020204" charset="-122"/>
              <a:ea typeface="微软雅黑" panose="020B0503020204020204" charset="-122"/>
            </a:endParaRPr>
          </a:p>
        </p:txBody>
      </p:sp>
      <p:sp>
        <p:nvSpPr>
          <p:cNvPr id="7" name="Shape"/>
          <p:cNvSpPr/>
          <p:nvPr/>
        </p:nvSpPr>
        <p:spPr>
          <a:xfrm>
            <a:off x="777240" y="2240280"/>
            <a:ext cx="2240280" cy="2560320"/>
          </a:xfrm>
          <a:prstGeom prst="roundRect">
            <a:avLst/>
          </a:prstGeom>
          <a:solidFill>
            <a:srgbClr val="FFFDF7"/>
          </a:solidFill>
          <a:ln w="12700">
            <a:solidFill>
              <a:srgbClr val="E4DED2"/>
            </a:solidFill>
          </a:ln>
        </p:spPr>
        <p:txBody>
          <a:bodyPr/>
          <a:lstStyle/>
          <a:p/>
        </p:txBody>
      </p:sp>
      <p:sp>
        <p:nvSpPr>
          <p:cNvPr id="8" name="Text"/>
          <p:cNvSpPr txBox="1"/>
          <p:nvPr/>
        </p:nvSpPr>
        <p:spPr>
          <a:xfrm>
            <a:off x="960120" y="2487168"/>
            <a:ext cx="274320" cy="201168"/>
          </a:xfrm>
          <a:prstGeom prst="rect">
            <a:avLst/>
          </a:prstGeom>
          <a:noFill/>
          <a:ln>
            <a:noFill/>
          </a:ln>
        </p:spPr>
        <p:txBody>
          <a:bodyPr wrap="square" anchor="t">
            <a:spAutoFit/>
          </a:bodyPr>
          <a:lstStyle/>
          <a:p>
            <a:pPr algn="l"/>
            <a:r>
              <a:rPr lang="zh-CN" sz="1200" b="1">
                <a:solidFill>
                  <a:srgbClr val="2563EB"/>
                </a:solidFill>
                <a:latin typeface="微软雅黑" panose="020B0503020204020204" charset="-122"/>
                <a:ea typeface="微软雅黑" panose="020B0503020204020204" charset="-122"/>
              </a:rPr>
              <a:t>1</a:t>
            </a:r>
            <a:endParaRPr lang="zh-CN" sz="1200" b="1">
              <a:solidFill>
                <a:srgbClr val="2563EB"/>
              </a:solidFill>
              <a:latin typeface="微软雅黑" panose="020B0503020204020204" charset="-122"/>
              <a:ea typeface="微软雅黑" panose="020B0503020204020204" charset="-122"/>
            </a:endParaRPr>
          </a:p>
        </p:txBody>
      </p:sp>
      <p:sp>
        <p:nvSpPr>
          <p:cNvPr id="9" name="Text"/>
          <p:cNvSpPr txBox="1"/>
          <p:nvPr/>
        </p:nvSpPr>
        <p:spPr>
          <a:xfrm>
            <a:off x="1289304" y="2487168"/>
            <a:ext cx="1280160" cy="219456"/>
          </a:xfrm>
          <a:prstGeom prst="rect">
            <a:avLst/>
          </a:prstGeom>
          <a:noFill/>
          <a:ln>
            <a:noFill/>
          </a:ln>
        </p:spPr>
        <p:txBody>
          <a:bodyPr wrap="square" anchor="t">
            <a:spAutoFit/>
          </a:bodyPr>
          <a:lstStyle/>
          <a:p>
            <a:pPr algn="l"/>
            <a:r>
              <a:rPr lang="zh-CN" sz="1100" b="1">
                <a:solidFill>
                  <a:srgbClr val="15202B"/>
                </a:solidFill>
                <a:latin typeface="微软雅黑" panose="020B0503020204020204" charset="-122"/>
                <a:ea typeface="微软雅黑" panose="020B0503020204020204" charset="-122"/>
              </a:rPr>
              <a:t>做大蛋糕</a:t>
            </a:r>
            <a:endParaRPr lang="zh-CN" sz="1100" b="1">
              <a:solidFill>
                <a:srgbClr val="15202B"/>
              </a:solidFill>
              <a:latin typeface="微软雅黑" panose="020B0503020204020204" charset="-122"/>
              <a:ea typeface="微软雅黑" panose="020B0503020204020204" charset="-122"/>
            </a:endParaRPr>
          </a:p>
        </p:txBody>
      </p:sp>
      <p:sp>
        <p:nvSpPr>
          <p:cNvPr id="10" name="Text"/>
          <p:cNvSpPr txBox="1"/>
          <p:nvPr/>
        </p:nvSpPr>
        <p:spPr>
          <a:xfrm>
            <a:off x="1033271" y="3154680"/>
            <a:ext cx="1737360" cy="530352"/>
          </a:xfrm>
          <a:prstGeom prst="rect">
            <a:avLst/>
          </a:prstGeom>
          <a:noFill/>
          <a:ln>
            <a:noFill/>
          </a:ln>
        </p:spPr>
        <p:txBody>
          <a:bodyPr wrap="square" anchor="t">
            <a:spAutoFit/>
          </a:bodyPr>
          <a:lstStyle/>
          <a:p>
            <a:pPr algn="ctr"/>
            <a:r>
              <a:rPr lang="zh-CN" sz="840" b="0">
                <a:solidFill>
                  <a:srgbClr val="697586"/>
                </a:solidFill>
                <a:latin typeface="微软雅黑" panose="020B0503020204020204" charset="-122"/>
                <a:ea typeface="微软雅黑" panose="020B0503020204020204" charset="-122"/>
              </a:rPr>
              <a:t>发展生产力，保持创新和企业活力</a:t>
            </a:r>
            <a:endParaRPr lang="zh-CN" sz="840" b="0">
              <a:solidFill>
                <a:srgbClr val="697586"/>
              </a:solidFill>
              <a:latin typeface="微软雅黑" panose="020B0503020204020204" charset="-122"/>
              <a:ea typeface="微软雅黑" panose="020B0503020204020204" charset="-122"/>
            </a:endParaRPr>
          </a:p>
        </p:txBody>
      </p:sp>
      <p:sp>
        <p:nvSpPr>
          <p:cNvPr id="11" name="Shape"/>
          <p:cNvSpPr/>
          <p:nvPr/>
        </p:nvSpPr>
        <p:spPr>
          <a:xfrm>
            <a:off x="3547872" y="2240280"/>
            <a:ext cx="2240280" cy="2560320"/>
          </a:xfrm>
          <a:prstGeom prst="roundRect">
            <a:avLst/>
          </a:prstGeom>
          <a:solidFill>
            <a:srgbClr val="FFFDF7"/>
          </a:solidFill>
          <a:ln w="12700">
            <a:solidFill>
              <a:srgbClr val="E4DED2"/>
            </a:solidFill>
          </a:ln>
        </p:spPr>
        <p:txBody>
          <a:bodyPr/>
          <a:lstStyle/>
          <a:p/>
        </p:txBody>
      </p:sp>
      <p:sp>
        <p:nvSpPr>
          <p:cNvPr id="12" name="Text"/>
          <p:cNvSpPr txBox="1"/>
          <p:nvPr/>
        </p:nvSpPr>
        <p:spPr>
          <a:xfrm>
            <a:off x="3730752" y="2487168"/>
            <a:ext cx="274320" cy="201168"/>
          </a:xfrm>
          <a:prstGeom prst="rect">
            <a:avLst/>
          </a:prstGeom>
          <a:noFill/>
          <a:ln>
            <a:noFill/>
          </a:ln>
        </p:spPr>
        <p:txBody>
          <a:bodyPr wrap="square" anchor="t">
            <a:spAutoFit/>
          </a:bodyPr>
          <a:lstStyle/>
          <a:p>
            <a:pPr algn="l"/>
            <a:r>
              <a:rPr lang="zh-CN" sz="1200" b="1">
                <a:solidFill>
                  <a:srgbClr val="B91C1C"/>
                </a:solidFill>
                <a:latin typeface="微软雅黑" panose="020B0503020204020204" charset="-122"/>
                <a:ea typeface="微软雅黑" panose="020B0503020204020204" charset="-122"/>
              </a:rPr>
              <a:t>2</a:t>
            </a:r>
            <a:endParaRPr lang="zh-CN" sz="1200" b="1">
              <a:solidFill>
                <a:srgbClr val="B91C1C"/>
              </a:solidFill>
              <a:latin typeface="微软雅黑" panose="020B0503020204020204" charset="-122"/>
              <a:ea typeface="微软雅黑" panose="020B0503020204020204" charset="-122"/>
            </a:endParaRPr>
          </a:p>
        </p:txBody>
      </p:sp>
      <p:sp>
        <p:nvSpPr>
          <p:cNvPr id="13" name="Text"/>
          <p:cNvSpPr txBox="1"/>
          <p:nvPr/>
        </p:nvSpPr>
        <p:spPr>
          <a:xfrm>
            <a:off x="4059935" y="2487168"/>
            <a:ext cx="1280160" cy="219456"/>
          </a:xfrm>
          <a:prstGeom prst="rect">
            <a:avLst/>
          </a:prstGeom>
          <a:noFill/>
          <a:ln>
            <a:noFill/>
          </a:ln>
        </p:spPr>
        <p:txBody>
          <a:bodyPr wrap="square" anchor="t">
            <a:spAutoFit/>
          </a:bodyPr>
          <a:lstStyle/>
          <a:p>
            <a:pPr algn="l"/>
            <a:r>
              <a:rPr lang="zh-CN" sz="1100" b="1">
                <a:solidFill>
                  <a:srgbClr val="15202B"/>
                </a:solidFill>
                <a:latin typeface="微软雅黑" panose="020B0503020204020204" charset="-122"/>
                <a:ea typeface="微软雅黑" panose="020B0503020204020204" charset="-122"/>
              </a:rPr>
              <a:t>分好蛋糕</a:t>
            </a:r>
            <a:endParaRPr lang="zh-CN" sz="1100" b="1">
              <a:solidFill>
                <a:srgbClr val="15202B"/>
              </a:solidFill>
              <a:latin typeface="微软雅黑" panose="020B0503020204020204" charset="-122"/>
              <a:ea typeface="微软雅黑" panose="020B0503020204020204" charset="-122"/>
            </a:endParaRPr>
          </a:p>
        </p:txBody>
      </p:sp>
      <p:sp>
        <p:nvSpPr>
          <p:cNvPr id="14" name="Text"/>
          <p:cNvSpPr txBox="1"/>
          <p:nvPr/>
        </p:nvSpPr>
        <p:spPr>
          <a:xfrm>
            <a:off x="3803904" y="3154680"/>
            <a:ext cx="1737360" cy="530352"/>
          </a:xfrm>
          <a:prstGeom prst="rect">
            <a:avLst/>
          </a:prstGeom>
          <a:noFill/>
          <a:ln>
            <a:noFill/>
          </a:ln>
        </p:spPr>
        <p:txBody>
          <a:bodyPr wrap="square" anchor="t">
            <a:spAutoFit/>
          </a:bodyPr>
          <a:lstStyle/>
          <a:p>
            <a:pPr algn="ctr"/>
            <a:r>
              <a:rPr lang="zh-CN" sz="840" b="0">
                <a:solidFill>
                  <a:srgbClr val="697586"/>
                </a:solidFill>
                <a:latin typeface="微软雅黑" panose="020B0503020204020204" charset="-122"/>
                <a:ea typeface="微软雅黑" panose="020B0503020204020204" charset="-122"/>
              </a:rPr>
              <a:t>税收、社保、公共服务、转移支付</a:t>
            </a:r>
            <a:endParaRPr lang="zh-CN" sz="840" b="0">
              <a:solidFill>
                <a:srgbClr val="697586"/>
              </a:solidFill>
              <a:latin typeface="微软雅黑" panose="020B0503020204020204" charset="-122"/>
              <a:ea typeface="微软雅黑" panose="020B0503020204020204" charset="-122"/>
            </a:endParaRPr>
          </a:p>
        </p:txBody>
      </p:sp>
      <p:sp>
        <p:nvSpPr>
          <p:cNvPr id="15" name="Shape"/>
          <p:cNvSpPr/>
          <p:nvPr/>
        </p:nvSpPr>
        <p:spPr>
          <a:xfrm>
            <a:off x="6318503" y="2240280"/>
            <a:ext cx="2240280" cy="2560320"/>
          </a:xfrm>
          <a:prstGeom prst="roundRect">
            <a:avLst/>
          </a:prstGeom>
          <a:solidFill>
            <a:srgbClr val="FFFDF7"/>
          </a:solidFill>
          <a:ln w="12700">
            <a:solidFill>
              <a:srgbClr val="E4DED2"/>
            </a:solidFill>
          </a:ln>
        </p:spPr>
        <p:txBody>
          <a:bodyPr/>
          <a:lstStyle/>
          <a:p/>
        </p:txBody>
      </p:sp>
      <p:sp>
        <p:nvSpPr>
          <p:cNvPr id="16" name="Text"/>
          <p:cNvSpPr txBox="1"/>
          <p:nvPr/>
        </p:nvSpPr>
        <p:spPr>
          <a:xfrm>
            <a:off x="6501383" y="2487168"/>
            <a:ext cx="274320" cy="201168"/>
          </a:xfrm>
          <a:prstGeom prst="rect">
            <a:avLst/>
          </a:prstGeom>
          <a:noFill/>
          <a:ln>
            <a:noFill/>
          </a:ln>
        </p:spPr>
        <p:txBody>
          <a:bodyPr wrap="square" anchor="t">
            <a:spAutoFit/>
          </a:bodyPr>
          <a:lstStyle/>
          <a:p>
            <a:pPr algn="l"/>
            <a:r>
              <a:rPr lang="zh-CN" sz="1200" b="1">
                <a:solidFill>
                  <a:srgbClr val="16825D"/>
                </a:solidFill>
                <a:latin typeface="微软雅黑" panose="020B0503020204020204" charset="-122"/>
                <a:ea typeface="微软雅黑" panose="020B0503020204020204" charset="-122"/>
              </a:rPr>
              <a:t>3</a:t>
            </a:r>
            <a:endParaRPr lang="zh-CN" sz="1200" b="1">
              <a:solidFill>
                <a:srgbClr val="16825D"/>
              </a:solidFill>
              <a:latin typeface="微软雅黑" panose="020B0503020204020204" charset="-122"/>
              <a:ea typeface="微软雅黑" panose="020B0503020204020204" charset="-122"/>
            </a:endParaRPr>
          </a:p>
        </p:txBody>
      </p:sp>
      <p:sp>
        <p:nvSpPr>
          <p:cNvPr id="17" name="Text"/>
          <p:cNvSpPr txBox="1"/>
          <p:nvPr/>
        </p:nvSpPr>
        <p:spPr>
          <a:xfrm>
            <a:off x="6830567" y="2487168"/>
            <a:ext cx="1280160" cy="219456"/>
          </a:xfrm>
          <a:prstGeom prst="rect">
            <a:avLst/>
          </a:prstGeom>
          <a:noFill/>
          <a:ln>
            <a:noFill/>
          </a:ln>
        </p:spPr>
        <p:txBody>
          <a:bodyPr wrap="square" anchor="t">
            <a:spAutoFit/>
          </a:bodyPr>
          <a:lstStyle/>
          <a:p>
            <a:pPr algn="l"/>
            <a:r>
              <a:rPr lang="zh-CN" sz="1100" b="1">
                <a:solidFill>
                  <a:srgbClr val="15202B"/>
                </a:solidFill>
                <a:latin typeface="微软雅黑" panose="020B0503020204020204" charset="-122"/>
                <a:ea typeface="微软雅黑" panose="020B0503020204020204" charset="-122"/>
              </a:rPr>
              <a:t>托住底线</a:t>
            </a:r>
            <a:endParaRPr lang="zh-CN" sz="1100" b="1">
              <a:solidFill>
                <a:srgbClr val="15202B"/>
              </a:solidFill>
              <a:latin typeface="微软雅黑" panose="020B0503020204020204" charset="-122"/>
              <a:ea typeface="微软雅黑" panose="020B0503020204020204" charset="-122"/>
            </a:endParaRPr>
          </a:p>
        </p:txBody>
      </p:sp>
      <p:sp>
        <p:nvSpPr>
          <p:cNvPr id="18" name="Text"/>
          <p:cNvSpPr txBox="1"/>
          <p:nvPr/>
        </p:nvSpPr>
        <p:spPr>
          <a:xfrm>
            <a:off x="6574536" y="3154680"/>
            <a:ext cx="1737360" cy="530352"/>
          </a:xfrm>
          <a:prstGeom prst="rect">
            <a:avLst/>
          </a:prstGeom>
          <a:noFill/>
          <a:ln>
            <a:noFill/>
          </a:ln>
        </p:spPr>
        <p:txBody>
          <a:bodyPr wrap="square" anchor="t">
            <a:spAutoFit/>
          </a:bodyPr>
          <a:lstStyle/>
          <a:p>
            <a:pPr algn="ctr"/>
            <a:r>
              <a:rPr lang="zh-CN" sz="840" b="0">
                <a:solidFill>
                  <a:srgbClr val="697586"/>
                </a:solidFill>
                <a:latin typeface="微软雅黑" panose="020B0503020204020204" charset="-122"/>
                <a:ea typeface="微软雅黑" panose="020B0503020204020204" charset="-122"/>
              </a:rPr>
              <a:t>教育、医疗、养老、住房、就业保障</a:t>
            </a:r>
            <a:endParaRPr lang="zh-CN" sz="840" b="0">
              <a:solidFill>
                <a:srgbClr val="697586"/>
              </a:solidFill>
              <a:latin typeface="微软雅黑" panose="020B0503020204020204" charset="-122"/>
              <a:ea typeface="微软雅黑" panose="020B0503020204020204" charset="-122"/>
            </a:endParaRPr>
          </a:p>
        </p:txBody>
      </p:sp>
      <p:sp>
        <p:nvSpPr>
          <p:cNvPr id="19" name="Shape"/>
          <p:cNvSpPr/>
          <p:nvPr/>
        </p:nvSpPr>
        <p:spPr>
          <a:xfrm>
            <a:off x="9089136" y="2240280"/>
            <a:ext cx="2240280" cy="2560320"/>
          </a:xfrm>
          <a:prstGeom prst="roundRect">
            <a:avLst/>
          </a:prstGeom>
          <a:solidFill>
            <a:srgbClr val="FFFDF7"/>
          </a:solidFill>
          <a:ln w="12700">
            <a:solidFill>
              <a:srgbClr val="E4DED2"/>
            </a:solidFill>
          </a:ln>
        </p:spPr>
        <p:txBody>
          <a:bodyPr/>
          <a:lstStyle/>
          <a:p/>
        </p:txBody>
      </p:sp>
      <p:sp>
        <p:nvSpPr>
          <p:cNvPr id="20" name="Text"/>
          <p:cNvSpPr txBox="1"/>
          <p:nvPr/>
        </p:nvSpPr>
        <p:spPr>
          <a:xfrm>
            <a:off x="9272015" y="2487168"/>
            <a:ext cx="274320" cy="201168"/>
          </a:xfrm>
          <a:prstGeom prst="rect">
            <a:avLst/>
          </a:prstGeom>
          <a:noFill/>
          <a:ln>
            <a:noFill/>
          </a:ln>
        </p:spPr>
        <p:txBody>
          <a:bodyPr wrap="square" anchor="t">
            <a:spAutoFit/>
          </a:bodyPr>
          <a:lstStyle/>
          <a:p>
            <a:pPr algn="l"/>
            <a:r>
              <a:rPr lang="zh-CN" sz="1200" b="1">
                <a:solidFill>
                  <a:srgbClr val="D6A13B"/>
                </a:solidFill>
                <a:latin typeface="微软雅黑" panose="020B0503020204020204" charset="-122"/>
                <a:ea typeface="微软雅黑" panose="020B0503020204020204" charset="-122"/>
              </a:rPr>
              <a:t>4</a:t>
            </a:r>
            <a:endParaRPr lang="zh-CN" sz="1200" b="1">
              <a:solidFill>
                <a:srgbClr val="D6A13B"/>
              </a:solidFill>
              <a:latin typeface="微软雅黑" panose="020B0503020204020204" charset="-122"/>
              <a:ea typeface="微软雅黑" panose="020B0503020204020204" charset="-122"/>
            </a:endParaRPr>
          </a:p>
        </p:txBody>
      </p:sp>
      <p:sp>
        <p:nvSpPr>
          <p:cNvPr id="21" name="Text"/>
          <p:cNvSpPr txBox="1"/>
          <p:nvPr/>
        </p:nvSpPr>
        <p:spPr>
          <a:xfrm>
            <a:off x="9601200" y="2487168"/>
            <a:ext cx="1280160" cy="219456"/>
          </a:xfrm>
          <a:prstGeom prst="rect">
            <a:avLst/>
          </a:prstGeom>
          <a:noFill/>
          <a:ln>
            <a:noFill/>
          </a:ln>
        </p:spPr>
        <p:txBody>
          <a:bodyPr wrap="square" anchor="t">
            <a:spAutoFit/>
          </a:bodyPr>
          <a:lstStyle/>
          <a:p>
            <a:pPr algn="l"/>
            <a:r>
              <a:rPr lang="zh-CN" sz="1100" b="1">
                <a:solidFill>
                  <a:srgbClr val="15202B"/>
                </a:solidFill>
                <a:latin typeface="微软雅黑" panose="020B0503020204020204" charset="-122"/>
                <a:ea typeface="微软雅黑" panose="020B0503020204020204" charset="-122"/>
              </a:rPr>
              <a:t>限制失序</a:t>
            </a:r>
            <a:endParaRPr lang="zh-CN" sz="1100" b="1">
              <a:solidFill>
                <a:srgbClr val="15202B"/>
              </a:solidFill>
              <a:latin typeface="微软雅黑" panose="020B0503020204020204" charset="-122"/>
              <a:ea typeface="微软雅黑" panose="020B0503020204020204" charset="-122"/>
            </a:endParaRPr>
          </a:p>
        </p:txBody>
      </p:sp>
      <p:sp>
        <p:nvSpPr>
          <p:cNvPr id="22" name="Text"/>
          <p:cNvSpPr txBox="1"/>
          <p:nvPr/>
        </p:nvSpPr>
        <p:spPr>
          <a:xfrm>
            <a:off x="9345167" y="3154680"/>
            <a:ext cx="1737360" cy="530352"/>
          </a:xfrm>
          <a:prstGeom prst="rect">
            <a:avLst/>
          </a:prstGeom>
          <a:noFill/>
          <a:ln>
            <a:noFill/>
          </a:ln>
        </p:spPr>
        <p:txBody>
          <a:bodyPr wrap="square" anchor="t">
            <a:spAutoFit/>
          </a:bodyPr>
          <a:lstStyle/>
          <a:p>
            <a:pPr algn="ctr"/>
            <a:r>
              <a:rPr lang="zh-CN" sz="840" b="0">
                <a:solidFill>
                  <a:srgbClr val="697586"/>
                </a:solidFill>
                <a:latin typeface="微软雅黑" panose="020B0503020204020204" charset="-122"/>
                <a:ea typeface="微软雅黑" panose="020B0503020204020204" charset="-122"/>
              </a:rPr>
              <a:t>反垄断、防止资本无序扩张、金融风险防控</a:t>
            </a:r>
            <a:endParaRPr lang="zh-CN" sz="840" b="0">
              <a:solidFill>
                <a:srgbClr val="697586"/>
              </a:solidFill>
              <a:latin typeface="微软雅黑" panose="020B0503020204020204" charset="-122"/>
              <a:ea typeface="微软雅黑" panose="020B0503020204020204" charset="-122"/>
            </a:endParaRPr>
          </a:p>
        </p:txBody>
      </p:sp>
      <p:sp>
        <p:nvSpPr>
          <p:cNvPr id="23" name="Shape"/>
          <p:cNvSpPr/>
          <p:nvPr/>
        </p:nvSpPr>
        <p:spPr>
          <a:xfrm>
            <a:off x="914400" y="5394960"/>
            <a:ext cx="10149840" cy="420624"/>
          </a:xfrm>
          <a:prstGeom prst="roundRect">
            <a:avLst/>
          </a:prstGeom>
          <a:solidFill>
            <a:srgbClr val="15202B"/>
          </a:solidFill>
          <a:ln>
            <a:noFill/>
          </a:ln>
        </p:spPr>
        <p:txBody>
          <a:bodyPr/>
          <a:lstStyle/>
          <a:p/>
        </p:txBody>
      </p:sp>
      <p:sp>
        <p:nvSpPr>
          <p:cNvPr id="24" name="Text"/>
          <p:cNvSpPr txBox="1"/>
          <p:nvPr/>
        </p:nvSpPr>
        <p:spPr>
          <a:xfrm>
            <a:off x="1115568" y="5550408"/>
            <a:ext cx="9692640" cy="118872"/>
          </a:xfrm>
          <a:prstGeom prst="rect">
            <a:avLst/>
          </a:prstGeom>
          <a:noFill/>
          <a:ln>
            <a:noFill/>
          </a:ln>
        </p:spPr>
        <p:txBody>
          <a:bodyPr wrap="square" anchor="t">
            <a:spAutoFit/>
          </a:bodyPr>
          <a:lstStyle/>
          <a:p>
            <a:pPr algn="ctr"/>
            <a:r>
              <a:rPr lang="zh-CN" sz="850" b="1">
                <a:solidFill>
                  <a:srgbClr val="FFFFFF"/>
                </a:solidFill>
                <a:latin typeface="微软雅黑" panose="020B0503020204020204" charset="-122"/>
                <a:ea typeface="微软雅黑" panose="020B0503020204020204" charset="-122"/>
              </a:rPr>
              <a:t>通俗地说：允许有人先富、也鼓励创造财富，但不能让社会变成少数人独占机会。</a:t>
            </a:r>
            <a:endParaRPr lang="zh-CN" sz="850" b="1">
              <a:solidFill>
                <a:srgbClr val="FFFFFF"/>
              </a:solidFill>
              <a:latin typeface="微软雅黑" panose="020B0503020204020204" charset="-122"/>
              <a:ea typeface="微软雅黑" panose="020B0503020204020204" charset="-122"/>
            </a:endParaRPr>
          </a:p>
        </p:txBody>
      </p:sp>
      <p:sp>
        <p:nvSpPr>
          <p:cNvPr id="25"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资料来源：共同富裕相关官方政策表述；财政部公开财政支出资料</a:t>
            </a:r>
            <a:endParaRPr lang="zh-CN" sz="550" b="0">
              <a:solidFill>
                <a:srgbClr val="8C939D"/>
              </a:solidFill>
              <a:latin typeface="微软雅黑" panose="020B0503020204020204" charset="-122"/>
              <a:ea typeface="微软雅黑" panose="020B0503020204020204" charset="-122"/>
            </a:endParaRPr>
          </a:p>
        </p:txBody>
      </p:sp>
      <p:sp>
        <p:nvSpPr>
          <p:cNvPr id="26"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3" presetClass="entr" presetSubtype="16" fill="hold" grpId="7" nodeType="afterEffect">
                                  <p:stCondLst>
                                    <p:cond delay="0"/>
                                  </p:stCondLst>
                                  <p:childTnLst>
                                    <p:set>
                                      <p:cBhvr>
                                        <p:cTn id="15" dur="350" fill="hold">
                                          <p:stCondLst>
                                            <p:cond delay="0"/>
                                          </p:stCondLst>
                                        </p:cTn>
                                        <p:tgtEl>
                                          <p:spTgt spid="6"/>
                                        </p:tgtEl>
                                        <p:attrNameLst>
                                          <p:attrName>style.visibility</p:attrName>
                                        </p:attrNameLst>
                                      </p:cBhvr>
                                      <p:to>
                                        <p:strVal val="visible"/>
                                      </p:to>
                                    </p:set>
                                    <p:anim calcmode="lin" valueType="num">
                                      <p:cBhvr>
                                        <p:cTn id="16" dur="350" fill="hold"/>
                                        <p:tgtEl>
                                          <p:spTgt spid="6"/>
                                        </p:tgtEl>
                                        <p:attrNameLst>
                                          <p:attrName>ppt_w</p:attrName>
                                        </p:attrNameLst>
                                      </p:cBhvr>
                                      <p:tavLst>
                                        <p:tav tm="0">
                                          <p:val>
                                            <p:fltVal val="0"/>
                                          </p:val>
                                        </p:tav>
                                        <p:tav tm="100000">
                                          <p:val>
                                            <p:strVal val="#ppt_w"/>
                                          </p:val>
                                        </p:tav>
                                      </p:tavLst>
                                    </p:anim>
                                    <p:anim calcmode="lin" valueType="num">
                                      <p:cBhvr>
                                        <p:cTn id="17" dur="350" fill="hold"/>
                                        <p:tgtEl>
                                          <p:spTgt spid="6"/>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30" presetClass="entr" presetSubtype="0" fill="hold" grpId="9"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36" decel="100000"/>
                                        <p:tgtEl>
                                          <p:spTgt spid="9"/>
                                        </p:tgtEl>
                                      </p:cBhvr>
                                    </p:animEffect>
                                    <p:anim calcmode="lin" valueType="num">
                                      <p:cBhvr>
                                        <p:cTn id="22" dur="336" decel="100000" fill="hold"/>
                                        <p:tgtEl>
                                          <p:spTgt spid="9"/>
                                        </p:tgtEl>
                                        <p:attrNameLst>
                                          <p:attrName>style.rotation</p:attrName>
                                        </p:attrNameLst>
                                      </p:cBhvr>
                                      <p:tavLst>
                                        <p:tav tm="0">
                                          <p:val>
                                            <p:fltVal val="-90"/>
                                          </p:val>
                                        </p:tav>
                                        <p:tav tm="100000">
                                          <p:val>
                                            <p:fltVal val="0"/>
                                          </p:val>
                                        </p:tav>
                                      </p:tavLst>
                                    </p:anim>
                                    <p:anim calcmode="lin" valueType="num">
                                      <p:cBhvr>
                                        <p:cTn id="23" dur="336" decel="100000" fill="hold"/>
                                        <p:tgtEl>
                                          <p:spTgt spid="9"/>
                                        </p:tgtEl>
                                        <p:attrNameLst>
                                          <p:attrName>ppt_x</p:attrName>
                                        </p:attrNameLst>
                                      </p:cBhvr>
                                      <p:tavLst>
                                        <p:tav tm="0">
                                          <p:val>
                                            <p:strVal val="#ppt_x+0.4"/>
                                          </p:val>
                                        </p:tav>
                                        <p:tav tm="100000">
                                          <p:val>
                                            <p:strVal val="#ppt_x-0.05"/>
                                          </p:val>
                                        </p:tav>
                                      </p:tavLst>
                                    </p:anim>
                                    <p:anim calcmode="lin" valueType="num">
                                      <p:cBhvr>
                                        <p:cTn id="24" dur="336" decel="100000" fill="hold"/>
                                        <p:tgtEl>
                                          <p:spTgt spid="9"/>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9"/>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9"/>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1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20"/>
                                        <p:tgtEl>
                                          <p:spTgt spid="10"/>
                                        </p:tgtEl>
                                      </p:cBhvr>
                                    </p:animEffect>
                                    <p:anim calcmode="lin" valueType="num">
                                      <p:cBhvr>
                                        <p:cTn id="31" dur="420" fill="hold"/>
                                        <p:tgtEl>
                                          <p:spTgt spid="10"/>
                                        </p:tgtEl>
                                        <p:attrNameLst>
                                          <p:attrName>ppt_x</p:attrName>
                                        </p:attrNameLst>
                                      </p:cBhvr>
                                      <p:tavLst>
                                        <p:tav tm="0">
                                          <p:val>
                                            <p:strVal val="#ppt_x"/>
                                          </p:val>
                                        </p:tav>
                                        <p:tav tm="100000">
                                          <p:val>
                                            <p:strVal val="#ppt_x"/>
                                          </p:val>
                                        </p:tav>
                                      </p:tavLst>
                                    </p:anim>
                                    <p:anim calcmode="lin" valueType="num">
                                      <p:cBhvr>
                                        <p:cTn id="32" dur="378" decel="100000" fill="hold"/>
                                        <p:tgtEl>
                                          <p:spTgt spid="10"/>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0"/>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3" nodeType="afterEffect">
                                  <p:stCondLst>
                                    <p:cond delay="0"/>
                                  </p:stCondLst>
                                  <p:childTnLst>
                                    <p:set>
                                      <p:cBhvr>
                                        <p:cTn id="36" dur="420" fill="hold">
                                          <p:stCondLst>
                                            <p:cond delay="0"/>
                                          </p:stCondLst>
                                        </p:cTn>
                                        <p:tgtEl>
                                          <p:spTgt spid="14"/>
                                        </p:tgtEl>
                                        <p:attrNameLst>
                                          <p:attrName>style.visibility</p:attrName>
                                        </p:attrNameLst>
                                      </p:cBhvr>
                                      <p:to>
                                        <p:strVal val="visible"/>
                                      </p:to>
                                    </p:set>
                                    <p:animEffect transition="in" filter="fade">
                                      <p:cBhvr>
                                        <p:cTn id="37" dur="420"/>
                                        <p:tgtEl>
                                          <p:spTgt spid="14"/>
                                        </p:tgtEl>
                                      </p:cBhvr>
                                    </p:animEffect>
                                  </p:childTnLst>
                                </p:cTn>
                              </p:par>
                            </p:childTnLst>
                          </p:cTn>
                        </p:par>
                        <p:par>
                          <p:cTn id="38" fill="hold">
                            <p:stCondLst>
                              <p:cond delay="3000"/>
                            </p:stCondLst>
                            <p:childTnLst>
                              <p:par>
                                <p:cTn id="39" presetID="22" presetClass="entr" presetSubtype="4" fill="hold" grpId="12" nodeType="afterEffect">
                                  <p:stCondLst>
                                    <p:cond delay="0"/>
                                  </p:stCondLst>
                                  <p:childTnLst>
                                    <p:set>
                                      <p:cBhvr>
                                        <p:cTn id="40" dur="420" fill="hold">
                                          <p:stCondLst>
                                            <p:cond delay="0"/>
                                          </p:stCondLst>
                                        </p:cTn>
                                        <p:tgtEl>
                                          <p:spTgt spid="13"/>
                                        </p:tgtEl>
                                        <p:attrNameLst>
                                          <p:attrName>style.visibility</p:attrName>
                                        </p:attrNameLst>
                                      </p:cBhvr>
                                      <p:to>
                                        <p:strVal val="visible"/>
                                      </p:to>
                                    </p:set>
                                    <p:animEffect transition="in" filter="wipe(down)">
                                      <p:cBhvr>
                                        <p:cTn id="41" dur="420"/>
                                        <p:tgtEl>
                                          <p:spTgt spid="13"/>
                                        </p:tgtEl>
                                      </p:cBhvr>
                                    </p:animEffect>
                                  </p:childTnLst>
                                </p:cTn>
                              </p:par>
                            </p:childTnLst>
                          </p:cTn>
                        </p:par>
                        <p:par>
                          <p:cTn id="42" fill="hold">
                            <p:stCondLst>
                              <p:cond delay="3500"/>
                            </p:stCondLst>
                            <p:childTnLst>
                              <p:par>
                                <p:cTn id="43" presetID="2" presetClass="entr" presetSubtype="4" fill="hold" grpId="14" nodeType="afterEffect">
                                  <p:stCondLst>
                                    <p:cond delay="0"/>
                                  </p:stCondLst>
                                  <p:childTnLst>
                                    <p:set>
                                      <p:cBhvr>
                                        <p:cTn id="44" dur="420" fill="hold">
                                          <p:stCondLst>
                                            <p:cond delay="0"/>
                                          </p:stCondLst>
                                        </p:cTn>
                                        <p:tgtEl>
                                          <p:spTgt spid="17"/>
                                        </p:tgtEl>
                                        <p:attrNameLst>
                                          <p:attrName>style.visibility</p:attrName>
                                        </p:attrNameLst>
                                      </p:cBhvr>
                                      <p:to>
                                        <p:strVal val="visible"/>
                                      </p:to>
                                    </p:set>
                                    <p:anim calcmode="lin" valueType="num">
                                      <p:cBhvr additive="base">
                                        <p:cTn id="45" dur="420" fill="hold"/>
                                        <p:tgtEl>
                                          <p:spTgt spid="17"/>
                                        </p:tgtEl>
                                        <p:attrNameLst>
                                          <p:attrName>ppt_x</p:attrName>
                                        </p:attrNameLst>
                                      </p:cBhvr>
                                      <p:tavLst>
                                        <p:tav tm="0">
                                          <p:val>
                                            <p:strVal val="#ppt_x"/>
                                          </p:val>
                                        </p:tav>
                                        <p:tav tm="100000">
                                          <p:val>
                                            <p:strVal val="#ppt_x"/>
                                          </p:val>
                                        </p:tav>
                                      </p:tavLst>
                                    </p:anim>
                                    <p:anim calcmode="lin" valueType="num">
                                      <p:cBhvr additive="base">
                                        <p:cTn id="46" dur="420" fill="hold"/>
                                        <p:tgtEl>
                                          <p:spTgt spid="17"/>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5"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36" decel="100000"/>
                                        <p:tgtEl>
                                          <p:spTgt spid="18"/>
                                        </p:tgtEl>
                                      </p:cBhvr>
                                    </p:animEffect>
                                    <p:anim calcmode="lin" valueType="num">
                                      <p:cBhvr>
                                        <p:cTn id="51" dur="336" decel="100000" fill="hold"/>
                                        <p:tgtEl>
                                          <p:spTgt spid="18"/>
                                        </p:tgtEl>
                                        <p:attrNameLst>
                                          <p:attrName>style.rotation</p:attrName>
                                        </p:attrNameLst>
                                      </p:cBhvr>
                                      <p:tavLst>
                                        <p:tav tm="0">
                                          <p:val>
                                            <p:fltVal val="-90"/>
                                          </p:val>
                                        </p:tav>
                                        <p:tav tm="100000">
                                          <p:val>
                                            <p:fltVal val="0"/>
                                          </p:val>
                                        </p:tav>
                                      </p:tavLst>
                                    </p:anim>
                                    <p:anim calcmode="lin" valueType="num">
                                      <p:cBhvr>
                                        <p:cTn id="52" dur="336" decel="100000" fill="hold"/>
                                        <p:tgtEl>
                                          <p:spTgt spid="18"/>
                                        </p:tgtEl>
                                        <p:attrNameLst>
                                          <p:attrName>ppt_x</p:attrName>
                                        </p:attrNameLst>
                                      </p:cBhvr>
                                      <p:tavLst>
                                        <p:tav tm="0">
                                          <p:val>
                                            <p:strVal val="#ppt_x+0.4"/>
                                          </p:val>
                                        </p:tav>
                                        <p:tav tm="100000">
                                          <p:val>
                                            <p:strVal val="#ppt_x-0.05"/>
                                          </p:val>
                                        </p:tav>
                                      </p:tavLst>
                                    </p:anim>
                                    <p:anim calcmode="lin" valueType="num">
                                      <p:cBhvr>
                                        <p:cTn id="53" dur="336" decel="100000" fill="hold"/>
                                        <p:tgtEl>
                                          <p:spTgt spid="18"/>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18"/>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18"/>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37" presetClass="entr" presetSubtype="0" fill="hold" grpId="3" nodeType="after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20"/>
                                        <p:tgtEl>
                                          <p:spTgt spid="21"/>
                                        </p:tgtEl>
                                      </p:cBhvr>
                                    </p:animEffect>
                                    <p:anim calcmode="lin" valueType="num">
                                      <p:cBhvr>
                                        <p:cTn id="60" dur="420" fill="hold"/>
                                        <p:tgtEl>
                                          <p:spTgt spid="21"/>
                                        </p:tgtEl>
                                        <p:attrNameLst>
                                          <p:attrName>ppt_x</p:attrName>
                                        </p:attrNameLst>
                                      </p:cBhvr>
                                      <p:tavLst>
                                        <p:tav tm="0">
                                          <p:val>
                                            <p:strVal val="#ppt_x"/>
                                          </p:val>
                                        </p:tav>
                                        <p:tav tm="100000">
                                          <p:val>
                                            <p:strVal val="#ppt_x"/>
                                          </p:val>
                                        </p:tav>
                                      </p:tavLst>
                                    </p:anim>
                                    <p:anim calcmode="lin" valueType="num">
                                      <p:cBhvr>
                                        <p:cTn id="61" dur="378" decel="100000" fill="hold"/>
                                        <p:tgtEl>
                                          <p:spTgt spid="21"/>
                                        </p:tgtEl>
                                        <p:attrNameLst>
                                          <p:attrName>ppt_y</p:attrName>
                                        </p:attrNameLst>
                                      </p:cBhvr>
                                      <p:tavLst>
                                        <p:tav tm="0">
                                          <p:val>
                                            <p:strVal val="#ppt_y+1"/>
                                          </p:val>
                                        </p:tav>
                                        <p:tav tm="100000">
                                          <p:val>
                                            <p:strVal val="#ppt_y-.03"/>
                                          </p:val>
                                        </p:tav>
                                      </p:tavLst>
                                    </p:anim>
                                    <p:anim calcmode="lin" valueType="num">
                                      <p:cBhvr>
                                        <p:cTn id="62" dur="42" accel="100000" fill="hold">
                                          <p:stCondLst>
                                            <p:cond delay="378"/>
                                          </p:stCondLst>
                                        </p:cTn>
                                        <p:tgtEl>
                                          <p:spTgt spid="21"/>
                                        </p:tgtEl>
                                        <p:attrNameLst>
                                          <p:attrName>ppt_y</p:attrName>
                                        </p:attrNameLst>
                                      </p:cBhvr>
                                      <p:tavLst>
                                        <p:tav tm="0">
                                          <p:val>
                                            <p:strVal val="#ppt_y-.03"/>
                                          </p:val>
                                        </p:tav>
                                        <p:tav tm="100000">
                                          <p:val>
                                            <p:strVal val="#ppt_y"/>
                                          </p:val>
                                        </p:tav>
                                      </p:tavLst>
                                    </p:anim>
                                  </p:childTnLst>
                                </p:cTn>
                              </p:par>
                            </p:childTnLst>
                          </p:cTn>
                        </p:par>
                        <p:par>
                          <p:cTn id="63" fill="hold">
                            <p:stCondLst>
                              <p:cond delay="5000"/>
                            </p:stCondLst>
                            <p:childTnLst>
                              <p:par>
                                <p:cTn id="64" presetID="10" presetClass="entr" presetSubtype="0" fill="hold" grpId="3" nodeType="afterEffect">
                                  <p:stCondLst>
                                    <p:cond delay="0"/>
                                  </p:stCondLst>
                                  <p:childTnLst>
                                    <p:set>
                                      <p:cBhvr>
                                        <p:cTn id="65" dur="420" fill="hold">
                                          <p:stCondLst>
                                            <p:cond delay="0"/>
                                          </p:stCondLst>
                                        </p:cTn>
                                        <p:tgtEl>
                                          <p:spTgt spid="22"/>
                                        </p:tgtEl>
                                        <p:attrNameLst>
                                          <p:attrName>style.visibility</p:attrName>
                                        </p:attrNameLst>
                                      </p:cBhvr>
                                      <p:to>
                                        <p:strVal val="visible"/>
                                      </p:to>
                                    </p:set>
                                    <p:animEffect transition="in" filter="fade">
                                      <p:cBhvr>
                                        <p:cTn id="66" dur="420"/>
                                        <p:tgtEl>
                                          <p:spTgt spid="22"/>
                                        </p:tgtEl>
                                      </p:cBhvr>
                                    </p:animEffect>
                                  </p:childTnLst>
                                </p:cTn>
                              </p:par>
                            </p:childTnLst>
                          </p:cTn>
                        </p:par>
                        <p:par>
                          <p:cTn id="67" fill="hold">
                            <p:stCondLst>
                              <p:cond delay="5500"/>
                            </p:stCondLst>
                            <p:childTnLst>
                              <p:par>
                                <p:cTn id="68" presetID="23" presetClass="entr" presetSubtype="16" fill="hold" grpId="3" nodeType="afterEffect">
                                  <p:stCondLst>
                                    <p:cond delay="0"/>
                                  </p:stCondLst>
                                  <p:childTnLst>
                                    <p:set>
                                      <p:cBhvr>
                                        <p:cTn id="69" dur="420" fill="hold">
                                          <p:stCondLst>
                                            <p:cond delay="0"/>
                                          </p:stCondLst>
                                        </p:cTn>
                                        <p:tgtEl>
                                          <p:spTgt spid="24"/>
                                        </p:tgtEl>
                                        <p:attrNameLst>
                                          <p:attrName>style.visibility</p:attrName>
                                        </p:attrNameLst>
                                      </p:cBhvr>
                                      <p:to>
                                        <p:strVal val="visible"/>
                                      </p:to>
                                    </p:set>
                                    <p:anim calcmode="lin" valueType="num">
                                      <p:cBhvr>
                                        <p:cTn id="70" dur="420" fill="hold"/>
                                        <p:tgtEl>
                                          <p:spTgt spid="24"/>
                                        </p:tgtEl>
                                        <p:attrNameLst>
                                          <p:attrName>ppt_w</p:attrName>
                                        </p:attrNameLst>
                                      </p:cBhvr>
                                      <p:tavLst>
                                        <p:tav tm="0">
                                          <p:val>
                                            <p:fltVal val="0"/>
                                          </p:val>
                                        </p:tav>
                                        <p:tav tm="100000">
                                          <p:val>
                                            <p:strVal val="#ppt_w"/>
                                          </p:val>
                                        </p:tav>
                                      </p:tavLst>
                                    </p:anim>
                                    <p:anim calcmode="lin" valueType="num">
                                      <p:cBhvr>
                                        <p:cTn id="71" dur="420" fill="hold"/>
                                        <p:tgtEl>
                                          <p:spTgt spid="2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6" grpId="2" uiExpand="1" build="allAtOnce"/>
      <p:bldP spid="8" grpId="3" uiExpand="1" build="allAtOnce"/>
      <p:bldP spid="9" grpId="4" uiExpand="1" build="allAtOnce"/>
      <p:bldP spid="10" grpId="5" uiExpand="1" build="allAtOnce"/>
      <p:bldP spid="12" grpId="6" uiExpand="1" build="allAtOnce"/>
      <p:bldP spid="13" grpId="7" uiExpand="1" build="allAtOnce"/>
      <p:bldP spid="14" grpId="8" uiExpand="1" build="allAtOnce"/>
      <p:bldP spid="16" grpId="9" uiExpand="1" build="allAtOnce"/>
      <p:bldP spid="17" grpId="10" uiExpand="1" build="allAtOnce"/>
      <p:bldP spid="18" grpId="11" uiExpand="1" build="allAtOnce"/>
      <p:bldP spid="20" grpId="12" uiExpand="1" build="allAtOnce"/>
      <p:bldP spid="3" grpId="0"/>
      <p:bldP spid="4" grpId="2"/>
      <p:bldP spid="6" grpId="3"/>
      <p:bldP spid="7" grpId="0" animBg="1"/>
      <p:bldP spid="9" grpId="5"/>
      <p:bldP spid="10" grpId="6"/>
      <p:bldP spid="11" grpId="0" animBg="1"/>
      <p:bldP spid="13" grpId="8"/>
      <p:bldP spid="14" grpId="9"/>
      <p:bldP spid="3" grpId="1"/>
      <p:bldP spid="4" grpId="3"/>
      <p:bldP spid="6" grpId="4"/>
      <p:bldP spid="9" grpId="6"/>
      <p:bldP spid="13" grpId="9"/>
      <p:bldP spid="17" grpId="11"/>
      <p:bldP spid="21" grpId="0"/>
      <p:bldP spid="10" grpId="7"/>
      <p:bldP spid="14" grpId="10"/>
      <p:bldP spid="18" grpId="12"/>
      <p:bldP spid="22" grpId="0"/>
      <p:bldP spid="24" grpId="0"/>
      <p:bldP spid="3" grpId="2"/>
      <p:bldP spid="4" grpId="4"/>
      <p:bldP spid="6" grpId="5"/>
      <p:bldP spid="9" grpId="7"/>
      <p:bldP spid="13" grpId="10"/>
      <p:bldP spid="17" grpId="12"/>
      <p:bldP spid="21" grpId="1"/>
      <p:bldP spid="10" grpId="8"/>
      <p:bldP spid="14" grpId="11"/>
      <p:bldP spid="18" grpId="13"/>
      <p:bldP spid="22" grpId="1"/>
      <p:bldP spid="24" grpId="1"/>
      <p:bldP spid="3" grpId="3"/>
      <p:bldP spid="4" grpId="5"/>
      <p:bldP spid="6" grpId="6"/>
      <p:bldP spid="9" grpId="8"/>
      <p:bldP spid="10" grpId="9"/>
      <p:bldP spid="14" grpId="12"/>
      <p:bldP spid="13" grpId="11"/>
      <p:bldP spid="17" grpId="13"/>
      <p:bldP spid="18" grpId="14"/>
      <p:bldP spid="21" grpId="2"/>
      <p:bldP spid="22" grpId="2"/>
      <p:bldP spid="24" grpId="2"/>
      <p:bldP spid="3" grpId="4"/>
      <p:bldP spid="4" grpId="6"/>
      <p:bldP spid="6" grpId="7"/>
      <p:bldP spid="9" grpId="9"/>
      <p:bldP spid="10" grpId="10"/>
      <p:bldP spid="14" grpId="13"/>
      <p:bldP spid="13" grpId="12"/>
      <p:bldP spid="17" grpId="14"/>
      <p:bldP spid="18" grpId="15"/>
      <p:bldP spid="21" grpId="3"/>
      <p:bldP spid="22" grpId="3"/>
      <p:bldP spid="24" grpId="3"/>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7F3EA"/>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08 现实矛盾</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现实中为什么会有人怀疑？因为矛盾确实存在</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731520" y="1353312"/>
            <a:ext cx="3310128" cy="987552"/>
          </a:xfrm>
          <a:prstGeom prst="roundRect">
            <a:avLst/>
          </a:prstGeom>
          <a:solidFill>
            <a:srgbClr val="FFFDF7"/>
          </a:solidFill>
          <a:ln w="12700">
            <a:solidFill>
              <a:srgbClr val="E4DED2"/>
            </a:solidFill>
          </a:ln>
        </p:spPr>
        <p:txBody>
          <a:bodyPr/>
          <a:lstStyle/>
          <a:p/>
        </p:txBody>
      </p:sp>
      <p:sp>
        <p:nvSpPr>
          <p:cNvPr id="7" name="Shape"/>
          <p:cNvSpPr/>
          <p:nvPr/>
        </p:nvSpPr>
        <p:spPr>
          <a:xfrm>
            <a:off x="731520" y="1353312"/>
            <a:ext cx="50292" cy="987552"/>
          </a:xfrm>
          <a:prstGeom prst="rect">
            <a:avLst/>
          </a:prstGeom>
          <a:solidFill>
            <a:srgbClr val="B91C1C"/>
          </a:solidFill>
          <a:ln>
            <a:noFill/>
          </a:ln>
        </p:spPr>
        <p:txBody>
          <a:bodyPr/>
          <a:lstStyle/>
          <a:p/>
        </p:txBody>
      </p:sp>
      <p:sp>
        <p:nvSpPr>
          <p:cNvPr id="8" name="Text"/>
          <p:cNvSpPr txBox="1"/>
          <p:nvPr/>
        </p:nvSpPr>
        <p:spPr>
          <a:xfrm>
            <a:off x="950976" y="1517904"/>
            <a:ext cx="2898648"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收入差距</a:t>
            </a:r>
            <a:endParaRPr lang="zh-CN" sz="1050" b="1">
              <a:solidFill>
                <a:srgbClr val="15202B"/>
              </a:solidFill>
              <a:latin typeface="微软雅黑" panose="020B0503020204020204" charset="-122"/>
              <a:ea typeface="微软雅黑" panose="020B0503020204020204" charset="-122"/>
            </a:endParaRPr>
          </a:p>
        </p:txBody>
      </p:sp>
      <p:sp>
        <p:nvSpPr>
          <p:cNvPr id="9" name="Text"/>
          <p:cNvSpPr txBox="1"/>
          <p:nvPr/>
        </p:nvSpPr>
        <p:spPr>
          <a:xfrm>
            <a:off x="950976" y="1865376"/>
            <a:ext cx="2898648" cy="393192"/>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地区、城乡、行业、资产差距仍然明显。</a:t>
            </a:r>
            <a:endParaRPr lang="zh-CN" sz="780" b="0">
              <a:solidFill>
                <a:srgbClr val="697586"/>
              </a:solidFill>
              <a:latin typeface="微软雅黑" panose="020B0503020204020204" charset="-122"/>
              <a:ea typeface="微软雅黑" panose="020B0503020204020204" charset="-122"/>
            </a:endParaRPr>
          </a:p>
        </p:txBody>
      </p:sp>
      <p:sp>
        <p:nvSpPr>
          <p:cNvPr id="10" name="Shape"/>
          <p:cNvSpPr/>
          <p:nvPr/>
        </p:nvSpPr>
        <p:spPr>
          <a:xfrm>
            <a:off x="4434840" y="1353312"/>
            <a:ext cx="3310128" cy="987552"/>
          </a:xfrm>
          <a:prstGeom prst="roundRect">
            <a:avLst/>
          </a:prstGeom>
          <a:solidFill>
            <a:srgbClr val="FFFDF7"/>
          </a:solidFill>
          <a:ln w="12700">
            <a:solidFill>
              <a:srgbClr val="E4DED2"/>
            </a:solidFill>
          </a:ln>
        </p:spPr>
        <p:txBody>
          <a:bodyPr/>
          <a:lstStyle/>
          <a:p/>
        </p:txBody>
      </p:sp>
      <p:sp>
        <p:nvSpPr>
          <p:cNvPr id="11" name="Shape"/>
          <p:cNvSpPr/>
          <p:nvPr/>
        </p:nvSpPr>
        <p:spPr>
          <a:xfrm>
            <a:off x="4434840" y="1353312"/>
            <a:ext cx="50292" cy="987552"/>
          </a:xfrm>
          <a:prstGeom prst="rect">
            <a:avLst/>
          </a:prstGeom>
          <a:solidFill>
            <a:srgbClr val="D6A13B"/>
          </a:solidFill>
          <a:ln>
            <a:noFill/>
          </a:ln>
        </p:spPr>
        <p:txBody>
          <a:bodyPr/>
          <a:lstStyle/>
          <a:p/>
        </p:txBody>
      </p:sp>
      <p:sp>
        <p:nvSpPr>
          <p:cNvPr id="12" name="Text"/>
          <p:cNvSpPr txBox="1"/>
          <p:nvPr/>
        </p:nvSpPr>
        <p:spPr>
          <a:xfrm>
            <a:off x="4654296" y="1517904"/>
            <a:ext cx="2898648"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资本扩张</a:t>
            </a:r>
            <a:endParaRPr lang="zh-CN" sz="1050" b="1">
              <a:solidFill>
                <a:srgbClr val="15202B"/>
              </a:solidFill>
              <a:latin typeface="微软雅黑" panose="020B0503020204020204" charset="-122"/>
              <a:ea typeface="微软雅黑" panose="020B0503020204020204" charset="-122"/>
            </a:endParaRPr>
          </a:p>
        </p:txBody>
      </p:sp>
      <p:sp>
        <p:nvSpPr>
          <p:cNvPr id="13" name="Text"/>
          <p:cNvSpPr txBox="1"/>
          <p:nvPr/>
        </p:nvSpPr>
        <p:spPr>
          <a:xfrm>
            <a:off x="4654296" y="1865376"/>
            <a:ext cx="2898648" cy="393192"/>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平台经济、房地产和金融领域曾出现高杠杆与垄断问题。</a:t>
            </a:r>
            <a:endParaRPr lang="zh-CN" sz="780" b="0">
              <a:solidFill>
                <a:srgbClr val="697586"/>
              </a:solidFill>
              <a:latin typeface="微软雅黑" panose="020B0503020204020204" charset="-122"/>
              <a:ea typeface="微软雅黑" panose="020B0503020204020204" charset="-122"/>
            </a:endParaRPr>
          </a:p>
        </p:txBody>
      </p:sp>
      <p:sp>
        <p:nvSpPr>
          <p:cNvPr id="14" name="Shape"/>
          <p:cNvSpPr/>
          <p:nvPr/>
        </p:nvSpPr>
        <p:spPr>
          <a:xfrm>
            <a:off x="8138160" y="1353312"/>
            <a:ext cx="3310128" cy="987552"/>
          </a:xfrm>
          <a:prstGeom prst="roundRect">
            <a:avLst/>
          </a:prstGeom>
          <a:solidFill>
            <a:srgbClr val="FFFDF7"/>
          </a:solidFill>
          <a:ln w="12700">
            <a:solidFill>
              <a:srgbClr val="E4DED2"/>
            </a:solidFill>
          </a:ln>
        </p:spPr>
        <p:txBody>
          <a:bodyPr/>
          <a:lstStyle/>
          <a:p/>
        </p:txBody>
      </p:sp>
      <p:sp>
        <p:nvSpPr>
          <p:cNvPr id="15" name="Shape"/>
          <p:cNvSpPr/>
          <p:nvPr/>
        </p:nvSpPr>
        <p:spPr>
          <a:xfrm>
            <a:off x="8138160" y="1353312"/>
            <a:ext cx="50292" cy="987552"/>
          </a:xfrm>
          <a:prstGeom prst="rect">
            <a:avLst/>
          </a:prstGeom>
          <a:solidFill>
            <a:srgbClr val="2563EB"/>
          </a:solidFill>
          <a:ln>
            <a:noFill/>
          </a:ln>
        </p:spPr>
        <p:txBody>
          <a:bodyPr/>
          <a:lstStyle/>
          <a:p/>
        </p:txBody>
      </p:sp>
      <p:sp>
        <p:nvSpPr>
          <p:cNvPr id="16" name="Text"/>
          <p:cNvSpPr txBox="1"/>
          <p:nvPr/>
        </p:nvSpPr>
        <p:spPr>
          <a:xfrm>
            <a:off x="8357616" y="1517904"/>
            <a:ext cx="2898648"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公共服务不均衡</a:t>
            </a:r>
            <a:endParaRPr lang="zh-CN" sz="1050" b="1">
              <a:solidFill>
                <a:srgbClr val="15202B"/>
              </a:solidFill>
              <a:latin typeface="微软雅黑" panose="020B0503020204020204" charset="-122"/>
              <a:ea typeface="微软雅黑" panose="020B0503020204020204" charset="-122"/>
            </a:endParaRPr>
          </a:p>
        </p:txBody>
      </p:sp>
      <p:sp>
        <p:nvSpPr>
          <p:cNvPr id="17" name="Text"/>
          <p:cNvSpPr txBox="1"/>
          <p:nvPr/>
        </p:nvSpPr>
        <p:spPr>
          <a:xfrm>
            <a:off x="8357616" y="1865376"/>
            <a:ext cx="2898648" cy="393192"/>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优质教育、医疗、养老资源仍有区域差异。</a:t>
            </a:r>
            <a:endParaRPr lang="zh-CN" sz="780" b="0">
              <a:solidFill>
                <a:srgbClr val="697586"/>
              </a:solidFill>
              <a:latin typeface="微软雅黑" panose="020B0503020204020204" charset="-122"/>
              <a:ea typeface="微软雅黑" panose="020B0503020204020204" charset="-122"/>
            </a:endParaRPr>
          </a:p>
        </p:txBody>
      </p:sp>
      <p:sp>
        <p:nvSpPr>
          <p:cNvPr id="18" name="Shape"/>
          <p:cNvSpPr/>
          <p:nvPr/>
        </p:nvSpPr>
        <p:spPr>
          <a:xfrm>
            <a:off x="731520" y="2889504"/>
            <a:ext cx="3310128" cy="987552"/>
          </a:xfrm>
          <a:prstGeom prst="roundRect">
            <a:avLst/>
          </a:prstGeom>
          <a:solidFill>
            <a:srgbClr val="FFFDF7"/>
          </a:solidFill>
          <a:ln w="12700">
            <a:solidFill>
              <a:srgbClr val="E4DED2"/>
            </a:solidFill>
          </a:ln>
        </p:spPr>
        <p:txBody>
          <a:bodyPr/>
          <a:lstStyle/>
          <a:p/>
        </p:txBody>
      </p:sp>
      <p:sp>
        <p:nvSpPr>
          <p:cNvPr id="19" name="Shape"/>
          <p:cNvSpPr/>
          <p:nvPr/>
        </p:nvSpPr>
        <p:spPr>
          <a:xfrm>
            <a:off x="731520" y="2889504"/>
            <a:ext cx="50292" cy="987552"/>
          </a:xfrm>
          <a:prstGeom prst="rect">
            <a:avLst/>
          </a:prstGeom>
          <a:solidFill>
            <a:srgbClr val="00A6A6"/>
          </a:solidFill>
          <a:ln>
            <a:noFill/>
          </a:ln>
        </p:spPr>
        <p:txBody>
          <a:bodyPr/>
          <a:lstStyle/>
          <a:p/>
        </p:txBody>
      </p:sp>
      <p:sp>
        <p:nvSpPr>
          <p:cNvPr id="20" name="Text"/>
          <p:cNvSpPr txBox="1"/>
          <p:nvPr/>
        </p:nvSpPr>
        <p:spPr>
          <a:xfrm>
            <a:off x="950976" y="3054096"/>
            <a:ext cx="2898648"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就业压力</a:t>
            </a:r>
            <a:endParaRPr lang="zh-CN" sz="1050" b="1">
              <a:solidFill>
                <a:srgbClr val="15202B"/>
              </a:solidFill>
              <a:latin typeface="微软雅黑" panose="020B0503020204020204" charset="-122"/>
              <a:ea typeface="微软雅黑" panose="020B0503020204020204" charset="-122"/>
            </a:endParaRPr>
          </a:p>
        </p:txBody>
      </p:sp>
      <p:sp>
        <p:nvSpPr>
          <p:cNvPr id="21" name="Text"/>
          <p:cNvSpPr txBox="1"/>
          <p:nvPr/>
        </p:nvSpPr>
        <p:spPr>
          <a:xfrm>
            <a:off x="950976" y="3401568"/>
            <a:ext cx="2898648" cy="393192"/>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青年就业、产业转型和技能错配带来新的焦虑。</a:t>
            </a:r>
            <a:endParaRPr lang="zh-CN" sz="780" b="0">
              <a:solidFill>
                <a:srgbClr val="697586"/>
              </a:solidFill>
              <a:latin typeface="微软雅黑" panose="020B0503020204020204" charset="-122"/>
              <a:ea typeface="微软雅黑" panose="020B0503020204020204" charset="-122"/>
            </a:endParaRPr>
          </a:p>
        </p:txBody>
      </p:sp>
      <p:sp>
        <p:nvSpPr>
          <p:cNvPr id="22" name="Shape"/>
          <p:cNvSpPr/>
          <p:nvPr/>
        </p:nvSpPr>
        <p:spPr>
          <a:xfrm>
            <a:off x="4434840" y="2889504"/>
            <a:ext cx="3310128" cy="987552"/>
          </a:xfrm>
          <a:prstGeom prst="roundRect">
            <a:avLst/>
          </a:prstGeom>
          <a:solidFill>
            <a:srgbClr val="FFFDF7"/>
          </a:solidFill>
          <a:ln w="12700">
            <a:solidFill>
              <a:srgbClr val="E4DED2"/>
            </a:solidFill>
          </a:ln>
        </p:spPr>
        <p:txBody>
          <a:bodyPr/>
          <a:lstStyle/>
          <a:p/>
        </p:txBody>
      </p:sp>
      <p:sp>
        <p:nvSpPr>
          <p:cNvPr id="23" name="Shape"/>
          <p:cNvSpPr/>
          <p:nvPr/>
        </p:nvSpPr>
        <p:spPr>
          <a:xfrm>
            <a:off x="4434840" y="2889504"/>
            <a:ext cx="50292" cy="987552"/>
          </a:xfrm>
          <a:prstGeom prst="rect">
            <a:avLst/>
          </a:prstGeom>
          <a:solidFill>
            <a:srgbClr val="16825D"/>
          </a:solidFill>
          <a:ln>
            <a:noFill/>
          </a:ln>
        </p:spPr>
        <p:txBody>
          <a:bodyPr/>
          <a:lstStyle/>
          <a:p/>
        </p:txBody>
      </p:sp>
      <p:sp>
        <p:nvSpPr>
          <p:cNvPr id="24" name="Text"/>
          <p:cNvSpPr txBox="1"/>
          <p:nvPr/>
        </p:nvSpPr>
        <p:spPr>
          <a:xfrm>
            <a:off x="4654296" y="3054096"/>
            <a:ext cx="2898648"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地方财政压力</a:t>
            </a:r>
            <a:endParaRPr lang="zh-CN" sz="1050" b="1">
              <a:solidFill>
                <a:srgbClr val="15202B"/>
              </a:solidFill>
              <a:latin typeface="微软雅黑" panose="020B0503020204020204" charset="-122"/>
              <a:ea typeface="微软雅黑" panose="020B0503020204020204" charset="-122"/>
            </a:endParaRPr>
          </a:p>
        </p:txBody>
      </p:sp>
      <p:sp>
        <p:nvSpPr>
          <p:cNvPr id="25" name="Text"/>
          <p:cNvSpPr txBox="1"/>
          <p:nvPr/>
        </p:nvSpPr>
        <p:spPr>
          <a:xfrm>
            <a:off x="4654296" y="3401568"/>
            <a:ext cx="2898648" cy="393192"/>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公共服务和债务约束之间存在张力。</a:t>
            </a:r>
            <a:endParaRPr lang="zh-CN" sz="780" b="0">
              <a:solidFill>
                <a:srgbClr val="697586"/>
              </a:solidFill>
              <a:latin typeface="微软雅黑" panose="020B0503020204020204" charset="-122"/>
              <a:ea typeface="微软雅黑" panose="020B0503020204020204" charset="-122"/>
            </a:endParaRPr>
          </a:p>
        </p:txBody>
      </p:sp>
      <p:sp>
        <p:nvSpPr>
          <p:cNvPr id="26" name="Shape"/>
          <p:cNvSpPr/>
          <p:nvPr/>
        </p:nvSpPr>
        <p:spPr>
          <a:xfrm>
            <a:off x="8138160" y="2889504"/>
            <a:ext cx="3310128" cy="987552"/>
          </a:xfrm>
          <a:prstGeom prst="roundRect">
            <a:avLst/>
          </a:prstGeom>
          <a:solidFill>
            <a:srgbClr val="FFFDF7"/>
          </a:solidFill>
          <a:ln w="12700">
            <a:solidFill>
              <a:srgbClr val="E4DED2"/>
            </a:solidFill>
          </a:ln>
        </p:spPr>
        <p:txBody>
          <a:bodyPr/>
          <a:lstStyle/>
          <a:p/>
        </p:txBody>
      </p:sp>
      <p:sp>
        <p:nvSpPr>
          <p:cNvPr id="27" name="Shape"/>
          <p:cNvSpPr/>
          <p:nvPr/>
        </p:nvSpPr>
        <p:spPr>
          <a:xfrm>
            <a:off x="8138160" y="2889504"/>
            <a:ext cx="50292" cy="987552"/>
          </a:xfrm>
          <a:prstGeom prst="rect">
            <a:avLst/>
          </a:prstGeom>
          <a:solidFill>
            <a:srgbClr val="15202B"/>
          </a:solidFill>
          <a:ln>
            <a:noFill/>
          </a:ln>
        </p:spPr>
        <p:txBody>
          <a:bodyPr/>
          <a:lstStyle/>
          <a:p/>
        </p:txBody>
      </p:sp>
      <p:sp>
        <p:nvSpPr>
          <p:cNvPr id="28" name="Text"/>
          <p:cNvSpPr txBox="1"/>
          <p:nvPr/>
        </p:nvSpPr>
        <p:spPr>
          <a:xfrm>
            <a:off x="8357616" y="3054096"/>
            <a:ext cx="2898648"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国际竞争</a:t>
            </a:r>
            <a:endParaRPr lang="zh-CN" sz="1050" b="1">
              <a:solidFill>
                <a:srgbClr val="15202B"/>
              </a:solidFill>
              <a:latin typeface="微软雅黑" panose="020B0503020204020204" charset="-122"/>
              <a:ea typeface="微软雅黑" panose="020B0503020204020204" charset="-122"/>
            </a:endParaRPr>
          </a:p>
        </p:txBody>
      </p:sp>
      <p:sp>
        <p:nvSpPr>
          <p:cNvPr id="29" name="Text"/>
          <p:cNvSpPr txBox="1"/>
          <p:nvPr/>
        </p:nvSpPr>
        <p:spPr>
          <a:xfrm>
            <a:off x="8357616" y="3401568"/>
            <a:ext cx="2898648" cy="393192"/>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外部技术限制和贸易摩擦加大政策选择难度。</a:t>
            </a:r>
            <a:endParaRPr lang="zh-CN" sz="780" b="0">
              <a:solidFill>
                <a:srgbClr val="697586"/>
              </a:solidFill>
              <a:latin typeface="微软雅黑" panose="020B0503020204020204" charset="-122"/>
              <a:ea typeface="微软雅黑" panose="020B0503020204020204" charset="-122"/>
            </a:endParaRPr>
          </a:p>
        </p:txBody>
      </p:sp>
      <p:sp>
        <p:nvSpPr>
          <p:cNvPr id="30" name="Text"/>
          <p:cNvSpPr txBox="1"/>
          <p:nvPr/>
        </p:nvSpPr>
        <p:spPr>
          <a:xfrm>
            <a:off x="1051560" y="5166360"/>
            <a:ext cx="9875520" cy="274320"/>
          </a:xfrm>
          <a:prstGeom prst="rect">
            <a:avLst/>
          </a:prstGeom>
          <a:noFill/>
          <a:ln>
            <a:noFill/>
          </a:ln>
        </p:spPr>
        <p:txBody>
          <a:bodyPr wrap="square" anchor="t">
            <a:spAutoFit/>
          </a:bodyPr>
          <a:lstStyle/>
          <a:p>
            <a:pPr algn="ctr"/>
            <a:r>
              <a:rPr lang="zh-CN" sz="1500" b="1">
                <a:solidFill>
                  <a:srgbClr val="15202B"/>
                </a:solidFill>
                <a:latin typeface="微软雅黑" panose="020B0503020204020204" charset="-122"/>
                <a:ea typeface="微软雅黑" panose="020B0503020204020204" charset="-122"/>
              </a:rPr>
              <a:t>承认矛盾，不等于否定方向；关键要看制度如何回应矛盾。</a:t>
            </a:r>
            <a:endParaRPr lang="zh-CN" sz="1500" b="1">
              <a:solidFill>
                <a:srgbClr val="15202B"/>
              </a:solidFill>
              <a:latin typeface="微软雅黑" panose="020B0503020204020204" charset="-122"/>
              <a:ea typeface="微软雅黑" panose="020B0503020204020204" charset="-122"/>
            </a:endParaRPr>
          </a:p>
        </p:txBody>
      </p:sp>
      <p:sp>
        <p:nvSpPr>
          <p:cNvPr id="31"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资料来源：公开资料整理；宪法、二十大报告、二十届三中全会决定、财政部等</a:t>
            </a:r>
            <a:endParaRPr lang="zh-CN" sz="550" b="0">
              <a:solidFill>
                <a:srgbClr val="8C939D"/>
              </a:solidFill>
              <a:latin typeface="微软雅黑" panose="020B0503020204020204" charset="-122"/>
              <a:ea typeface="微软雅黑" panose="020B0503020204020204" charset="-122"/>
            </a:endParaRPr>
          </a:p>
        </p:txBody>
      </p:sp>
      <p:sp>
        <p:nvSpPr>
          <p:cNvPr id="32"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 presetClass="entr" presetSubtype="4" fill="hold" grpId="8" nodeType="afterEffect">
                                  <p:stCondLst>
                                    <p:cond delay="0"/>
                                  </p:stCondLst>
                                  <p:childTnLst>
                                    <p:set>
                                      <p:cBhvr>
                                        <p:cTn id="15" dur="420" fill="hold">
                                          <p:stCondLst>
                                            <p:cond delay="0"/>
                                          </p:stCondLst>
                                        </p:cTn>
                                        <p:tgtEl>
                                          <p:spTgt spid="8"/>
                                        </p:tgtEl>
                                        <p:attrNameLst>
                                          <p:attrName>style.visibility</p:attrName>
                                        </p:attrNameLst>
                                      </p:cBhvr>
                                      <p:to>
                                        <p:strVal val="visible"/>
                                      </p:to>
                                    </p:set>
                                    <p:anim calcmode="lin" valueType="num">
                                      <p:cBhvr additive="base">
                                        <p:cTn id="16" dur="420" fill="hold"/>
                                        <p:tgtEl>
                                          <p:spTgt spid="8"/>
                                        </p:tgtEl>
                                        <p:attrNameLst>
                                          <p:attrName>ppt_x</p:attrName>
                                        </p:attrNameLst>
                                      </p:cBhvr>
                                      <p:tavLst>
                                        <p:tav tm="0">
                                          <p:val>
                                            <p:strVal val="#ppt_x"/>
                                          </p:val>
                                        </p:tav>
                                        <p:tav tm="100000">
                                          <p:val>
                                            <p:strVal val="#ppt_x"/>
                                          </p:val>
                                        </p:tav>
                                      </p:tavLst>
                                    </p:anim>
                                    <p:anim calcmode="lin" valueType="num">
                                      <p:cBhvr additive="base">
                                        <p:cTn id="17" dur="420" fill="hold"/>
                                        <p:tgtEl>
                                          <p:spTgt spid="8"/>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9"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36" decel="100000"/>
                                        <p:tgtEl>
                                          <p:spTgt spid="9"/>
                                        </p:tgtEl>
                                      </p:cBhvr>
                                    </p:animEffect>
                                    <p:anim calcmode="lin" valueType="num">
                                      <p:cBhvr>
                                        <p:cTn id="22" dur="336" decel="100000" fill="hold"/>
                                        <p:tgtEl>
                                          <p:spTgt spid="9"/>
                                        </p:tgtEl>
                                        <p:attrNameLst>
                                          <p:attrName>style.rotation</p:attrName>
                                        </p:attrNameLst>
                                      </p:cBhvr>
                                      <p:tavLst>
                                        <p:tav tm="0">
                                          <p:val>
                                            <p:fltVal val="-90"/>
                                          </p:val>
                                        </p:tav>
                                        <p:tav tm="100000">
                                          <p:val>
                                            <p:fltVal val="0"/>
                                          </p:val>
                                        </p:tav>
                                      </p:tavLst>
                                    </p:anim>
                                    <p:anim calcmode="lin" valueType="num">
                                      <p:cBhvr>
                                        <p:cTn id="23" dur="336" decel="100000" fill="hold"/>
                                        <p:tgtEl>
                                          <p:spTgt spid="9"/>
                                        </p:tgtEl>
                                        <p:attrNameLst>
                                          <p:attrName>ppt_x</p:attrName>
                                        </p:attrNameLst>
                                      </p:cBhvr>
                                      <p:tavLst>
                                        <p:tav tm="0">
                                          <p:val>
                                            <p:strVal val="#ppt_x+0.4"/>
                                          </p:val>
                                        </p:tav>
                                        <p:tav tm="100000">
                                          <p:val>
                                            <p:strVal val="#ppt_x-0.05"/>
                                          </p:val>
                                        </p:tav>
                                      </p:tavLst>
                                    </p:anim>
                                    <p:anim calcmode="lin" valueType="num">
                                      <p:cBhvr>
                                        <p:cTn id="24" dur="336" decel="100000" fill="hold"/>
                                        <p:tgtEl>
                                          <p:spTgt spid="9"/>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9"/>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9"/>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16"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20"/>
                                        <p:tgtEl>
                                          <p:spTgt spid="20"/>
                                        </p:tgtEl>
                                      </p:cBhvr>
                                    </p:animEffect>
                                    <p:anim calcmode="lin" valueType="num">
                                      <p:cBhvr>
                                        <p:cTn id="31" dur="420" fill="hold"/>
                                        <p:tgtEl>
                                          <p:spTgt spid="20"/>
                                        </p:tgtEl>
                                        <p:attrNameLst>
                                          <p:attrName>ppt_x</p:attrName>
                                        </p:attrNameLst>
                                      </p:cBhvr>
                                      <p:tavLst>
                                        <p:tav tm="0">
                                          <p:val>
                                            <p:strVal val="#ppt_x"/>
                                          </p:val>
                                        </p:tav>
                                        <p:tav tm="100000">
                                          <p:val>
                                            <p:strVal val="#ppt_x"/>
                                          </p:val>
                                        </p:tav>
                                      </p:tavLst>
                                    </p:anim>
                                    <p:anim calcmode="lin" valueType="num">
                                      <p:cBhvr>
                                        <p:cTn id="32" dur="378" decel="100000" fill="hold"/>
                                        <p:tgtEl>
                                          <p:spTgt spid="20"/>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20"/>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1" nodeType="afterEffect">
                                  <p:stCondLst>
                                    <p:cond delay="0"/>
                                  </p:stCondLst>
                                  <p:childTnLst>
                                    <p:set>
                                      <p:cBhvr>
                                        <p:cTn id="36" dur="420" fill="hold">
                                          <p:stCondLst>
                                            <p:cond delay="0"/>
                                          </p:stCondLst>
                                        </p:cTn>
                                        <p:tgtEl>
                                          <p:spTgt spid="12"/>
                                        </p:tgtEl>
                                        <p:attrNameLst>
                                          <p:attrName>style.visibility</p:attrName>
                                        </p:attrNameLst>
                                      </p:cBhvr>
                                      <p:to>
                                        <p:strVal val="visible"/>
                                      </p:to>
                                    </p:set>
                                    <p:animEffect transition="in" filter="fade">
                                      <p:cBhvr>
                                        <p:cTn id="37" dur="420"/>
                                        <p:tgtEl>
                                          <p:spTgt spid="12"/>
                                        </p:tgtEl>
                                      </p:cBhvr>
                                    </p:animEffect>
                                  </p:childTnLst>
                                </p:cTn>
                              </p:par>
                            </p:childTnLst>
                          </p:cTn>
                        </p:par>
                        <p:par>
                          <p:cTn id="38" fill="hold">
                            <p:stCondLst>
                              <p:cond delay="3000"/>
                            </p:stCondLst>
                            <p:childTnLst>
                              <p:par>
                                <p:cTn id="39" presetID="22" presetClass="entr" presetSubtype="4" fill="hold" grpId="12" nodeType="afterEffect">
                                  <p:stCondLst>
                                    <p:cond delay="0"/>
                                  </p:stCondLst>
                                  <p:childTnLst>
                                    <p:set>
                                      <p:cBhvr>
                                        <p:cTn id="40" dur="420" fill="hold">
                                          <p:stCondLst>
                                            <p:cond delay="0"/>
                                          </p:stCondLst>
                                        </p:cTn>
                                        <p:tgtEl>
                                          <p:spTgt spid="13"/>
                                        </p:tgtEl>
                                        <p:attrNameLst>
                                          <p:attrName>style.visibility</p:attrName>
                                        </p:attrNameLst>
                                      </p:cBhvr>
                                      <p:to>
                                        <p:strVal val="visible"/>
                                      </p:to>
                                    </p:set>
                                    <p:animEffect transition="in" filter="wipe(down)">
                                      <p:cBhvr>
                                        <p:cTn id="41" dur="420"/>
                                        <p:tgtEl>
                                          <p:spTgt spid="13"/>
                                        </p:tgtEl>
                                      </p:cBhvr>
                                    </p:animEffect>
                                  </p:childTnLst>
                                </p:cTn>
                              </p:par>
                            </p:childTnLst>
                          </p:cTn>
                        </p:par>
                        <p:par>
                          <p:cTn id="42" fill="hold">
                            <p:stCondLst>
                              <p:cond delay="3500"/>
                            </p:stCondLst>
                            <p:childTnLst>
                              <p:par>
                                <p:cTn id="43" presetID="2" presetClass="entr" presetSubtype="4" fill="hold" grpId="3" nodeType="afterEffect">
                                  <p:stCondLst>
                                    <p:cond delay="0"/>
                                  </p:stCondLst>
                                  <p:childTnLst>
                                    <p:set>
                                      <p:cBhvr>
                                        <p:cTn id="44" dur="420" fill="hold">
                                          <p:stCondLst>
                                            <p:cond delay="0"/>
                                          </p:stCondLst>
                                        </p:cTn>
                                        <p:tgtEl>
                                          <p:spTgt spid="24"/>
                                        </p:tgtEl>
                                        <p:attrNameLst>
                                          <p:attrName>style.visibility</p:attrName>
                                        </p:attrNameLst>
                                      </p:cBhvr>
                                      <p:to>
                                        <p:strVal val="visible"/>
                                      </p:to>
                                    </p:set>
                                    <p:anim calcmode="lin" valueType="num">
                                      <p:cBhvr additive="base">
                                        <p:cTn id="45" dur="420" fill="hold"/>
                                        <p:tgtEl>
                                          <p:spTgt spid="24"/>
                                        </p:tgtEl>
                                        <p:attrNameLst>
                                          <p:attrName>ppt_x</p:attrName>
                                        </p:attrNameLst>
                                      </p:cBhvr>
                                      <p:tavLst>
                                        <p:tav tm="0">
                                          <p:val>
                                            <p:strVal val="#ppt_x"/>
                                          </p:val>
                                        </p:tav>
                                        <p:tav tm="100000">
                                          <p:val>
                                            <p:strVal val="#ppt_x"/>
                                          </p:val>
                                        </p:tav>
                                      </p:tavLst>
                                    </p:anim>
                                    <p:anim calcmode="lin" valueType="num">
                                      <p:cBhvr additive="base">
                                        <p:cTn id="46" dur="420" fill="hold"/>
                                        <p:tgtEl>
                                          <p:spTgt spid="24"/>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3"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336" decel="100000"/>
                                        <p:tgtEl>
                                          <p:spTgt spid="16"/>
                                        </p:tgtEl>
                                      </p:cBhvr>
                                    </p:animEffect>
                                    <p:anim calcmode="lin" valueType="num">
                                      <p:cBhvr>
                                        <p:cTn id="51" dur="336" decel="100000" fill="hold"/>
                                        <p:tgtEl>
                                          <p:spTgt spid="16"/>
                                        </p:tgtEl>
                                        <p:attrNameLst>
                                          <p:attrName>style.rotation</p:attrName>
                                        </p:attrNameLst>
                                      </p:cBhvr>
                                      <p:tavLst>
                                        <p:tav tm="0">
                                          <p:val>
                                            <p:fltVal val="-90"/>
                                          </p:val>
                                        </p:tav>
                                        <p:tav tm="100000">
                                          <p:val>
                                            <p:fltVal val="0"/>
                                          </p:val>
                                        </p:tav>
                                      </p:tavLst>
                                    </p:anim>
                                    <p:anim calcmode="lin" valueType="num">
                                      <p:cBhvr>
                                        <p:cTn id="52" dur="336" decel="100000" fill="hold"/>
                                        <p:tgtEl>
                                          <p:spTgt spid="16"/>
                                        </p:tgtEl>
                                        <p:attrNameLst>
                                          <p:attrName>ppt_x</p:attrName>
                                        </p:attrNameLst>
                                      </p:cBhvr>
                                      <p:tavLst>
                                        <p:tav tm="0">
                                          <p:val>
                                            <p:strVal val="#ppt_x+0.4"/>
                                          </p:val>
                                        </p:tav>
                                        <p:tav tm="100000">
                                          <p:val>
                                            <p:strVal val="#ppt_x-0.05"/>
                                          </p:val>
                                        </p:tav>
                                      </p:tavLst>
                                    </p:anim>
                                    <p:anim calcmode="lin" valueType="num">
                                      <p:cBhvr>
                                        <p:cTn id="53" dur="336" decel="100000" fill="hold"/>
                                        <p:tgtEl>
                                          <p:spTgt spid="16"/>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16"/>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16"/>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37" presetClass="entr" presetSubtype="0" fill="hold" grpId="14"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420"/>
                                        <p:tgtEl>
                                          <p:spTgt spid="17"/>
                                        </p:tgtEl>
                                      </p:cBhvr>
                                    </p:animEffect>
                                    <p:anim calcmode="lin" valueType="num">
                                      <p:cBhvr>
                                        <p:cTn id="60" dur="420" fill="hold"/>
                                        <p:tgtEl>
                                          <p:spTgt spid="17"/>
                                        </p:tgtEl>
                                        <p:attrNameLst>
                                          <p:attrName>ppt_x</p:attrName>
                                        </p:attrNameLst>
                                      </p:cBhvr>
                                      <p:tavLst>
                                        <p:tav tm="0">
                                          <p:val>
                                            <p:strVal val="#ppt_x"/>
                                          </p:val>
                                        </p:tav>
                                        <p:tav tm="100000">
                                          <p:val>
                                            <p:strVal val="#ppt_x"/>
                                          </p:val>
                                        </p:tav>
                                      </p:tavLst>
                                    </p:anim>
                                    <p:anim calcmode="lin" valueType="num">
                                      <p:cBhvr>
                                        <p:cTn id="61" dur="378" decel="100000" fill="hold"/>
                                        <p:tgtEl>
                                          <p:spTgt spid="17"/>
                                        </p:tgtEl>
                                        <p:attrNameLst>
                                          <p:attrName>ppt_y</p:attrName>
                                        </p:attrNameLst>
                                      </p:cBhvr>
                                      <p:tavLst>
                                        <p:tav tm="0">
                                          <p:val>
                                            <p:strVal val="#ppt_y+1"/>
                                          </p:val>
                                        </p:tav>
                                        <p:tav tm="100000">
                                          <p:val>
                                            <p:strVal val="#ppt_y-.03"/>
                                          </p:val>
                                        </p:tav>
                                      </p:tavLst>
                                    </p:anim>
                                    <p:anim calcmode="lin" valueType="num">
                                      <p:cBhvr>
                                        <p:cTn id="62" dur="42" accel="100000" fill="hold">
                                          <p:stCondLst>
                                            <p:cond delay="378"/>
                                          </p:stCondLst>
                                        </p:cTn>
                                        <p:tgtEl>
                                          <p:spTgt spid="17"/>
                                        </p:tgtEl>
                                        <p:attrNameLst>
                                          <p:attrName>ppt_y</p:attrName>
                                        </p:attrNameLst>
                                      </p:cBhvr>
                                      <p:tavLst>
                                        <p:tav tm="0">
                                          <p:val>
                                            <p:strVal val="#ppt_y-.03"/>
                                          </p:val>
                                        </p:tav>
                                        <p:tav tm="100000">
                                          <p:val>
                                            <p:strVal val="#ppt_y"/>
                                          </p:val>
                                        </p:tav>
                                      </p:tavLst>
                                    </p:anim>
                                  </p:childTnLst>
                                </p:cTn>
                              </p:par>
                            </p:childTnLst>
                          </p:cTn>
                        </p:par>
                        <p:par>
                          <p:cTn id="63" fill="hold">
                            <p:stCondLst>
                              <p:cond delay="5000"/>
                            </p:stCondLst>
                            <p:childTnLst>
                              <p:par>
                                <p:cTn id="64" presetID="10" presetClass="entr" presetSubtype="0" fill="hold" grpId="3" nodeType="afterEffect">
                                  <p:stCondLst>
                                    <p:cond delay="0"/>
                                  </p:stCondLst>
                                  <p:childTnLst>
                                    <p:set>
                                      <p:cBhvr>
                                        <p:cTn id="65" dur="420" fill="hold">
                                          <p:stCondLst>
                                            <p:cond delay="0"/>
                                          </p:stCondLst>
                                        </p:cTn>
                                        <p:tgtEl>
                                          <p:spTgt spid="28"/>
                                        </p:tgtEl>
                                        <p:attrNameLst>
                                          <p:attrName>style.visibility</p:attrName>
                                        </p:attrNameLst>
                                      </p:cBhvr>
                                      <p:to>
                                        <p:strVal val="visible"/>
                                      </p:to>
                                    </p:set>
                                    <p:animEffect transition="in" filter="fade">
                                      <p:cBhvr>
                                        <p:cTn id="66" dur="420"/>
                                        <p:tgtEl>
                                          <p:spTgt spid="28"/>
                                        </p:tgtEl>
                                      </p:cBhvr>
                                    </p:animEffect>
                                  </p:childTnLst>
                                </p:cTn>
                              </p:par>
                            </p:childTnLst>
                          </p:cTn>
                        </p:par>
                        <p:par>
                          <p:cTn id="67" fill="hold">
                            <p:stCondLst>
                              <p:cond delay="5500"/>
                            </p:stCondLst>
                            <p:childTnLst>
                              <p:par>
                                <p:cTn id="68" presetID="22" presetClass="entr" presetSubtype="4" fill="hold" grpId="3" nodeType="afterEffect">
                                  <p:stCondLst>
                                    <p:cond delay="0"/>
                                  </p:stCondLst>
                                  <p:childTnLst>
                                    <p:set>
                                      <p:cBhvr>
                                        <p:cTn id="69" dur="420" fill="hold">
                                          <p:stCondLst>
                                            <p:cond delay="0"/>
                                          </p:stCondLst>
                                        </p:cTn>
                                        <p:tgtEl>
                                          <p:spTgt spid="21"/>
                                        </p:tgtEl>
                                        <p:attrNameLst>
                                          <p:attrName>style.visibility</p:attrName>
                                        </p:attrNameLst>
                                      </p:cBhvr>
                                      <p:to>
                                        <p:strVal val="visible"/>
                                      </p:to>
                                    </p:set>
                                    <p:animEffect transition="in" filter="wipe(down)">
                                      <p:cBhvr>
                                        <p:cTn id="70" dur="420"/>
                                        <p:tgtEl>
                                          <p:spTgt spid="21"/>
                                        </p:tgtEl>
                                      </p:cBhvr>
                                    </p:animEffect>
                                  </p:childTnLst>
                                </p:cTn>
                              </p:par>
                            </p:childTnLst>
                          </p:cTn>
                        </p:par>
                        <p:par>
                          <p:cTn id="71" fill="hold">
                            <p:stCondLst>
                              <p:cond delay="6000"/>
                            </p:stCondLst>
                            <p:childTnLst>
                              <p:par>
                                <p:cTn id="72" presetID="2" presetClass="entr" presetSubtype="4" fill="hold" grpId="0" nodeType="afterEffect">
                                  <p:stCondLst>
                                    <p:cond delay="0"/>
                                  </p:stCondLst>
                                  <p:childTnLst>
                                    <p:set>
                                      <p:cBhvr>
                                        <p:cTn id="73" dur="420" fill="hold">
                                          <p:stCondLst>
                                            <p:cond delay="0"/>
                                          </p:stCondLst>
                                        </p:cTn>
                                        <p:tgtEl>
                                          <p:spTgt spid="25"/>
                                        </p:tgtEl>
                                        <p:attrNameLst>
                                          <p:attrName>style.visibility</p:attrName>
                                        </p:attrNameLst>
                                      </p:cBhvr>
                                      <p:to>
                                        <p:strVal val="visible"/>
                                      </p:to>
                                    </p:set>
                                    <p:anim calcmode="lin" valueType="num">
                                      <p:cBhvr additive="base">
                                        <p:cTn id="74" dur="420" fill="hold"/>
                                        <p:tgtEl>
                                          <p:spTgt spid="25"/>
                                        </p:tgtEl>
                                        <p:attrNameLst>
                                          <p:attrName>ppt_x</p:attrName>
                                        </p:attrNameLst>
                                      </p:cBhvr>
                                      <p:tavLst>
                                        <p:tav tm="0">
                                          <p:val>
                                            <p:strVal val="#ppt_x"/>
                                          </p:val>
                                        </p:tav>
                                        <p:tav tm="100000">
                                          <p:val>
                                            <p:strVal val="#ppt_x"/>
                                          </p:val>
                                        </p:tav>
                                      </p:tavLst>
                                    </p:anim>
                                    <p:anim calcmode="lin" valueType="num">
                                      <p:cBhvr additive="base">
                                        <p:cTn id="75" dur="420" fill="hold"/>
                                        <p:tgtEl>
                                          <p:spTgt spid="25"/>
                                        </p:tgtEl>
                                        <p:attrNameLst>
                                          <p:attrName>ppt_y</p:attrName>
                                        </p:attrNameLst>
                                      </p:cBhvr>
                                      <p:tavLst>
                                        <p:tav tm="0">
                                          <p:val>
                                            <p:strVal val="1+#ppt_h/2"/>
                                          </p:val>
                                        </p:tav>
                                        <p:tav tm="100000">
                                          <p:val>
                                            <p:strVal val="#ppt_y"/>
                                          </p:val>
                                        </p:tav>
                                      </p:tavLst>
                                    </p:anim>
                                  </p:childTnLst>
                                </p:cTn>
                              </p:par>
                            </p:childTnLst>
                          </p:cTn>
                        </p:par>
                        <p:par>
                          <p:cTn id="76" fill="hold">
                            <p:stCondLst>
                              <p:cond delay="6500"/>
                            </p:stCondLst>
                            <p:childTnLst>
                              <p:par>
                                <p:cTn id="77" presetID="30" presetClass="entr" presetSubtype="0"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336" decel="100000"/>
                                        <p:tgtEl>
                                          <p:spTgt spid="29"/>
                                        </p:tgtEl>
                                      </p:cBhvr>
                                    </p:animEffect>
                                    <p:anim calcmode="lin" valueType="num">
                                      <p:cBhvr>
                                        <p:cTn id="80" dur="336" decel="100000" fill="hold"/>
                                        <p:tgtEl>
                                          <p:spTgt spid="29"/>
                                        </p:tgtEl>
                                        <p:attrNameLst>
                                          <p:attrName>style.rotation</p:attrName>
                                        </p:attrNameLst>
                                      </p:cBhvr>
                                      <p:tavLst>
                                        <p:tav tm="0">
                                          <p:val>
                                            <p:fltVal val="-90"/>
                                          </p:val>
                                        </p:tav>
                                        <p:tav tm="100000">
                                          <p:val>
                                            <p:fltVal val="0"/>
                                          </p:val>
                                        </p:tav>
                                      </p:tavLst>
                                    </p:anim>
                                    <p:anim calcmode="lin" valueType="num">
                                      <p:cBhvr>
                                        <p:cTn id="81" dur="336" decel="100000" fill="hold"/>
                                        <p:tgtEl>
                                          <p:spTgt spid="29"/>
                                        </p:tgtEl>
                                        <p:attrNameLst>
                                          <p:attrName>ppt_x</p:attrName>
                                        </p:attrNameLst>
                                      </p:cBhvr>
                                      <p:tavLst>
                                        <p:tav tm="0">
                                          <p:val>
                                            <p:strVal val="#ppt_x+0.4"/>
                                          </p:val>
                                        </p:tav>
                                        <p:tav tm="100000">
                                          <p:val>
                                            <p:strVal val="#ppt_x-0.05"/>
                                          </p:val>
                                        </p:tav>
                                      </p:tavLst>
                                    </p:anim>
                                    <p:anim calcmode="lin" valueType="num">
                                      <p:cBhvr>
                                        <p:cTn id="82" dur="336" decel="100000" fill="hold"/>
                                        <p:tgtEl>
                                          <p:spTgt spid="29"/>
                                        </p:tgtEl>
                                        <p:attrNameLst>
                                          <p:attrName>ppt_y</p:attrName>
                                        </p:attrNameLst>
                                      </p:cBhvr>
                                      <p:tavLst>
                                        <p:tav tm="0">
                                          <p:val>
                                            <p:strVal val="#ppt_y-0.4"/>
                                          </p:val>
                                        </p:tav>
                                        <p:tav tm="100000">
                                          <p:val>
                                            <p:strVal val="#ppt_y+0.1"/>
                                          </p:val>
                                        </p:tav>
                                      </p:tavLst>
                                    </p:anim>
                                    <p:anim calcmode="lin" valueType="num">
                                      <p:cBhvr>
                                        <p:cTn id="83" dur="84" accel="100000" fill="hold">
                                          <p:stCondLst>
                                            <p:cond delay="336"/>
                                          </p:stCondLst>
                                        </p:cTn>
                                        <p:tgtEl>
                                          <p:spTgt spid="29"/>
                                        </p:tgtEl>
                                        <p:attrNameLst>
                                          <p:attrName>ppt_x</p:attrName>
                                        </p:attrNameLst>
                                      </p:cBhvr>
                                      <p:tavLst>
                                        <p:tav tm="0">
                                          <p:val>
                                            <p:strVal val="#ppt_x-0.05"/>
                                          </p:val>
                                        </p:tav>
                                        <p:tav tm="100000">
                                          <p:val>
                                            <p:strVal val="#ppt_x"/>
                                          </p:val>
                                        </p:tav>
                                      </p:tavLst>
                                    </p:anim>
                                    <p:anim calcmode="lin" valueType="num">
                                      <p:cBhvr>
                                        <p:cTn id="84" dur="84" accel="100000" fill="hold">
                                          <p:stCondLst>
                                            <p:cond delay="336"/>
                                          </p:stCondLst>
                                        </p:cTn>
                                        <p:tgtEl>
                                          <p:spTgt spid="29"/>
                                        </p:tgtEl>
                                        <p:attrNameLst>
                                          <p:attrName>ppt_y</p:attrName>
                                        </p:attrNameLst>
                                      </p:cBhvr>
                                      <p:tavLst>
                                        <p:tav tm="0">
                                          <p:val>
                                            <p:strVal val="#ppt_y+0.1"/>
                                          </p:val>
                                        </p:tav>
                                        <p:tav tm="100000">
                                          <p:val>
                                            <p:strVal val="#ppt_y"/>
                                          </p:val>
                                        </p:tav>
                                      </p:tavLst>
                                    </p:anim>
                                  </p:childTnLst>
                                </p:cTn>
                              </p:par>
                            </p:childTnLst>
                          </p:cTn>
                        </p:par>
                        <p:par>
                          <p:cTn id="85" fill="hold">
                            <p:stCondLst>
                              <p:cond delay="7000"/>
                            </p:stCondLst>
                            <p:childTnLst>
                              <p:par>
                                <p:cTn id="86" presetID="16" presetClass="entr" presetSubtype="21" fill="hold" grpId="0" nodeType="afterEffect">
                                  <p:stCondLst>
                                    <p:cond delay="0"/>
                                  </p:stCondLst>
                                  <p:childTnLst>
                                    <p:set>
                                      <p:cBhvr>
                                        <p:cTn id="87" dur="420" fill="hold">
                                          <p:stCondLst>
                                            <p:cond delay="0"/>
                                          </p:stCondLst>
                                        </p:cTn>
                                        <p:tgtEl>
                                          <p:spTgt spid="30"/>
                                        </p:tgtEl>
                                        <p:attrNameLst>
                                          <p:attrName>style.visibility</p:attrName>
                                        </p:attrNameLst>
                                      </p:cBhvr>
                                      <p:to>
                                        <p:strVal val="visible"/>
                                      </p:to>
                                    </p:set>
                                    <p:animEffect transition="in" filter="barn(inVertical)">
                                      <p:cBhvr>
                                        <p:cTn id="88" dur="42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6" grpId="2" uiExpand="1" build="allAtOnce"/>
      <p:bldP spid="8" grpId="3" uiExpand="1" build="allAtOnce"/>
      <p:bldP spid="9" grpId="4" uiExpand="1" build="allAtOnce"/>
      <p:bldP spid="10" grpId="5" uiExpand="1" build="allAtOnce"/>
      <p:bldP spid="12" grpId="6" uiExpand="1" build="allAtOnce"/>
      <p:bldP spid="13" grpId="7" uiExpand="1" build="allAtOnce"/>
      <p:bldP spid="14" grpId="8" uiExpand="1" build="allAtOnce"/>
      <p:bldP spid="16" grpId="9" uiExpand="1" build="allAtOnce"/>
      <p:bldP spid="17" grpId="10" uiExpand="1" build="allAtOnce"/>
      <p:bldP spid="18" grpId="11" uiExpand="1" build="allAtOnce"/>
      <p:bldP spid="20" grpId="12" uiExpand="1" build="allAtOnce"/>
      <p:bldP spid="3" grpId="0"/>
      <p:bldP spid="4" grpId="2"/>
      <p:bldP spid="6" grpId="3" animBg="1"/>
      <p:bldP spid="8" grpId="4"/>
      <p:bldP spid="9" grpId="5"/>
      <p:bldP spid="10" grpId="6" animBg="1"/>
      <p:bldP spid="12" grpId="7"/>
      <p:bldP spid="13" grpId="8"/>
      <p:bldP spid="14" grpId="9" animBg="1"/>
      <p:bldP spid="3" grpId="1"/>
      <p:bldP spid="4" grpId="3"/>
      <p:bldP spid="8" grpId="5"/>
      <p:bldP spid="12" grpId="8"/>
      <p:bldP spid="16" grpId="10"/>
      <p:bldP spid="20" grpId="13"/>
      <p:bldP spid="24" grpId="0"/>
      <p:bldP spid="28" grpId="0"/>
      <p:bldP spid="9" grpId="6"/>
      <p:bldP spid="13" grpId="9"/>
      <p:bldP spid="17" grpId="11"/>
      <p:bldP spid="21" grpId="0"/>
      <p:bldP spid="3" grpId="2"/>
      <p:bldP spid="4" grpId="4"/>
      <p:bldP spid="8" grpId="6"/>
      <p:bldP spid="20" grpId="14"/>
      <p:bldP spid="12" grpId="9"/>
      <p:bldP spid="24" grpId="1"/>
      <p:bldP spid="16" grpId="11"/>
      <p:bldP spid="28" grpId="1"/>
      <p:bldP spid="9" grpId="7"/>
      <p:bldP spid="13" grpId="10"/>
      <p:bldP spid="17" grpId="12"/>
      <p:bldP spid="21" grpId="1"/>
      <p:bldP spid="3" grpId="3"/>
      <p:bldP spid="4" grpId="5"/>
      <p:bldP spid="8" grpId="7"/>
      <p:bldP spid="9" grpId="8"/>
      <p:bldP spid="20" grpId="15"/>
      <p:bldP spid="12" grpId="10"/>
      <p:bldP spid="13" grpId="11"/>
      <p:bldP spid="24" grpId="2"/>
      <p:bldP spid="16" grpId="12"/>
      <p:bldP spid="17" grpId="13"/>
      <p:bldP spid="28" grpId="2"/>
      <p:bldP spid="21" grpId="2"/>
      <p:bldP spid="3" grpId="4"/>
      <p:bldP spid="4" grpId="6"/>
      <p:bldP spid="8" grpId="8"/>
      <p:bldP spid="9" grpId="9"/>
      <p:bldP spid="20" grpId="16"/>
      <p:bldP spid="12" grpId="11"/>
      <p:bldP spid="13" grpId="12"/>
      <p:bldP spid="24" grpId="3"/>
      <p:bldP spid="16" grpId="13"/>
      <p:bldP spid="17" grpId="14"/>
      <p:bldP spid="28" grpId="3"/>
      <p:bldP spid="21" grpId="3"/>
      <p:bldP spid="25" grpId="0"/>
      <p:bldP spid="29" grpId="0"/>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D6A13B"/>
                </a:solidFill>
                <a:latin typeface="微软雅黑" panose="020B0503020204020204" charset="-122"/>
                <a:ea typeface="微软雅黑" panose="020B0503020204020204" charset="-122"/>
              </a:rPr>
              <a:t>09 政策信号</a:t>
            </a:r>
            <a:endParaRPr lang="zh-CN" sz="800" b="1">
              <a:solidFill>
                <a:srgbClr val="D6A13B"/>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FFFFFF"/>
                </a:solidFill>
                <a:latin typeface="微软雅黑" panose="020B0503020204020204" charset="-122"/>
                <a:ea typeface="微软雅黑" panose="020B0503020204020204" charset="-122"/>
              </a:rPr>
              <a:t>从近年政策看，调节方向更强调安全、秩序和公共目标</a:t>
            </a:r>
            <a:endParaRPr lang="zh-CN" sz="1800" b="1">
              <a:solidFill>
                <a:srgbClr val="FFFFFF"/>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D6A13B"/>
          </a:solidFill>
          <a:ln>
            <a:noFill/>
          </a:ln>
        </p:spPr>
        <p:txBody>
          <a:bodyPr/>
          <a:lstStyle/>
          <a:p/>
        </p:txBody>
      </p:sp>
      <p:sp>
        <p:nvSpPr>
          <p:cNvPr id="6" name="Shape"/>
          <p:cNvSpPr/>
          <p:nvPr/>
        </p:nvSpPr>
        <p:spPr>
          <a:xfrm>
            <a:off x="960120" y="1325880"/>
            <a:ext cx="164592" cy="164592"/>
          </a:xfrm>
          <a:prstGeom prst="roundRect">
            <a:avLst/>
          </a:prstGeom>
          <a:solidFill>
            <a:srgbClr val="00A6A6"/>
          </a:solidFill>
          <a:ln>
            <a:noFill/>
          </a:ln>
        </p:spPr>
        <p:txBody>
          <a:bodyPr/>
          <a:lstStyle/>
          <a:p/>
        </p:txBody>
      </p:sp>
      <p:sp>
        <p:nvSpPr>
          <p:cNvPr id="7" name="Text"/>
          <p:cNvSpPr txBox="1"/>
          <p:nvPr/>
        </p:nvSpPr>
        <p:spPr>
          <a:xfrm>
            <a:off x="1325880" y="1280160"/>
            <a:ext cx="2926080" cy="182880"/>
          </a:xfrm>
          <a:prstGeom prst="rect">
            <a:avLst/>
          </a:prstGeom>
          <a:noFill/>
          <a:ln>
            <a:noFill/>
          </a:ln>
        </p:spPr>
        <p:txBody>
          <a:bodyPr wrap="square" anchor="t">
            <a:spAutoFit/>
          </a:bodyPr>
          <a:lstStyle/>
          <a:p>
            <a:pPr algn="l"/>
            <a:r>
              <a:rPr lang="zh-CN" sz="1000" b="1">
                <a:solidFill>
                  <a:srgbClr val="FFFFFF"/>
                </a:solidFill>
                <a:latin typeface="微软雅黑" panose="020B0503020204020204" charset="-122"/>
                <a:ea typeface="微软雅黑" panose="020B0503020204020204" charset="-122"/>
              </a:rPr>
              <a:t>高水平社会主义市场经济体制</a:t>
            </a:r>
            <a:endParaRPr lang="zh-CN" sz="1000" b="1">
              <a:solidFill>
                <a:srgbClr val="FFFFFF"/>
              </a:solidFill>
              <a:latin typeface="微软雅黑" panose="020B0503020204020204" charset="-122"/>
              <a:ea typeface="微软雅黑" panose="020B0503020204020204" charset="-122"/>
            </a:endParaRPr>
          </a:p>
        </p:txBody>
      </p:sp>
      <p:sp>
        <p:nvSpPr>
          <p:cNvPr id="8" name="Text"/>
          <p:cNvSpPr txBox="1"/>
          <p:nvPr/>
        </p:nvSpPr>
        <p:spPr>
          <a:xfrm>
            <a:off x="4434840" y="1289304"/>
            <a:ext cx="5760720" cy="164592"/>
          </a:xfrm>
          <a:prstGeom prst="rect">
            <a:avLst/>
          </a:prstGeom>
          <a:noFill/>
          <a:ln>
            <a:noFill/>
          </a:ln>
        </p:spPr>
        <p:txBody>
          <a:bodyPr wrap="square" anchor="t">
            <a:spAutoFit/>
          </a:bodyPr>
          <a:lstStyle/>
          <a:p>
            <a:pPr algn="l"/>
            <a:r>
              <a:rPr lang="zh-CN" sz="820" b="0">
                <a:solidFill>
                  <a:srgbClr val="C6D0DD"/>
                </a:solidFill>
                <a:latin typeface="微软雅黑" panose="020B0503020204020204" charset="-122"/>
                <a:ea typeface="微软雅黑" panose="020B0503020204020204" charset="-122"/>
              </a:rPr>
              <a:t>强调市场机制，也强调制度建设和宏观治理</a:t>
            </a:r>
            <a:endParaRPr lang="zh-CN" sz="820" b="0">
              <a:solidFill>
                <a:srgbClr val="C6D0DD"/>
              </a:solidFill>
              <a:latin typeface="微软雅黑" panose="020B0503020204020204" charset="-122"/>
              <a:ea typeface="微软雅黑" panose="020B0503020204020204" charset="-122"/>
            </a:endParaRPr>
          </a:p>
        </p:txBody>
      </p:sp>
      <p:sp>
        <p:nvSpPr>
          <p:cNvPr id="9" name="Shape"/>
          <p:cNvSpPr/>
          <p:nvPr/>
        </p:nvSpPr>
        <p:spPr>
          <a:xfrm>
            <a:off x="960120" y="2075688"/>
            <a:ext cx="164592" cy="164592"/>
          </a:xfrm>
          <a:prstGeom prst="roundRect">
            <a:avLst/>
          </a:prstGeom>
          <a:solidFill>
            <a:srgbClr val="D6A13B"/>
          </a:solidFill>
          <a:ln>
            <a:noFill/>
          </a:ln>
        </p:spPr>
        <p:txBody>
          <a:bodyPr/>
          <a:lstStyle/>
          <a:p/>
        </p:txBody>
      </p:sp>
      <p:sp>
        <p:nvSpPr>
          <p:cNvPr id="10" name="Text"/>
          <p:cNvSpPr txBox="1"/>
          <p:nvPr/>
        </p:nvSpPr>
        <p:spPr>
          <a:xfrm>
            <a:off x="1325880" y="2029968"/>
            <a:ext cx="2926080" cy="182880"/>
          </a:xfrm>
          <a:prstGeom prst="rect">
            <a:avLst/>
          </a:prstGeom>
          <a:noFill/>
          <a:ln>
            <a:noFill/>
          </a:ln>
        </p:spPr>
        <p:txBody>
          <a:bodyPr wrap="square" anchor="t">
            <a:spAutoFit/>
          </a:bodyPr>
          <a:lstStyle/>
          <a:p>
            <a:pPr algn="l"/>
            <a:r>
              <a:rPr lang="zh-CN" sz="1000" b="1">
                <a:solidFill>
                  <a:srgbClr val="FFFFFF"/>
                </a:solidFill>
                <a:latin typeface="微软雅黑" panose="020B0503020204020204" charset="-122"/>
                <a:ea typeface="微软雅黑" panose="020B0503020204020204" charset="-122"/>
              </a:rPr>
              <a:t>民营经济促进</a:t>
            </a:r>
            <a:endParaRPr lang="zh-CN" sz="1000" b="1">
              <a:solidFill>
                <a:srgbClr val="FFFFFF"/>
              </a:solidFill>
              <a:latin typeface="微软雅黑" panose="020B0503020204020204" charset="-122"/>
              <a:ea typeface="微软雅黑" panose="020B0503020204020204" charset="-122"/>
            </a:endParaRPr>
          </a:p>
        </p:txBody>
      </p:sp>
      <p:sp>
        <p:nvSpPr>
          <p:cNvPr id="11" name="Text"/>
          <p:cNvSpPr txBox="1"/>
          <p:nvPr/>
        </p:nvSpPr>
        <p:spPr>
          <a:xfrm>
            <a:off x="4434840" y="2039112"/>
            <a:ext cx="5760720" cy="164592"/>
          </a:xfrm>
          <a:prstGeom prst="rect">
            <a:avLst/>
          </a:prstGeom>
          <a:noFill/>
          <a:ln>
            <a:noFill/>
          </a:ln>
        </p:spPr>
        <p:txBody>
          <a:bodyPr wrap="square" anchor="t">
            <a:spAutoFit/>
          </a:bodyPr>
          <a:lstStyle/>
          <a:p>
            <a:pPr algn="l"/>
            <a:r>
              <a:rPr lang="zh-CN" sz="820" b="0">
                <a:solidFill>
                  <a:srgbClr val="C6D0DD"/>
                </a:solidFill>
                <a:latin typeface="微软雅黑" panose="020B0503020204020204" charset="-122"/>
                <a:ea typeface="微软雅黑" panose="020B0503020204020204" charset="-122"/>
              </a:rPr>
              <a:t>承认民营经济的重要作用，稳定预期和法治保障</a:t>
            </a:r>
            <a:endParaRPr lang="zh-CN" sz="820" b="0">
              <a:solidFill>
                <a:srgbClr val="C6D0DD"/>
              </a:solidFill>
              <a:latin typeface="微软雅黑" panose="020B0503020204020204" charset="-122"/>
              <a:ea typeface="微软雅黑" panose="020B0503020204020204" charset="-122"/>
            </a:endParaRPr>
          </a:p>
        </p:txBody>
      </p:sp>
      <p:sp>
        <p:nvSpPr>
          <p:cNvPr id="12" name="Shape"/>
          <p:cNvSpPr/>
          <p:nvPr/>
        </p:nvSpPr>
        <p:spPr>
          <a:xfrm>
            <a:off x="960120" y="2825496"/>
            <a:ext cx="164592" cy="164592"/>
          </a:xfrm>
          <a:prstGeom prst="roundRect">
            <a:avLst/>
          </a:prstGeom>
          <a:solidFill>
            <a:srgbClr val="B91C1C"/>
          </a:solidFill>
          <a:ln>
            <a:noFill/>
          </a:ln>
        </p:spPr>
        <p:txBody>
          <a:bodyPr/>
          <a:lstStyle/>
          <a:p/>
        </p:txBody>
      </p:sp>
      <p:sp>
        <p:nvSpPr>
          <p:cNvPr id="13" name="Text"/>
          <p:cNvSpPr txBox="1"/>
          <p:nvPr/>
        </p:nvSpPr>
        <p:spPr>
          <a:xfrm>
            <a:off x="1325880" y="2779776"/>
            <a:ext cx="2926080" cy="182880"/>
          </a:xfrm>
          <a:prstGeom prst="rect">
            <a:avLst/>
          </a:prstGeom>
          <a:noFill/>
          <a:ln>
            <a:noFill/>
          </a:ln>
        </p:spPr>
        <p:txBody>
          <a:bodyPr wrap="square" anchor="t">
            <a:spAutoFit/>
          </a:bodyPr>
          <a:lstStyle/>
          <a:p>
            <a:pPr algn="l"/>
            <a:r>
              <a:rPr lang="zh-CN" sz="1000" b="1">
                <a:solidFill>
                  <a:srgbClr val="FFFFFF"/>
                </a:solidFill>
                <a:latin typeface="微软雅黑" panose="020B0503020204020204" charset="-122"/>
                <a:ea typeface="微软雅黑" panose="020B0503020204020204" charset="-122"/>
              </a:rPr>
              <a:t>反垄断与平台治理</a:t>
            </a:r>
            <a:endParaRPr lang="zh-CN" sz="1000" b="1">
              <a:solidFill>
                <a:srgbClr val="FFFFFF"/>
              </a:solidFill>
              <a:latin typeface="微软雅黑" panose="020B0503020204020204" charset="-122"/>
              <a:ea typeface="微软雅黑" panose="020B0503020204020204" charset="-122"/>
            </a:endParaRPr>
          </a:p>
        </p:txBody>
      </p:sp>
      <p:sp>
        <p:nvSpPr>
          <p:cNvPr id="14" name="Text"/>
          <p:cNvSpPr txBox="1"/>
          <p:nvPr/>
        </p:nvSpPr>
        <p:spPr>
          <a:xfrm>
            <a:off x="4434840" y="2788920"/>
            <a:ext cx="5760720" cy="164592"/>
          </a:xfrm>
          <a:prstGeom prst="rect">
            <a:avLst/>
          </a:prstGeom>
          <a:noFill/>
          <a:ln>
            <a:noFill/>
          </a:ln>
        </p:spPr>
        <p:txBody>
          <a:bodyPr wrap="square" anchor="t">
            <a:spAutoFit/>
          </a:bodyPr>
          <a:lstStyle/>
          <a:p>
            <a:pPr algn="l"/>
            <a:r>
              <a:rPr lang="zh-CN" sz="820" b="0">
                <a:solidFill>
                  <a:srgbClr val="C6D0DD"/>
                </a:solidFill>
                <a:latin typeface="微软雅黑" panose="020B0503020204020204" charset="-122"/>
                <a:ea typeface="微软雅黑" panose="020B0503020204020204" charset="-122"/>
              </a:rPr>
              <a:t>不是反市场，而是防止市场支配力失控</a:t>
            </a:r>
            <a:endParaRPr lang="zh-CN" sz="820" b="0">
              <a:solidFill>
                <a:srgbClr val="C6D0DD"/>
              </a:solidFill>
              <a:latin typeface="微软雅黑" panose="020B0503020204020204" charset="-122"/>
              <a:ea typeface="微软雅黑" panose="020B0503020204020204" charset="-122"/>
            </a:endParaRPr>
          </a:p>
        </p:txBody>
      </p:sp>
      <p:sp>
        <p:nvSpPr>
          <p:cNvPr id="15" name="Shape"/>
          <p:cNvSpPr/>
          <p:nvPr/>
        </p:nvSpPr>
        <p:spPr>
          <a:xfrm>
            <a:off x="960120" y="3575304"/>
            <a:ext cx="164592" cy="164592"/>
          </a:xfrm>
          <a:prstGeom prst="roundRect">
            <a:avLst/>
          </a:prstGeom>
          <a:solidFill>
            <a:srgbClr val="2563EB"/>
          </a:solidFill>
          <a:ln>
            <a:noFill/>
          </a:ln>
        </p:spPr>
        <p:txBody>
          <a:bodyPr/>
          <a:lstStyle/>
          <a:p/>
        </p:txBody>
      </p:sp>
      <p:sp>
        <p:nvSpPr>
          <p:cNvPr id="16" name="Text"/>
          <p:cNvSpPr txBox="1"/>
          <p:nvPr/>
        </p:nvSpPr>
        <p:spPr>
          <a:xfrm>
            <a:off x="1325880" y="3529584"/>
            <a:ext cx="2926080" cy="182880"/>
          </a:xfrm>
          <a:prstGeom prst="rect">
            <a:avLst/>
          </a:prstGeom>
          <a:noFill/>
          <a:ln>
            <a:noFill/>
          </a:ln>
        </p:spPr>
        <p:txBody>
          <a:bodyPr wrap="square" anchor="t">
            <a:spAutoFit/>
          </a:bodyPr>
          <a:lstStyle/>
          <a:p>
            <a:pPr algn="l"/>
            <a:r>
              <a:rPr lang="zh-CN" sz="1000" b="1">
                <a:solidFill>
                  <a:srgbClr val="FFFFFF"/>
                </a:solidFill>
                <a:latin typeface="微软雅黑" panose="020B0503020204020204" charset="-122"/>
                <a:ea typeface="微软雅黑" panose="020B0503020204020204" charset="-122"/>
              </a:rPr>
              <a:t>科技自立自强</a:t>
            </a:r>
            <a:endParaRPr lang="zh-CN" sz="1000" b="1">
              <a:solidFill>
                <a:srgbClr val="FFFFFF"/>
              </a:solidFill>
              <a:latin typeface="微软雅黑" panose="020B0503020204020204" charset="-122"/>
              <a:ea typeface="微软雅黑" panose="020B0503020204020204" charset="-122"/>
            </a:endParaRPr>
          </a:p>
        </p:txBody>
      </p:sp>
      <p:sp>
        <p:nvSpPr>
          <p:cNvPr id="17" name="Text"/>
          <p:cNvSpPr txBox="1"/>
          <p:nvPr/>
        </p:nvSpPr>
        <p:spPr>
          <a:xfrm>
            <a:off x="4434840" y="3538728"/>
            <a:ext cx="5760720" cy="164592"/>
          </a:xfrm>
          <a:prstGeom prst="rect">
            <a:avLst/>
          </a:prstGeom>
          <a:noFill/>
          <a:ln>
            <a:noFill/>
          </a:ln>
        </p:spPr>
        <p:txBody>
          <a:bodyPr wrap="square" anchor="t">
            <a:spAutoFit/>
          </a:bodyPr>
          <a:lstStyle/>
          <a:p>
            <a:pPr algn="l"/>
            <a:r>
              <a:rPr lang="zh-CN" sz="820" b="0">
                <a:solidFill>
                  <a:srgbClr val="C6D0DD"/>
                </a:solidFill>
                <a:latin typeface="微软雅黑" panose="020B0503020204020204" charset="-122"/>
                <a:ea typeface="微软雅黑" panose="020B0503020204020204" charset="-122"/>
              </a:rPr>
              <a:t>把关键技术和产业安全上升为长期战略</a:t>
            </a:r>
            <a:endParaRPr lang="zh-CN" sz="820" b="0">
              <a:solidFill>
                <a:srgbClr val="C6D0DD"/>
              </a:solidFill>
              <a:latin typeface="微软雅黑" panose="020B0503020204020204" charset="-122"/>
              <a:ea typeface="微软雅黑" panose="020B0503020204020204" charset="-122"/>
            </a:endParaRPr>
          </a:p>
        </p:txBody>
      </p:sp>
      <p:sp>
        <p:nvSpPr>
          <p:cNvPr id="18" name="Shape"/>
          <p:cNvSpPr/>
          <p:nvPr/>
        </p:nvSpPr>
        <p:spPr>
          <a:xfrm>
            <a:off x="960120" y="4325112"/>
            <a:ext cx="164592" cy="164592"/>
          </a:xfrm>
          <a:prstGeom prst="roundRect">
            <a:avLst/>
          </a:prstGeom>
          <a:solidFill>
            <a:srgbClr val="16825D"/>
          </a:solidFill>
          <a:ln>
            <a:noFill/>
          </a:ln>
        </p:spPr>
        <p:txBody>
          <a:bodyPr/>
          <a:lstStyle/>
          <a:p/>
        </p:txBody>
      </p:sp>
      <p:sp>
        <p:nvSpPr>
          <p:cNvPr id="19" name="Text"/>
          <p:cNvSpPr txBox="1"/>
          <p:nvPr/>
        </p:nvSpPr>
        <p:spPr>
          <a:xfrm>
            <a:off x="1325880" y="4279392"/>
            <a:ext cx="2926080" cy="182880"/>
          </a:xfrm>
          <a:prstGeom prst="rect">
            <a:avLst/>
          </a:prstGeom>
          <a:noFill/>
          <a:ln>
            <a:noFill/>
          </a:ln>
        </p:spPr>
        <p:txBody>
          <a:bodyPr wrap="square" anchor="t">
            <a:spAutoFit/>
          </a:bodyPr>
          <a:lstStyle/>
          <a:p>
            <a:pPr algn="l"/>
            <a:r>
              <a:rPr lang="zh-CN" sz="1000" b="1">
                <a:solidFill>
                  <a:srgbClr val="FFFFFF"/>
                </a:solidFill>
                <a:latin typeface="微软雅黑" panose="020B0503020204020204" charset="-122"/>
                <a:ea typeface="微软雅黑" panose="020B0503020204020204" charset="-122"/>
              </a:rPr>
              <a:t>民生与公共服务</a:t>
            </a:r>
            <a:endParaRPr lang="zh-CN" sz="1000" b="1">
              <a:solidFill>
                <a:srgbClr val="FFFFFF"/>
              </a:solidFill>
              <a:latin typeface="微软雅黑" panose="020B0503020204020204" charset="-122"/>
              <a:ea typeface="微软雅黑" panose="020B0503020204020204" charset="-122"/>
            </a:endParaRPr>
          </a:p>
        </p:txBody>
      </p:sp>
      <p:sp>
        <p:nvSpPr>
          <p:cNvPr id="20" name="Text"/>
          <p:cNvSpPr txBox="1"/>
          <p:nvPr/>
        </p:nvSpPr>
        <p:spPr>
          <a:xfrm>
            <a:off x="4434840" y="4288536"/>
            <a:ext cx="5760720" cy="164592"/>
          </a:xfrm>
          <a:prstGeom prst="rect">
            <a:avLst/>
          </a:prstGeom>
          <a:noFill/>
          <a:ln>
            <a:noFill/>
          </a:ln>
        </p:spPr>
        <p:txBody>
          <a:bodyPr wrap="square" anchor="t">
            <a:spAutoFit/>
          </a:bodyPr>
          <a:lstStyle/>
          <a:p>
            <a:pPr algn="l"/>
            <a:r>
              <a:rPr lang="zh-CN" sz="820" b="0">
                <a:solidFill>
                  <a:srgbClr val="C6D0DD"/>
                </a:solidFill>
                <a:latin typeface="微软雅黑" panose="020B0503020204020204" charset="-122"/>
                <a:ea typeface="微软雅黑" panose="020B0503020204020204" charset="-122"/>
              </a:rPr>
              <a:t>财政支出长期覆盖教育、社保、卫生等领域</a:t>
            </a:r>
            <a:endParaRPr lang="zh-CN" sz="820" b="0">
              <a:solidFill>
                <a:srgbClr val="C6D0DD"/>
              </a:solidFill>
              <a:latin typeface="微软雅黑" panose="020B0503020204020204" charset="-122"/>
              <a:ea typeface="微软雅黑" panose="020B0503020204020204" charset="-122"/>
            </a:endParaRPr>
          </a:p>
        </p:txBody>
      </p:sp>
      <p:sp>
        <p:nvSpPr>
          <p:cNvPr id="21" name="Shape"/>
          <p:cNvSpPr/>
          <p:nvPr/>
        </p:nvSpPr>
        <p:spPr>
          <a:xfrm>
            <a:off x="868680" y="5532120"/>
            <a:ext cx="10241280" cy="438912"/>
          </a:xfrm>
          <a:prstGeom prst="roundRect">
            <a:avLst/>
          </a:prstGeom>
          <a:solidFill>
            <a:srgbClr val="F3E2B6"/>
          </a:solidFill>
          <a:ln>
            <a:noFill/>
          </a:ln>
        </p:spPr>
        <p:txBody>
          <a:bodyPr/>
          <a:lstStyle/>
          <a:p/>
        </p:txBody>
      </p:sp>
      <p:sp>
        <p:nvSpPr>
          <p:cNvPr id="22" name="Text"/>
          <p:cNvSpPr txBox="1"/>
          <p:nvPr/>
        </p:nvSpPr>
        <p:spPr>
          <a:xfrm>
            <a:off x="1097280" y="5687568"/>
            <a:ext cx="9738360" cy="128016"/>
          </a:xfrm>
          <a:prstGeom prst="rect">
            <a:avLst/>
          </a:prstGeom>
          <a:noFill/>
          <a:ln>
            <a:noFill/>
          </a:ln>
        </p:spPr>
        <p:txBody>
          <a:bodyPr wrap="square" anchor="t">
            <a:spAutoFit/>
          </a:bodyPr>
          <a:lstStyle/>
          <a:p>
            <a:pPr algn="ctr"/>
            <a:r>
              <a:rPr lang="zh-CN" sz="850" b="1">
                <a:solidFill>
                  <a:srgbClr val="15202B"/>
                </a:solidFill>
                <a:latin typeface="微软雅黑" panose="020B0503020204020204" charset="-122"/>
                <a:ea typeface="微软雅黑" panose="020B0503020204020204" charset="-122"/>
              </a:rPr>
              <a:t>政策重心正在从“单纯追求速度”转向“发展质量、风险底线和长期安全”。</a:t>
            </a:r>
            <a:endParaRPr lang="zh-CN" sz="850" b="1">
              <a:solidFill>
                <a:srgbClr val="15202B"/>
              </a:solidFill>
              <a:latin typeface="微软雅黑" panose="020B0503020204020204" charset="-122"/>
              <a:ea typeface="微软雅黑" panose="020B0503020204020204" charset="-122"/>
            </a:endParaRPr>
          </a:p>
        </p:txBody>
      </p:sp>
      <p:sp>
        <p:nvSpPr>
          <p:cNvPr id="23"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资料来源：二十届三中全会《决定》、民营经济促进相关政策、财政部公开资料</a:t>
            </a:r>
            <a:endParaRPr lang="zh-CN" sz="550" b="0">
              <a:solidFill>
                <a:srgbClr val="8C939D"/>
              </a:solidFill>
              <a:latin typeface="微软雅黑" panose="020B0503020204020204" charset="-122"/>
              <a:ea typeface="微软雅黑" panose="020B0503020204020204" charset="-122"/>
            </a:endParaRPr>
          </a:p>
        </p:txBody>
      </p:sp>
      <p:sp>
        <p:nvSpPr>
          <p:cNvPr id="24"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3" presetClass="entr" presetSubtype="16" fill="hold" grpId="7" nodeType="afterEffect">
                                  <p:stCondLst>
                                    <p:cond delay="0"/>
                                  </p:stCondLst>
                                  <p:childTnLst>
                                    <p:set>
                                      <p:cBhvr>
                                        <p:cTn id="15" dur="350" fill="hold">
                                          <p:stCondLst>
                                            <p:cond delay="0"/>
                                          </p:stCondLst>
                                        </p:cTn>
                                        <p:tgtEl>
                                          <p:spTgt spid="7"/>
                                        </p:tgtEl>
                                        <p:attrNameLst>
                                          <p:attrName>style.visibility</p:attrName>
                                        </p:attrNameLst>
                                      </p:cBhvr>
                                      <p:to>
                                        <p:strVal val="visible"/>
                                      </p:to>
                                    </p:set>
                                    <p:anim calcmode="lin" valueType="num">
                                      <p:cBhvr>
                                        <p:cTn id="16" dur="350" fill="hold"/>
                                        <p:tgtEl>
                                          <p:spTgt spid="7"/>
                                        </p:tgtEl>
                                        <p:attrNameLst>
                                          <p:attrName>ppt_w</p:attrName>
                                        </p:attrNameLst>
                                      </p:cBhvr>
                                      <p:tavLst>
                                        <p:tav tm="0">
                                          <p:val>
                                            <p:fltVal val="0"/>
                                          </p:val>
                                        </p:tav>
                                        <p:tav tm="100000">
                                          <p:val>
                                            <p:strVal val="#ppt_w"/>
                                          </p:val>
                                        </p:tav>
                                      </p:tavLst>
                                    </p:anim>
                                    <p:anim calcmode="lin" valueType="num">
                                      <p:cBhvr>
                                        <p:cTn id="17" dur="350" fill="hold"/>
                                        <p:tgtEl>
                                          <p:spTgt spid="7"/>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10" presetClass="entr" presetSubtype="0" fill="hold" grpId="8" nodeType="afterEffect">
                                  <p:stCondLst>
                                    <p:cond delay="0"/>
                                  </p:stCondLst>
                                  <p:childTnLst>
                                    <p:set>
                                      <p:cBhvr>
                                        <p:cTn id="20" dur="350" fill="hold">
                                          <p:stCondLst>
                                            <p:cond delay="0"/>
                                          </p:stCondLst>
                                        </p:cTn>
                                        <p:tgtEl>
                                          <p:spTgt spid="8"/>
                                        </p:tgtEl>
                                        <p:attrNameLst>
                                          <p:attrName>style.visibility</p:attrName>
                                        </p:attrNameLst>
                                      </p:cBhvr>
                                      <p:to>
                                        <p:strVal val="visible"/>
                                      </p:to>
                                    </p:set>
                                    <p:animEffect transition="in" filter="fade">
                                      <p:cBhvr>
                                        <p:cTn id="21" dur="350"/>
                                        <p:tgtEl>
                                          <p:spTgt spid="8"/>
                                        </p:tgtEl>
                                      </p:cBhvr>
                                    </p:animEffect>
                                  </p:childTnLst>
                                </p:cTn>
                              </p:par>
                            </p:childTnLst>
                          </p:cTn>
                        </p:par>
                        <p:par>
                          <p:cTn id="22" fill="hold">
                            <p:stCondLst>
                              <p:cond delay="2000"/>
                            </p:stCondLst>
                            <p:childTnLst>
                              <p:par>
                                <p:cTn id="23" presetID="37" presetClass="entr" presetSubtype="0" fill="hold" grpId="9"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20"/>
                                        <p:tgtEl>
                                          <p:spTgt spid="10"/>
                                        </p:tgtEl>
                                      </p:cBhvr>
                                    </p:animEffect>
                                    <p:anim calcmode="lin" valueType="num">
                                      <p:cBhvr>
                                        <p:cTn id="26" dur="420" fill="hold"/>
                                        <p:tgtEl>
                                          <p:spTgt spid="10"/>
                                        </p:tgtEl>
                                        <p:attrNameLst>
                                          <p:attrName>ppt_x</p:attrName>
                                        </p:attrNameLst>
                                      </p:cBhvr>
                                      <p:tavLst>
                                        <p:tav tm="0">
                                          <p:val>
                                            <p:strVal val="#ppt_x"/>
                                          </p:val>
                                        </p:tav>
                                        <p:tav tm="100000">
                                          <p:val>
                                            <p:strVal val="#ppt_x"/>
                                          </p:val>
                                        </p:tav>
                                      </p:tavLst>
                                    </p:anim>
                                    <p:anim calcmode="lin" valueType="num">
                                      <p:cBhvr>
                                        <p:cTn id="27" dur="378" decel="100000" fill="hold"/>
                                        <p:tgtEl>
                                          <p:spTgt spid="10"/>
                                        </p:tgtEl>
                                        <p:attrNameLst>
                                          <p:attrName>ppt_y</p:attrName>
                                        </p:attrNameLst>
                                      </p:cBhvr>
                                      <p:tavLst>
                                        <p:tav tm="0">
                                          <p:val>
                                            <p:strVal val="#ppt_y+1"/>
                                          </p:val>
                                        </p:tav>
                                        <p:tav tm="100000">
                                          <p:val>
                                            <p:strVal val="#ppt_y-.03"/>
                                          </p:val>
                                        </p:tav>
                                      </p:tavLst>
                                    </p:anim>
                                    <p:anim calcmode="lin" valueType="num">
                                      <p:cBhvr>
                                        <p:cTn id="28" dur="42" accel="100000" fill="hold">
                                          <p:stCondLst>
                                            <p:cond delay="378"/>
                                          </p:stCondLst>
                                        </p:cTn>
                                        <p:tgtEl>
                                          <p:spTgt spid="10"/>
                                        </p:tgtEl>
                                        <p:attrNameLst>
                                          <p:attrName>ppt_y</p:attrName>
                                        </p:attrNameLst>
                                      </p:cBhvr>
                                      <p:tavLst>
                                        <p:tav tm="0">
                                          <p:val>
                                            <p:strVal val="#ppt_y-.03"/>
                                          </p:val>
                                        </p:tav>
                                        <p:tav tm="100000">
                                          <p:val>
                                            <p:strVal val="#ppt_y"/>
                                          </p:val>
                                        </p:tav>
                                      </p:tavLst>
                                    </p:anim>
                                  </p:childTnLst>
                                </p:cTn>
                              </p:par>
                            </p:childTnLst>
                          </p:cTn>
                        </p:par>
                        <p:par>
                          <p:cTn id="29" fill="hold">
                            <p:stCondLst>
                              <p:cond delay="2500"/>
                            </p:stCondLst>
                            <p:childTnLst>
                              <p:par>
                                <p:cTn id="30" presetID="10" presetClass="entr" presetSubtype="0" fill="hold" grpId="11" nodeType="afterEffect">
                                  <p:stCondLst>
                                    <p:cond delay="0"/>
                                  </p:stCondLst>
                                  <p:childTnLst>
                                    <p:set>
                                      <p:cBhvr>
                                        <p:cTn id="31" dur="420" fill="hold">
                                          <p:stCondLst>
                                            <p:cond delay="0"/>
                                          </p:stCondLst>
                                        </p:cTn>
                                        <p:tgtEl>
                                          <p:spTgt spid="13"/>
                                        </p:tgtEl>
                                        <p:attrNameLst>
                                          <p:attrName>style.visibility</p:attrName>
                                        </p:attrNameLst>
                                      </p:cBhvr>
                                      <p:to>
                                        <p:strVal val="visible"/>
                                      </p:to>
                                    </p:set>
                                    <p:animEffect transition="in" filter="fade">
                                      <p:cBhvr>
                                        <p:cTn id="32" dur="420"/>
                                        <p:tgtEl>
                                          <p:spTgt spid="13"/>
                                        </p:tgtEl>
                                      </p:cBhvr>
                                    </p:animEffect>
                                  </p:childTnLst>
                                </p:cTn>
                              </p:par>
                            </p:childTnLst>
                          </p:cTn>
                        </p:par>
                        <p:par>
                          <p:cTn id="33" fill="hold">
                            <p:stCondLst>
                              <p:cond delay="3000"/>
                            </p:stCondLst>
                            <p:childTnLst>
                              <p:par>
                                <p:cTn id="34" presetID="22" presetClass="entr" presetSubtype="4" fill="hold" grpId="10" nodeType="afterEffect">
                                  <p:stCondLst>
                                    <p:cond delay="0"/>
                                  </p:stCondLst>
                                  <p:childTnLst>
                                    <p:set>
                                      <p:cBhvr>
                                        <p:cTn id="35" dur="420" fill="hold">
                                          <p:stCondLst>
                                            <p:cond delay="0"/>
                                          </p:stCondLst>
                                        </p:cTn>
                                        <p:tgtEl>
                                          <p:spTgt spid="11"/>
                                        </p:tgtEl>
                                        <p:attrNameLst>
                                          <p:attrName>style.visibility</p:attrName>
                                        </p:attrNameLst>
                                      </p:cBhvr>
                                      <p:to>
                                        <p:strVal val="visible"/>
                                      </p:to>
                                    </p:set>
                                    <p:animEffect transition="in" filter="wipe(down)">
                                      <p:cBhvr>
                                        <p:cTn id="36" dur="420"/>
                                        <p:tgtEl>
                                          <p:spTgt spid="11"/>
                                        </p:tgtEl>
                                      </p:cBhvr>
                                    </p:animEffect>
                                  </p:childTnLst>
                                </p:cTn>
                              </p:par>
                            </p:childTnLst>
                          </p:cTn>
                        </p:par>
                        <p:par>
                          <p:cTn id="37" fill="hold">
                            <p:stCondLst>
                              <p:cond delay="3500"/>
                            </p:stCondLst>
                            <p:childTnLst>
                              <p:par>
                                <p:cTn id="38" presetID="2" presetClass="entr" presetSubtype="4" fill="hold" grpId="12" nodeType="afterEffect">
                                  <p:stCondLst>
                                    <p:cond delay="0"/>
                                  </p:stCondLst>
                                  <p:childTnLst>
                                    <p:set>
                                      <p:cBhvr>
                                        <p:cTn id="39" dur="420" fill="hold">
                                          <p:stCondLst>
                                            <p:cond delay="0"/>
                                          </p:stCondLst>
                                        </p:cTn>
                                        <p:tgtEl>
                                          <p:spTgt spid="14"/>
                                        </p:tgtEl>
                                        <p:attrNameLst>
                                          <p:attrName>style.visibility</p:attrName>
                                        </p:attrNameLst>
                                      </p:cBhvr>
                                      <p:to>
                                        <p:strVal val="visible"/>
                                      </p:to>
                                    </p:set>
                                    <p:anim calcmode="lin" valueType="num">
                                      <p:cBhvr additive="base">
                                        <p:cTn id="40" dur="420" fill="hold"/>
                                        <p:tgtEl>
                                          <p:spTgt spid="14"/>
                                        </p:tgtEl>
                                        <p:attrNameLst>
                                          <p:attrName>ppt_x</p:attrName>
                                        </p:attrNameLst>
                                      </p:cBhvr>
                                      <p:tavLst>
                                        <p:tav tm="0">
                                          <p:val>
                                            <p:strVal val="#ppt_x"/>
                                          </p:val>
                                        </p:tav>
                                        <p:tav tm="100000">
                                          <p:val>
                                            <p:strVal val="#ppt_x"/>
                                          </p:val>
                                        </p:tav>
                                      </p:tavLst>
                                    </p:anim>
                                    <p:anim calcmode="lin" valueType="num">
                                      <p:cBhvr additive="base">
                                        <p:cTn id="41" dur="420" fill="hold"/>
                                        <p:tgtEl>
                                          <p:spTgt spid="14"/>
                                        </p:tgtEl>
                                        <p:attrNameLst>
                                          <p:attrName>ppt_y</p:attrName>
                                        </p:attrNameLst>
                                      </p:cBhvr>
                                      <p:tavLst>
                                        <p:tav tm="0">
                                          <p:val>
                                            <p:strVal val="1+#ppt_h/2"/>
                                          </p:val>
                                        </p:tav>
                                        <p:tav tm="100000">
                                          <p:val>
                                            <p:strVal val="#ppt_y"/>
                                          </p:val>
                                        </p:tav>
                                      </p:tavLst>
                                    </p:anim>
                                  </p:childTnLst>
                                </p:cTn>
                              </p:par>
                            </p:childTnLst>
                          </p:cTn>
                        </p:par>
                        <p:par>
                          <p:cTn id="42" fill="hold">
                            <p:stCondLst>
                              <p:cond delay="4000"/>
                            </p:stCondLst>
                            <p:childTnLst>
                              <p:par>
                                <p:cTn id="43" presetID="30" presetClass="entr" presetSubtype="0" fill="hold" grpId="13" nodeType="after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336" decel="100000"/>
                                        <p:tgtEl>
                                          <p:spTgt spid="16"/>
                                        </p:tgtEl>
                                      </p:cBhvr>
                                    </p:animEffect>
                                    <p:anim calcmode="lin" valueType="num">
                                      <p:cBhvr>
                                        <p:cTn id="46" dur="336" decel="100000" fill="hold"/>
                                        <p:tgtEl>
                                          <p:spTgt spid="16"/>
                                        </p:tgtEl>
                                        <p:attrNameLst>
                                          <p:attrName>style.rotation</p:attrName>
                                        </p:attrNameLst>
                                      </p:cBhvr>
                                      <p:tavLst>
                                        <p:tav tm="0">
                                          <p:val>
                                            <p:fltVal val="-90"/>
                                          </p:val>
                                        </p:tav>
                                        <p:tav tm="100000">
                                          <p:val>
                                            <p:fltVal val="0"/>
                                          </p:val>
                                        </p:tav>
                                      </p:tavLst>
                                    </p:anim>
                                    <p:anim calcmode="lin" valueType="num">
                                      <p:cBhvr>
                                        <p:cTn id="47" dur="336" decel="100000" fill="hold"/>
                                        <p:tgtEl>
                                          <p:spTgt spid="16"/>
                                        </p:tgtEl>
                                        <p:attrNameLst>
                                          <p:attrName>ppt_x</p:attrName>
                                        </p:attrNameLst>
                                      </p:cBhvr>
                                      <p:tavLst>
                                        <p:tav tm="0">
                                          <p:val>
                                            <p:strVal val="#ppt_x+0.4"/>
                                          </p:val>
                                        </p:tav>
                                        <p:tav tm="100000">
                                          <p:val>
                                            <p:strVal val="#ppt_x-0.05"/>
                                          </p:val>
                                        </p:tav>
                                      </p:tavLst>
                                    </p:anim>
                                    <p:anim calcmode="lin" valueType="num">
                                      <p:cBhvr>
                                        <p:cTn id="48" dur="336" decel="100000" fill="hold"/>
                                        <p:tgtEl>
                                          <p:spTgt spid="16"/>
                                        </p:tgtEl>
                                        <p:attrNameLst>
                                          <p:attrName>ppt_y</p:attrName>
                                        </p:attrNameLst>
                                      </p:cBhvr>
                                      <p:tavLst>
                                        <p:tav tm="0">
                                          <p:val>
                                            <p:strVal val="#ppt_y-0.4"/>
                                          </p:val>
                                        </p:tav>
                                        <p:tav tm="100000">
                                          <p:val>
                                            <p:strVal val="#ppt_y+0.1"/>
                                          </p:val>
                                        </p:tav>
                                      </p:tavLst>
                                    </p:anim>
                                    <p:anim calcmode="lin" valueType="num">
                                      <p:cBhvr>
                                        <p:cTn id="49" dur="84" accel="100000" fill="hold">
                                          <p:stCondLst>
                                            <p:cond delay="336"/>
                                          </p:stCondLst>
                                        </p:cTn>
                                        <p:tgtEl>
                                          <p:spTgt spid="16"/>
                                        </p:tgtEl>
                                        <p:attrNameLst>
                                          <p:attrName>ppt_x</p:attrName>
                                        </p:attrNameLst>
                                      </p:cBhvr>
                                      <p:tavLst>
                                        <p:tav tm="0">
                                          <p:val>
                                            <p:strVal val="#ppt_x-0.05"/>
                                          </p:val>
                                        </p:tav>
                                        <p:tav tm="100000">
                                          <p:val>
                                            <p:strVal val="#ppt_x"/>
                                          </p:val>
                                        </p:tav>
                                      </p:tavLst>
                                    </p:anim>
                                    <p:anim calcmode="lin" valueType="num">
                                      <p:cBhvr>
                                        <p:cTn id="50" dur="84" accel="100000" fill="hold">
                                          <p:stCondLst>
                                            <p:cond delay="336"/>
                                          </p:stCondLst>
                                        </p:cTn>
                                        <p:tgtEl>
                                          <p:spTgt spid="16"/>
                                        </p:tgtEl>
                                        <p:attrNameLst>
                                          <p:attrName>ppt_y</p:attrName>
                                        </p:attrNameLst>
                                      </p:cBhvr>
                                      <p:tavLst>
                                        <p:tav tm="0">
                                          <p:val>
                                            <p:strVal val="#ppt_y+0.1"/>
                                          </p:val>
                                        </p:tav>
                                        <p:tav tm="100000">
                                          <p:val>
                                            <p:strVal val="#ppt_y"/>
                                          </p:val>
                                        </p:tav>
                                      </p:tavLst>
                                    </p:anim>
                                  </p:childTnLst>
                                </p:cTn>
                              </p:par>
                            </p:childTnLst>
                          </p:cTn>
                        </p:par>
                        <p:par>
                          <p:cTn id="51" fill="hold">
                            <p:stCondLst>
                              <p:cond delay="4500"/>
                            </p:stCondLst>
                            <p:childTnLst>
                              <p:par>
                                <p:cTn id="52" presetID="37" presetClass="entr" presetSubtype="0" fill="hold" grpId="14"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20"/>
                                        <p:tgtEl>
                                          <p:spTgt spid="19"/>
                                        </p:tgtEl>
                                      </p:cBhvr>
                                    </p:animEffect>
                                    <p:anim calcmode="lin" valueType="num">
                                      <p:cBhvr>
                                        <p:cTn id="55" dur="420" fill="hold"/>
                                        <p:tgtEl>
                                          <p:spTgt spid="19"/>
                                        </p:tgtEl>
                                        <p:attrNameLst>
                                          <p:attrName>ppt_x</p:attrName>
                                        </p:attrNameLst>
                                      </p:cBhvr>
                                      <p:tavLst>
                                        <p:tav tm="0">
                                          <p:val>
                                            <p:strVal val="#ppt_x"/>
                                          </p:val>
                                        </p:tav>
                                        <p:tav tm="100000">
                                          <p:val>
                                            <p:strVal val="#ppt_x"/>
                                          </p:val>
                                        </p:tav>
                                      </p:tavLst>
                                    </p:anim>
                                    <p:anim calcmode="lin" valueType="num">
                                      <p:cBhvr>
                                        <p:cTn id="56" dur="378" decel="100000" fill="hold"/>
                                        <p:tgtEl>
                                          <p:spTgt spid="19"/>
                                        </p:tgtEl>
                                        <p:attrNameLst>
                                          <p:attrName>ppt_y</p:attrName>
                                        </p:attrNameLst>
                                      </p:cBhvr>
                                      <p:tavLst>
                                        <p:tav tm="0">
                                          <p:val>
                                            <p:strVal val="#ppt_y+1"/>
                                          </p:val>
                                        </p:tav>
                                        <p:tav tm="100000">
                                          <p:val>
                                            <p:strVal val="#ppt_y-.03"/>
                                          </p:val>
                                        </p:tav>
                                      </p:tavLst>
                                    </p:anim>
                                    <p:anim calcmode="lin" valueType="num">
                                      <p:cBhvr>
                                        <p:cTn id="57" dur="42" accel="100000" fill="hold">
                                          <p:stCondLst>
                                            <p:cond delay="378"/>
                                          </p:stCondLst>
                                        </p:cTn>
                                        <p:tgtEl>
                                          <p:spTgt spid="19"/>
                                        </p:tgtEl>
                                        <p:attrNameLst>
                                          <p:attrName>ppt_y</p:attrName>
                                        </p:attrNameLst>
                                      </p:cBhvr>
                                      <p:tavLst>
                                        <p:tav tm="0">
                                          <p:val>
                                            <p:strVal val="#ppt_y-.03"/>
                                          </p:val>
                                        </p:tav>
                                        <p:tav tm="100000">
                                          <p:val>
                                            <p:strVal val="#ppt_y"/>
                                          </p:val>
                                        </p:tav>
                                      </p:tavLst>
                                    </p:anim>
                                  </p:childTnLst>
                                </p:cTn>
                              </p:par>
                            </p:childTnLst>
                          </p:cTn>
                        </p:par>
                        <p:par>
                          <p:cTn id="58" fill="hold">
                            <p:stCondLst>
                              <p:cond delay="5000"/>
                            </p:stCondLst>
                            <p:childTnLst>
                              <p:par>
                                <p:cTn id="59" presetID="10" presetClass="entr" presetSubtype="0" fill="hold" grpId="13" nodeType="afterEffect">
                                  <p:stCondLst>
                                    <p:cond delay="0"/>
                                  </p:stCondLst>
                                  <p:childTnLst>
                                    <p:set>
                                      <p:cBhvr>
                                        <p:cTn id="60" dur="420" fill="hold">
                                          <p:stCondLst>
                                            <p:cond delay="0"/>
                                          </p:stCondLst>
                                        </p:cTn>
                                        <p:tgtEl>
                                          <p:spTgt spid="17"/>
                                        </p:tgtEl>
                                        <p:attrNameLst>
                                          <p:attrName>style.visibility</p:attrName>
                                        </p:attrNameLst>
                                      </p:cBhvr>
                                      <p:to>
                                        <p:strVal val="visible"/>
                                      </p:to>
                                    </p:set>
                                    <p:animEffect transition="in" filter="fade">
                                      <p:cBhvr>
                                        <p:cTn id="61" dur="420"/>
                                        <p:tgtEl>
                                          <p:spTgt spid="17"/>
                                        </p:tgtEl>
                                      </p:cBhvr>
                                    </p:animEffect>
                                  </p:childTnLst>
                                </p:cTn>
                              </p:par>
                            </p:childTnLst>
                          </p:cTn>
                        </p:par>
                        <p:par>
                          <p:cTn id="62" fill="hold">
                            <p:stCondLst>
                              <p:cond delay="5500"/>
                            </p:stCondLst>
                            <p:childTnLst>
                              <p:par>
                                <p:cTn id="63" presetID="22" presetClass="entr" presetSubtype="4" fill="hold" grpId="15" nodeType="afterEffect">
                                  <p:stCondLst>
                                    <p:cond delay="0"/>
                                  </p:stCondLst>
                                  <p:childTnLst>
                                    <p:set>
                                      <p:cBhvr>
                                        <p:cTn id="64" dur="420" fill="hold">
                                          <p:stCondLst>
                                            <p:cond delay="0"/>
                                          </p:stCondLst>
                                        </p:cTn>
                                        <p:tgtEl>
                                          <p:spTgt spid="20"/>
                                        </p:tgtEl>
                                        <p:attrNameLst>
                                          <p:attrName>style.visibility</p:attrName>
                                        </p:attrNameLst>
                                      </p:cBhvr>
                                      <p:to>
                                        <p:strVal val="visible"/>
                                      </p:to>
                                    </p:set>
                                    <p:animEffect transition="in" filter="wipe(down)">
                                      <p:cBhvr>
                                        <p:cTn id="65" dur="420"/>
                                        <p:tgtEl>
                                          <p:spTgt spid="20"/>
                                        </p:tgtEl>
                                      </p:cBhvr>
                                    </p:animEffect>
                                  </p:childTnLst>
                                </p:cTn>
                              </p:par>
                            </p:childTnLst>
                          </p:cTn>
                        </p:par>
                        <p:par>
                          <p:cTn id="66" fill="hold">
                            <p:stCondLst>
                              <p:cond delay="6000"/>
                            </p:stCondLst>
                            <p:childTnLst>
                              <p:par>
                                <p:cTn id="67" presetID="16" presetClass="entr" presetSubtype="21" fill="hold" grpId="13" nodeType="afterEffect">
                                  <p:stCondLst>
                                    <p:cond delay="0"/>
                                  </p:stCondLst>
                                  <p:childTnLst>
                                    <p:set>
                                      <p:cBhvr>
                                        <p:cTn id="68" dur="420" fill="hold">
                                          <p:stCondLst>
                                            <p:cond delay="0"/>
                                          </p:stCondLst>
                                        </p:cTn>
                                        <p:tgtEl>
                                          <p:spTgt spid="22"/>
                                        </p:tgtEl>
                                        <p:attrNameLst>
                                          <p:attrName>style.visibility</p:attrName>
                                        </p:attrNameLst>
                                      </p:cBhvr>
                                      <p:to>
                                        <p:strVal val="visible"/>
                                      </p:to>
                                    </p:set>
                                    <p:animEffect transition="in" filter="barn(inVertical)">
                                      <p:cBhvr>
                                        <p:cTn id="69"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7" grpId="2" uiExpand="1" build="allAtOnce"/>
      <p:bldP spid="8" grpId="3" uiExpand="1" build="allAtOnce"/>
      <p:bldP spid="10" grpId="4" uiExpand="1" build="allAtOnce"/>
      <p:bldP spid="11" grpId="5" uiExpand="1" build="allAtOnce"/>
      <p:bldP spid="13" grpId="6" uiExpand="1" build="allAtOnce"/>
      <p:bldP spid="14" grpId="7" uiExpand="1" build="allAtOnce"/>
      <p:bldP spid="16" grpId="8" uiExpand="1" build="allAtOnce"/>
      <p:bldP spid="17" grpId="9" uiExpand="1" build="allAtOnce"/>
      <p:bldP spid="19" grpId="10" uiExpand="1" build="allAtOnce"/>
      <p:bldP spid="20" grpId="11" uiExpand="1" build="allAtOnce"/>
      <p:bldP spid="22" grpId="12" uiExpand="1" build="allAtOnce"/>
      <p:bldP spid="3" grpId="0"/>
      <p:bldP spid="4" grpId="2"/>
      <p:bldP spid="7" grpId="3"/>
      <p:bldP spid="8" grpId="4"/>
      <p:bldP spid="10" grpId="5"/>
      <p:bldP spid="11" grpId="6"/>
      <p:bldP spid="13" grpId="7"/>
      <p:bldP spid="14" grpId="8"/>
      <p:bldP spid="16" grpId="9"/>
      <p:bldP spid="3" grpId="1"/>
      <p:bldP spid="4" grpId="3"/>
      <p:bldP spid="7" grpId="4"/>
      <p:bldP spid="8" grpId="5"/>
      <p:bldP spid="10" grpId="6"/>
      <p:bldP spid="13" grpId="8"/>
      <p:bldP spid="16" grpId="10"/>
      <p:bldP spid="19" grpId="11"/>
      <p:bldP spid="11" grpId="7"/>
      <p:bldP spid="14" grpId="9"/>
      <p:bldP spid="17" grpId="10"/>
      <p:bldP spid="20" grpId="12"/>
      <p:bldP spid="3" grpId="2"/>
      <p:bldP spid="4" grpId="4"/>
      <p:bldP spid="7" grpId="5"/>
      <p:bldP spid="8" grpId="6"/>
      <p:bldP spid="10" grpId="7"/>
      <p:bldP spid="13" grpId="9"/>
      <p:bldP spid="16" grpId="11"/>
      <p:bldP spid="19" grpId="12"/>
      <p:bldP spid="11" grpId="8"/>
      <p:bldP spid="14" grpId="10"/>
      <p:bldP spid="17" grpId="11"/>
      <p:bldP spid="20" grpId="13"/>
      <p:bldP spid="3" grpId="3"/>
      <p:bldP spid="4" grpId="5"/>
      <p:bldP spid="7" grpId="6"/>
      <p:bldP spid="8" grpId="7"/>
      <p:bldP spid="10" grpId="8"/>
      <p:bldP spid="13" grpId="10"/>
      <p:bldP spid="11" grpId="9"/>
      <p:bldP spid="14" grpId="11"/>
      <p:bldP spid="16" grpId="12"/>
      <p:bldP spid="19" grpId="13"/>
      <p:bldP spid="17" grpId="12"/>
      <p:bldP spid="20" grpId="14"/>
      <p:bldP spid="3" grpId="4"/>
      <p:bldP spid="4" grpId="6"/>
      <p:bldP spid="7" grpId="7"/>
      <p:bldP spid="8" grpId="8"/>
      <p:bldP spid="10" grpId="9"/>
      <p:bldP spid="13" grpId="11"/>
      <p:bldP spid="11" grpId="10"/>
      <p:bldP spid="14" grpId="12"/>
      <p:bldP spid="16" grpId="13"/>
      <p:bldP spid="19" grpId="14"/>
      <p:bldP spid="17" grpId="13"/>
      <p:bldP spid="20" grpId="15"/>
      <p:bldP spid="22" grpId="13"/>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1E8"/>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10 结论推导</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所以答案不是简单的“像不像”，而是“按哪个标准判断”</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868680" y="1554480"/>
            <a:ext cx="10149840" cy="749808"/>
          </a:xfrm>
          <a:prstGeom prst="roundRect">
            <a:avLst/>
          </a:prstGeom>
          <a:solidFill>
            <a:srgbClr val="FFFDF7"/>
          </a:solidFill>
          <a:ln w="12700">
            <a:solidFill>
              <a:srgbClr val="E4DED2"/>
            </a:solidFill>
          </a:ln>
        </p:spPr>
        <p:txBody>
          <a:bodyPr/>
          <a:lstStyle/>
          <a:p/>
        </p:txBody>
      </p:sp>
      <p:sp>
        <p:nvSpPr>
          <p:cNvPr id="7" name="Text"/>
          <p:cNvSpPr txBox="1"/>
          <p:nvPr/>
        </p:nvSpPr>
        <p:spPr>
          <a:xfrm>
            <a:off x="1143000" y="1792224"/>
            <a:ext cx="2286000" cy="146304"/>
          </a:xfrm>
          <a:prstGeom prst="rect">
            <a:avLst/>
          </a:prstGeom>
          <a:noFill/>
          <a:ln>
            <a:noFill/>
          </a:ln>
        </p:spPr>
        <p:txBody>
          <a:bodyPr wrap="square" anchor="t">
            <a:spAutoFit/>
          </a:bodyPr>
          <a:lstStyle/>
          <a:p>
            <a:pPr algn="l"/>
            <a:r>
              <a:rPr lang="zh-CN" sz="860" b="1">
                <a:solidFill>
                  <a:srgbClr val="15202B"/>
                </a:solidFill>
                <a:latin typeface="微软雅黑" panose="020B0503020204020204" charset="-122"/>
                <a:ea typeface="微软雅黑" panose="020B0503020204020204" charset="-122"/>
              </a:rPr>
              <a:t>如果按计划经济标准</a:t>
            </a:r>
            <a:endParaRPr lang="zh-CN" sz="860" b="1">
              <a:solidFill>
                <a:srgbClr val="15202B"/>
              </a:solidFill>
              <a:latin typeface="微软雅黑" panose="020B0503020204020204" charset="-122"/>
              <a:ea typeface="微软雅黑" panose="020B0503020204020204" charset="-122"/>
            </a:endParaRPr>
          </a:p>
        </p:txBody>
      </p:sp>
      <p:sp>
        <p:nvSpPr>
          <p:cNvPr id="8" name="Text"/>
          <p:cNvSpPr txBox="1"/>
          <p:nvPr/>
        </p:nvSpPr>
        <p:spPr>
          <a:xfrm>
            <a:off x="3931920" y="1719072"/>
            <a:ext cx="987552" cy="219456"/>
          </a:xfrm>
          <a:prstGeom prst="rect">
            <a:avLst/>
          </a:prstGeom>
          <a:noFill/>
          <a:ln>
            <a:noFill/>
          </a:ln>
        </p:spPr>
        <p:txBody>
          <a:bodyPr wrap="square" anchor="t">
            <a:spAutoFit/>
          </a:bodyPr>
          <a:lstStyle/>
          <a:p>
            <a:pPr algn="ctr"/>
            <a:r>
              <a:rPr lang="zh-CN" sz="1400" b="1">
                <a:solidFill>
                  <a:srgbClr val="B91C1C"/>
                </a:solidFill>
                <a:latin typeface="微软雅黑" panose="020B0503020204020204" charset="-122"/>
                <a:ea typeface="微软雅黑" panose="020B0503020204020204" charset="-122"/>
              </a:rPr>
              <a:t>不像</a:t>
            </a:r>
            <a:endParaRPr lang="zh-CN" sz="1400" b="1">
              <a:solidFill>
                <a:srgbClr val="B91C1C"/>
              </a:solidFill>
              <a:latin typeface="微软雅黑" panose="020B0503020204020204" charset="-122"/>
              <a:ea typeface="微软雅黑" panose="020B0503020204020204" charset="-122"/>
            </a:endParaRPr>
          </a:p>
        </p:txBody>
      </p:sp>
      <p:sp>
        <p:nvSpPr>
          <p:cNvPr id="9" name="Text"/>
          <p:cNvSpPr txBox="1"/>
          <p:nvPr/>
        </p:nvSpPr>
        <p:spPr>
          <a:xfrm>
            <a:off x="5349240" y="1783080"/>
            <a:ext cx="5166360" cy="155448"/>
          </a:xfrm>
          <a:prstGeom prst="rect">
            <a:avLst/>
          </a:prstGeom>
          <a:noFill/>
          <a:ln>
            <a:noFill/>
          </a:ln>
        </p:spPr>
        <p:txBody>
          <a:bodyPr wrap="square" anchor="t">
            <a:spAutoFit/>
          </a:bodyPr>
          <a:lstStyle/>
          <a:p>
            <a:pPr algn="l"/>
            <a:r>
              <a:rPr lang="zh-CN" sz="820" b="0">
                <a:solidFill>
                  <a:srgbClr val="697586"/>
                </a:solidFill>
                <a:latin typeface="微软雅黑" panose="020B0503020204020204" charset="-122"/>
                <a:ea typeface="微软雅黑" panose="020B0503020204020204" charset="-122"/>
              </a:rPr>
              <a:t>因为中国广泛使用市场、企业竞争和资本机制。</a:t>
            </a:r>
            <a:endParaRPr lang="zh-CN" sz="820" b="0">
              <a:solidFill>
                <a:srgbClr val="697586"/>
              </a:solidFill>
              <a:latin typeface="微软雅黑" panose="020B0503020204020204" charset="-122"/>
              <a:ea typeface="微软雅黑" panose="020B0503020204020204" charset="-122"/>
            </a:endParaRPr>
          </a:p>
        </p:txBody>
      </p:sp>
      <p:sp>
        <p:nvSpPr>
          <p:cNvPr id="10" name="Shape"/>
          <p:cNvSpPr/>
          <p:nvPr/>
        </p:nvSpPr>
        <p:spPr>
          <a:xfrm>
            <a:off x="868680" y="2724912"/>
            <a:ext cx="10149840" cy="749808"/>
          </a:xfrm>
          <a:prstGeom prst="roundRect">
            <a:avLst/>
          </a:prstGeom>
          <a:solidFill>
            <a:srgbClr val="FFFDF7"/>
          </a:solidFill>
          <a:ln w="12700">
            <a:solidFill>
              <a:srgbClr val="E4DED2"/>
            </a:solidFill>
          </a:ln>
        </p:spPr>
        <p:txBody>
          <a:bodyPr/>
          <a:lstStyle/>
          <a:p/>
        </p:txBody>
      </p:sp>
      <p:sp>
        <p:nvSpPr>
          <p:cNvPr id="11" name="Text"/>
          <p:cNvSpPr txBox="1"/>
          <p:nvPr/>
        </p:nvSpPr>
        <p:spPr>
          <a:xfrm>
            <a:off x="1143000" y="2962656"/>
            <a:ext cx="2286000" cy="146304"/>
          </a:xfrm>
          <a:prstGeom prst="rect">
            <a:avLst/>
          </a:prstGeom>
          <a:noFill/>
          <a:ln>
            <a:noFill/>
          </a:ln>
        </p:spPr>
        <p:txBody>
          <a:bodyPr wrap="square" anchor="t">
            <a:spAutoFit/>
          </a:bodyPr>
          <a:lstStyle/>
          <a:p>
            <a:pPr algn="l"/>
            <a:r>
              <a:rPr lang="zh-CN" sz="860" b="1">
                <a:solidFill>
                  <a:srgbClr val="15202B"/>
                </a:solidFill>
                <a:latin typeface="微软雅黑" panose="020B0503020204020204" charset="-122"/>
                <a:ea typeface="微软雅黑" panose="020B0503020204020204" charset="-122"/>
              </a:rPr>
              <a:t>如果按西方资本主义标准</a:t>
            </a:r>
            <a:endParaRPr lang="zh-CN" sz="860" b="1">
              <a:solidFill>
                <a:srgbClr val="15202B"/>
              </a:solidFill>
              <a:latin typeface="微软雅黑" panose="020B0503020204020204" charset="-122"/>
              <a:ea typeface="微软雅黑" panose="020B0503020204020204" charset="-122"/>
            </a:endParaRPr>
          </a:p>
        </p:txBody>
      </p:sp>
      <p:sp>
        <p:nvSpPr>
          <p:cNvPr id="12" name="Text"/>
          <p:cNvSpPr txBox="1"/>
          <p:nvPr/>
        </p:nvSpPr>
        <p:spPr>
          <a:xfrm>
            <a:off x="3931920" y="2889504"/>
            <a:ext cx="987552" cy="219456"/>
          </a:xfrm>
          <a:prstGeom prst="rect">
            <a:avLst/>
          </a:prstGeom>
          <a:noFill/>
          <a:ln>
            <a:noFill/>
          </a:ln>
        </p:spPr>
        <p:txBody>
          <a:bodyPr wrap="square" anchor="t">
            <a:spAutoFit/>
          </a:bodyPr>
          <a:lstStyle/>
          <a:p>
            <a:pPr algn="ctr"/>
            <a:r>
              <a:rPr lang="zh-CN" sz="1400" b="1">
                <a:solidFill>
                  <a:srgbClr val="2563EB"/>
                </a:solidFill>
                <a:latin typeface="微软雅黑" panose="020B0503020204020204" charset="-122"/>
                <a:ea typeface="微软雅黑" panose="020B0503020204020204" charset="-122"/>
              </a:rPr>
              <a:t>也不像</a:t>
            </a:r>
            <a:endParaRPr lang="zh-CN" sz="1400" b="1">
              <a:solidFill>
                <a:srgbClr val="2563EB"/>
              </a:solidFill>
              <a:latin typeface="微软雅黑" panose="020B0503020204020204" charset="-122"/>
              <a:ea typeface="微软雅黑" panose="020B0503020204020204" charset="-122"/>
            </a:endParaRPr>
          </a:p>
        </p:txBody>
      </p:sp>
      <p:sp>
        <p:nvSpPr>
          <p:cNvPr id="13" name="Text"/>
          <p:cNvSpPr txBox="1"/>
          <p:nvPr/>
        </p:nvSpPr>
        <p:spPr>
          <a:xfrm>
            <a:off x="5349240" y="2953512"/>
            <a:ext cx="5166360" cy="155448"/>
          </a:xfrm>
          <a:prstGeom prst="rect">
            <a:avLst/>
          </a:prstGeom>
          <a:noFill/>
          <a:ln>
            <a:noFill/>
          </a:ln>
        </p:spPr>
        <p:txBody>
          <a:bodyPr wrap="square" anchor="t">
            <a:spAutoFit/>
          </a:bodyPr>
          <a:lstStyle/>
          <a:p>
            <a:pPr algn="l"/>
            <a:r>
              <a:rPr lang="zh-CN" sz="820" b="0">
                <a:solidFill>
                  <a:srgbClr val="697586"/>
                </a:solidFill>
                <a:latin typeface="微软雅黑" panose="020B0503020204020204" charset="-122"/>
                <a:ea typeface="微软雅黑" panose="020B0503020204020204" charset="-122"/>
              </a:rPr>
              <a:t>因为国家保留强战略能力，并强调公有制、党的领导和共同富裕。</a:t>
            </a:r>
            <a:endParaRPr lang="zh-CN" sz="820" b="0">
              <a:solidFill>
                <a:srgbClr val="697586"/>
              </a:solidFill>
              <a:latin typeface="微软雅黑" panose="020B0503020204020204" charset="-122"/>
              <a:ea typeface="微软雅黑" panose="020B0503020204020204" charset="-122"/>
            </a:endParaRPr>
          </a:p>
        </p:txBody>
      </p:sp>
      <p:sp>
        <p:nvSpPr>
          <p:cNvPr id="14" name="Shape"/>
          <p:cNvSpPr/>
          <p:nvPr/>
        </p:nvSpPr>
        <p:spPr>
          <a:xfrm>
            <a:off x="868680" y="3895344"/>
            <a:ext cx="10149840" cy="749808"/>
          </a:xfrm>
          <a:prstGeom prst="roundRect">
            <a:avLst/>
          </a:prstGeom>
          <a:solidFill>
            <a:srgbClr val="FFFDF7"/>
          </a:solidFill>
          <a:ln w="12700">
            <a:solidFill>
              <a:srgbClr val="E4DED2"/>
            </a:solidFill>
          </a:ln>
        </p:spPr>
        <p:txBody>
          <a:bodyPr/>
          <a:lstStyle/>
          <a:p/>
        </p:txBody>
      </p:sp>
      <p:sp>
        <p:nvSpPr>
          <p:cNvPr id="15" name="Text"/>
          <p:cNvSpPr txBox="1"/>
          <p:nvPr/>
        </p:nvSpPr>
        <p:spPr>
          <a:xfrm>
            <a:off x="1143000" y="4133087"/>
            <a:ext cx="2286000" cy="146304"/>
          </a:xfrm>
          <a:prstGeom prst="rect">
            <a:avLst/>
          </a:prstGeom>
          <a:noFill/>
          <a:ln>
            <a:noFill/>
          </a:ln>
        </p:spPr>
        <p:txBody>
          <a:bodyPr wrap="square" anchor="t">
            <a:spAutoFit/>
          </a:bodyPr>
          <a:lstStyle/>
          <a:p>
            <a:pPr algn="l"/>
            <a:r>
              <a:rPr lang="zh-CN" sz="860" b="1">
                <a:solidFill>
                  <a:srgbClr val="15202B"/>
                </a:solidFill>
                <a:latin typeface="微软雅黑" panose="020B0503020204020204" charset="-122"/>
                <a:ea typeface="微软雅黑" panose="020B0503020204020204" charset="-122"/>
              </a:rPr>
              <a:t>如果按中国特色社会主义标准</a:t>
            </a:r>
            <a:endParaRPr lang="zh-CN" sz="860" b="1">
              <a:solidFill>
                <a:srgbClr val="15202B"/>
              </a:solidFill>
              <a:latin typeface="微软雅黑" panose="020B0503020204020204" charset="-122"/>
              <a:ea typeface="微软雅黑" panose="020B0503020204020204" charset="-122"/>
            </a:endParaRPr>
          </a:p>
        </p:txBody>
      </p:sp>
      <p:sp>
        <p:nvSpPr>
          <p:cNvPr id="16" name="Text"/>
          <p:cNvSpPr txBox="1"/>
          <p:nvPr/>
        </p:nvSpPr>
        <p:spPr>
          <a:xfrm>
            <a:off x="3931920" y="4059935"/>
            <a:ext cx="987552" cy="219456"/>
          </a:xfrm>
          <a:prstGeom prst="rect">
            <a:avLst/>
          </a:prstGeom>
          <a:noFill/>
          <a:ln>
            <a:noFill/>
          </a:ln>
        </p:spPr>
        <p:txBody>
          <a:bodyPr wrap="square" anchor="t">
            <a:spAutoFit/>
          </a:bodyPr>
          <a:lstStyle/>
          <a:p>
            <a:pPr algn="ctr"/>
            <a:r>
              <a:rPr lang="zh-CN" sz="1400" b="1">
                <a:solidFill>
                  <a:srgbClr val="16825D"/>
                </a:solidFill>
                <a:latin typeface="微软雅黑" panose="020B0503020204020204" charset="-122"/>
                <a:ea typeface="微软雅黑" panose="020B0503020204020204" charset="-122"/>
              </a:rPr>
              <a:t>仍在走</a:t>
            </a:r>
            <a:endParaRPr lang="zh-CN" sz="1400" b="1">
              <a:solidFill>
                <a:srgbClr val="16825D"/>
              </a:solidFill>
              <a:latin typeface="微软雅黑" panose="020B0503020204020204" charset="-122"/>
              <a:ea typeface="微软雅黑" panose="020B0503020204020204" charset="-122"/>
            </a:endParaRPr>
          </a:p>
        </p:txBody>
      </p:sp>
      <p:sp>
        <p:nvSpPr>
          <p:cNvPr id="17" name="Text"/>
          <p:cNvSpPr txBox="1"/>
          <p:nvPr/>
        </p:nvSpPr>
        <p:spPr>
          <a:xfrm>
            <a:off x="5349240" y="4123944"/>
            <a:ext cx="5166360" cy="155448"/>
          </a:xfrm>
          <a:prstGeom prst="rect">
            <a:avLst/>
          </a:prstGeom>
          <a:noFill/>
          <a:ln>
            <a:noFill/>
          </a:ln>
        </p:spPr>
        <p:txBody>
          <a:bodyPr wrap="square" anchor="t">
            <a:spAutoFit/>
          </a:bodyPr>
          <a:lstStyle/>
          <a:p>
            <a:pPr algn="l"/>
            <a:r>
              <a:rPr lang="zh-CN" sz="820" b="0">
                <a:solidFill>
                  <a:srgbClr val="697586"/>
                </a:solidFill>
                <a:latin typeface="微软雅黑" panose="020B0503020204020204" charset="-122"/>
                <a:ea typeface="微软雅黑" panose="020B0503020204020204" charset="-122"/>
              </a:rPr>
              <a:t>因为制度方向、发展目标和政策表述仍然围绕社会主义展开。</a:t>
            </a:r>
            <a:endParaRPr lang="zh-CN" sz="820" b="0">
              <a:solidFill>
                <a:srgbClr val="697586"/>
              </a:solidFill>
              <a:latin typeface="微软雅黑" panose="020B0503020204020204" charset="-122"/>
              <a:ea typeface="微软雅黑" panose="020B0503020204020204" charset="-122"/>
            </a:endParaRPr>
          </a:p>
        </p:txBody>
      </p:sp>
      <p:sp>
        <p:nvSpPr>
          <p:cNvPr id="18" name="Text"/>
          <p:cNvSpPr txBox="1"/>
          <p:nvPr/>
        </p:nvSpPr>
        <p:spPr>
          <a:xfrm>
            <a:off x="960120" y="5349240"/>
            <a:ext cx="10058400" cy="292608"/>
          </a:xfrm>
          <a:prstGeom prst="rect">
            <a:avLst/>
          </a:prstGeom>
          <a:noFill/>
          <a:ln>
            <a:noFill/>
          </a:ln>
        </p:spPr>
        <p:txBody>
          <a:bodyPr wrap="square" anchor="t">
            <a:spAutoFit/>
          </a:bodyPr>
          <a:lstStyle/>
          <a:p>
            <a:pPr algn="ctr"/>
            <a:r>
              <a:rPr lang="zh-CN" sz="1500" b="1">
                <a:solidFill>
                  <a:srgbClr val="15202B"/>
                </a:solidFill>
                <a:latin typeface="微软雅黑" panose="020B0503020204020204" charset="-122"/>
                <a:ea typeface="微软雅黑" panose="020B0503020204020204" charset="-122"/>
              </a:rPr>
              <a:t>最准确的表述：不是传统计划经济式社会主义，而是中国特色社会主义市场经济道路。</a:t>
            </a:r>
            <a:endParaRPr lang="zh-CN" sz="1500" b="1">
              <a:solidFill>
                <a:srgbClr val="15202B"/>
              </a:solidFill>
              <a:latin typeface="微软雅黑" panose="020B0503020204020204" charset="-122"/>
              <a:ea typeface="微软雅黑" panose="020B0503020204020204" charset="-122"/>
            </a:endParaRPr>
          </a:p>
        </p:txBody>
      </p:sp>
      <p:sp>
        <p:nvSpPr>
          <p:cNvPr id="19"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资料来源：公开资料整理；宪法、二十大报告、二十届三中全会决定、财政部等</a:t>
            </a:r>
            <a:endParaRPr lang="zh-CN" sz="550" b="0">
              <a:solidFill>
                <a:srgbClr val="8C939D"/>
              </a:solidFill>
              <a:latin typeface="微软雅黑" panose="020B0503020204020204" charset="-122"/>
              <a:ea typeface="微软雅黑" panose="020B0503020204020204" charset="-122"/>
            </a:endParaRPr>
          </a:p>
        </p:txBody>
      </p:sp>
      <p:sp>
        <p:nvSpPr>
          <p:cNvPr id="20"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 presetClass="entr" presetSubtype="4" fill="hold" grpId="7" nodeType="afterEffect">
                                  <p:stCondLst>
                                    <p:cond delay="0"/>
                                  </p:stCondLst>
                                  <p:childTnLst>
                                    <p:set>
                                      <p:cBhvr>
                                        <p:cTn id="15" dur="420" fill="hold">
                                          <p:stCondLst>
                                            <p:cond delay="0"/>
                                          </p:stCondLst>
                                        </p:cTn>
                                        <p:tgtEl>
                                          <p:spTgt spid="7"/>
                                        </p:tgtEl>
                                        <p:attrNameLst>
                                          <p:attrName>style.visibility</p:attrName>
                                        </p:attrNameLst>
                                      </p:cBhvr>
                                      <p:to>
                                        <p:strVal val="visible"/>
                                      </p:to>
                                    </p:set>
                                    <p:anim calcmode="lin" valueType="num">
                                      <p:cBhvr additive="base">
                                        <p:cTn id="16" dur="420" fill="hold"/>
                                        <p:tgtEl>
                                          <p:spTgt spid="7"/>
                                        </p:tgtEl>
                                        <p:attrNameLst>
                                          <p:attrName>ppt_x</p:attrName>
                                        </p:attrNameLst>
                                      </p:cBhvr>
                                      <p:tavLst>
                                        <p:tav tm="0">
                                          <p:val>
                                            <p:strVal val="#ppt_x"/>
                                          </p:val>
                                        </p:tav>
                                        <p:tav tm="100000">
                                          <p:val>
                                            <p:strVal val="#ppt_x"/>
                                          </p:val>
                                        </p:tav>
                                      </p:tavLst>
                                    </p:anim>
                                    <p:anim calcmode="lin" valueType="num">
                                      <p:cBhvr additive="base">
                                        <p:cTn id="17" dur="42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1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36" decel="100000"/>
                                        <p:tgtEl>
                                          <p:spTgt spid="11"/>
                                        </p:tgtEl>
                                      </p:cBhvr>
                                    </p:animEffect>
                                    <p:anim calcmode="lin" valueType="num">
                                      <p:cBhvr>
                                        <p:cTn id="22" dur="336" decel="100000" fill="hold"/>
                                        <p:tgtEl>
                                          <p:spTgt spid="11"/>
                                        </p:tgtEl>
                                        <p:attrNameLst>
                                          <p:attrName>style.rotation</p:attrName>
                                        </p:attrNameLst>
                                      </p:cBhvr>
                                      <p:tavLst>
                                        <p:tav tm="0">
                                          <p:val>
                                            <p:fltVal val="-90"/>
                                          </p:val>
                                        </p:tav>
                                        <p:tav tm="100000">
                                          <p:val>
                                            <p:fltVal val="0"/>
                                          </p:val>
                                        </p:tav>
                                      </p:tavLst>
                                    </p:anim>
                                    <p:anim calcmode="lin" valueType="num">
                                      <p:cBhvr>
                                        <p:cTn id="23" dur="336" decel="100000" fill="hold"/>
                                        <p:tgtEl>
                                          <p:spTgt spid="11"/>
                                        </p:tgtEl>
                                        <p:attrNameLst>
                                          <p:attrName>ppt_x</p:attrName>
                                        </p:attrNameLst>
                                      </p:cBhvr>
                                      <p:tavLst>
                                        <p:tav tm="0">
                                          <p:val>
                                            <p:strVal val="#ppt_x+0.4"/>
                                          </p:val>
                                        </p:tav>
                                        <p:tav tm="100000">
                                          <p:val>
                                            <p:strVal val="#ppt_x-0.05"/>
                                          </p:val>
                                        </p:tav>
                                      </p:tavLst>
                                    </p:anim>
                                    <p:anim calcmode="lin" valueType="num">
                                      <p:cBhvr>
                                        <p:cTn id="24" dur="336" decel="100000" fill="hold"/>
                                        <p:tgtEl>
                                          <p:spTgt spid="11"/>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11"/>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11"/>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8"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20"/>
                                        <p:tgtEl>
                                          <p:spTgt spid="8"/>
                                        </p:tgtEl>
                                      </p:cBhvr>
                                    </p:animEffect>
                                    <p:anim calcmode="lin" valueType="num">
                                      <p:cBhvr>
                                        <p:cTn id="31" dur="420" fill="hold"/>
                                        <p:tgtEl>
                                          <p:spTgt spid="8"/>
                                        </p:tgtEl>
                                        <p:attrNameLst>
                                          <p:attrName>ppt_x</p:attrName>
                                        </p:attrNameLst>
                                      </p:cBhvr>
                                      <p:tavLst>
                                        <p:tav tm="0">
                                          <p:val>
                                            <p:strVal val="#ppt_x"/>
                                          </p:val>
                                        </p:tav>
                                        <p:tav tm="100000">
                                          <p:val>
                                            <p:strVal val="#ppt_x"/>
                                          </p:val>
                                        </p:tav>
                                      </p:tavLst>
                                    </p:anim>
                                    <p:anim calcmode="lin" valueType="num">
                                      <p:cBhvr>
                                        <p:cTn id="32" dur="378" decel="100000" fill="hold"/>
                                        <p:tgtEl>
                                          <p:spTgt spid="8"/>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8"/>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1" nodeType="afterEffect">
                                  <p:stCondLst>
                                    <p:cond delay="0"/>
                                  </p:stCondLst>
                                  <p:childTnLst>
                                    <p:set>
                                      <p:cBhvr>
                                        <p:cTn id="36" dur="420" fill="hold">
                                          <p:stCondLst>
                                            <p:cond delay="0"/>
                                          </p:stCondLst>
                                        </p:cTn>
                                        <p:tgtEl>
                                          <p:spTgt spid="12"/>
                                        </p:tgtEl>
                                        <p:attrNameLst>
                                          <p:attrName>style.visibility</p:attrName>
                                        </p:attrNameLst>
                                      </p:cBhvr>
                                      <p:to>
                                        <p:strVal val="visible"/>
                                      </p:to>
                                    </p:set>
                                    <p:animEffect transition="in" filter="fade">
                                      <p:cBhvr>
                                        <p:cTn id="37" dur="420"/>
                                        <p:tgtEl>
                                          <p:spTgt spid="12"/>
                                        </p:tgtEl>
                                      </p:cBhvr>
                                    </p:animEffect>
                                  </p:childTnLst>
                                </p:cTn>
                              </p:par>
                            </p:childTnLst>
                          </p:cTn>
                        </p:par>
                        <p:par>
                          <p:cTn id="38" fill="hold">
                            <p:stCondLst>
                              <p:cond delay="3000"/>
                            </p:stCondLst>
                            <p:childTnLst>
                              <p:par>
                                <p:cTn id="39" presetID="22" presetClass="entr" presetSubtype="4" fill="hold" grpId="9" nodeType="afterEffect">
                                  <p:stCondLst>
                                    <p:cond delay="0"/>
                                  </p:stCondLst>
                                  <p:childTnLst>
                                    <p:set>
                                      <p:cBhvr>
                                        <p:cTn id="40" dur="420" fill="hold">
                                          <p:stCondLst>
                                            <p:cond delay="0"/>
                                          </p:stCondLst>
                                        </p:cTn>
                                        <p:tgtEl>
                                          <p:spTgt spid="9"/>
                                        </p:tgtEl>
                                        <p:attrNameLst>
                                          <p:attrName>style.visibility</p:attrName>
                                        </p:attrNameLst>
                                      </p:cBhvr>
                                      <p:to>
                                        <p:strVal val="visible"/>
                                      </p:to>
                                    </p:set>
                                    <p:animEffect transition="in" filter="wipe(down)">
                                      <p:cBhvr>
                                        <p:cTn id="41" dur="420"/>
                                        <p:tgtEl>
                                          <p:spTgt spid="9"/>
                                        </p:tgtEl>
                                      </p:cBhvr>
                                    </p:animEffect>
                                  </p:childTnLst>
                                </p:cTn>
                              </p:par>
                            </p:childTnLst>
                          </p:cTn>
                        </p:par>
                        <p:par>
                          <p:cTn id="42" fill="hold">
                            <p:stCondLst>
                              <p:cond delay="3500"/>
                            </p:stCondLst>
                            <p:childTnLst>
                              <p:par>
                                <p:cTn id="43" presetID="2" presetClass="entr" presetSubtype="4" fill="hold" grpId="11" nodeType="afterEffect">
                                  <p:stCondLst>
                                    <p:cond delay="0"/>
                                  </p:stCondLst>
                                  <p:childTnLst>
                                    <p:set>
                                      <p:cBhvr>
                                        <p:cTn id="44" dur="420" fill="hold">
                                          <p:stCondLst>
                                            <p:cond delay="0"/>
                                          </p:stCondLst>
                                        </p:cTn>
                                        <p:tgtEl>
                                          <p:spTgt spid="13"/>
                                        </p:tgtEl>
                                        <p:attrNameLst>
                                          <p:attrName>style.visibility</p:attrName>
                                        </p:attrNameLst>
                                      </p:cBhvr>
                                      <p:to>
                                        <p:strVal val="visible"/>
                                      </p:to>
                                    </p:set>
                                    <p:anim calcmode="lin" valueType="num">
                                      <p:cBhvr additive="base">
                                        <p:cTn id="45" dur="420" fill="hold"/>
                                        <p:tgtEl>
                                          <p:spTgt spid="13"/>
                                        </p:tgtEl>
                                        <p:attrNameLst>
                                          <p:attrName>ppt_x</p:attrName>
                                        </p:attrNameLst>
                                      </p:cBhvr>
                                      <p:tavLst>
                                        <p:tav tm="0">
                                          <p:val>
                                            <p:strVal val="#ppt_x"/>
                                          </p:val>
                                        </p:tav>
                                        <p:tav tm="100000">
                                          <p:val>
                                            <p:strVal val="#ppt_x"/>
                                          </p:val>
                                        </p:tav>
                                      </p:tavLst>
                                    </p:anim>
                                    <p:anim calcmode="lin" valueType="num">
                                      <p:cBhvr additive="base">
                                        <p:cTn id="46" dur="420" fill="hold"/>
                                        <p:tgtEl>
                                          <p:spTgt spid="13"/>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2"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36" decel="100000"/>
                                        <p:tgtEl>
                                          <p:spTgt spid="15"/>
                                        </p:tgtEl>
                                      </p:cBhvr>
                                    </p:animEffect>
                                    <p:anim calcmode="lin" valueType="num">
                                      <p:cBhvr>
                                        <p:cTn id="51" dur="336" decel="100000" fill="hold"/>
                                        <p:tgtEl>
                                          <p:spTgt spid="15"/>
                                        </p:tgtEl>
                                        <p:attrNameLst>
                                          <p:attrName>style.rotation</p:attrName>
                                        </p:attrNameLst>
                                      </p:cBhvr>
                                      <p:tavLst>
                                        <p:tav tm="0">
                                          <p:val>
                                            <p:fltVal val="-90"/>
                                          </p:val>
                                        </p:tav>
                                        <p:tav tm="100000">
                                          <p:val>
                                            <p:fltVal val="0"/>
                                          </p:val>
                                        </p:tav>
                                      </p:tavLst>
                                    </p:anim>
                                    <p:anim calcmode="lin" valueType="num">
                                      <p:cBhvr>
                                        <p:cTn id="52" dur="336" decel="100000" fill="hold"/>
                                        <p:tgtEl>
                                          <p:spTgt spid="15"/>
                                        </p:tgtEl>
                                        <p:attrNameLst>
                                          <p:attrName>ppt_x</p:attrName>
                                        </p:attrNameLst>
                                      </p:cBhvr>
                                      <p:tavLst>
                                        <p:tav tm="0">
                                          <p:val>
                                            <p:strVal val="#ppt_x+0.4"/>
                                          </p:val>
                                        </p:tav>
                                        <p:tav tm="100000">
                                          <p:val>
                                            <p:strVal val="#ppt_x-0.05"/>
                                          </p:val>
                                        </p:tav>
                                      </p:tavLst>
                                    </p:anim>
                                    <p:anim calcmode="lin" valueType="num">
                                      <p:cBhvr>
                                        <p:cTn id="53" dur="336" decel="100000" fill="hold"/>
                                        <p:tgtEl>
                                          <p:spTgt spid="15"/>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15"/>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15"/>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37" presetClass="entr" presetSubtype="0" fill="hold" grpId="13" nodeType="after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20"/>
                                        <p:tgtEl>
                                          <p:spTgt spid="16"/>
                                        </p:tgtEl>
                                      </p:cBhvr>
                                    </p:animEffect>
                                    <p:anim calcmode="lin" valueType="num">
                                      <p:cBhvr>
                                        <p:cTn id="60" dur="420" fill="hold"/>
                                        <p:tgtEl>
                                          <p:spTgt spid="16"/>
                                        </p:tgtEl>
                                        <p:attrNameLst>
                                          <p:attrName>ppt_x</p:attrName>
                                        </p:attrNameLst>
                                      </p:cBhvr>
                                      <p:tavLst>
                                        <p:tav tm="0">
                                          <p:val>
                                            <p:strVal val="#ppt_x"/>
                                          </p:val>
                                        </p:tav>
                                        <p:tav tm="100000">
                                          <p:val>
                                            <p:strVal val="#ppt_x"/>
                                          </p:val>
                                        </p:tav>
                                      </p:tavLst>
                                    </p:anim>
                                    <p:anim calcmode="lin" valueType="num">
                                      <p:cBhvr>
                                        <p:cTn id="61" dur="378" decel="100000" fill="hold"/>
                                        <p:tgtEl>
                                          <p:spTgt spid="16"/>
                                        </p:tgtEl>
                                        <p:attrNameLst>
                                          <p:attrName>ppt_y</p:attrName>
                                        </p:attrNameLst>
                                      </p:cBhvr>
                                      <p:tavLst>
                                        <p:tav tm="0">
                                          <p:val>
                                            <p:strVal val="#ppt_y+1"/>
                                          </p:val>
                                        </p:tav>
                                        <p:tav tm="100000">
                                          <p:val>
                                            <p:strVal val="#ppt_y-.03"/>
                                          </p:val>
                                        </p:tav>
                                      </p:tavLst>
                                    </p:anim>
                                    <p:anim calcmode="lin" valueType="num">
                                      <p:cBhvr>
                                        <p:cTn id="62" dur="42" accel="100000" fill="hold">
                                          <p:stCondLst>
                                            <p:cond delay="378"/>
                                          </p:stCondLst>
                                        </p:cTn>
                                        <p:tgtEl>
                                          <p:spTgt spid="16"/>
                                        </p:tgtEl>
                                        <p:attrNameLst>
                                          <p:attrName>ppt_y</p:attrName>
                                        </p:attrNameLst>
                                      </p:cBhvr>
                                      <p:tavLst>
                                        <p:tav tm="0">
                                          <p:val>
                                            <p:strVal val="#ppt_y-.03"/>
                                          </p:val>
                                        </p:tav>
                                        <p:tav tm="100000">
                                          <p:val>
                                            <p:strVal val="#ppt_y"/>
                                          </p:val>
                                        </p:tav>
                                      </p:tavLst>
                                    </p:anim>
                                  </p:childTnLst>
                                </p:cTn>
                              </p:par>
                            </p:childTnLst>
                          </p:cTn>
                        </p:par>
                        <p:par>
                          <p:cTn id="63" fill="hold">
                            <p:stCondLst>
                              <p:cond delay="5000"/>
                            </p:stCondLst>
                            <p:childTnLst>
                              <p:par>
                                <p:cTn id="64" presetID="10" presetClass="entr" presetSubtype="0" fill="hold" grpId="14" nodeType="afterEffect">
                                  <p:stCondLst>
                                    <p:cond delay="0"/>
                                  </p:stCondLst>
                                  <p:childTnLst>
                                    <p:set>
                                      <p:cBhvr>
                                        <p:cTn id="65" dur="420" fill="hold">
                                          <p:stCondLst>
                                            <p:cond delay="0"/>
                                          </p:stCondLst>
                                        </p:cTn>
                                        <p:tgtEl>
                                          <p:spTgt spid="17"/>
                                        </p:tgtEl>
                                        <p:attrNameLst>
                                          <p:attrName>style.visibility</p:attrName>
                                        </p:attrNameLst>
                                      </p:cBhvr>
                                      <p:to>
                                        <p:strVal val="visible"/>
                                      </p:to>
                                    </p:set>
                                    <p:animEffect transition="in" filter="fade">
                                      <p:cBhvr>
                                        <p:cTn id="66" dur="420"/>
                                        <p:tgtEl>
                                          <p:spTgt spid="17"/>
                                        </p:tgtEl>
                                      </p:cBhvr>
                                    </p:animEffect>
                                  </p:childTnLst>
                                </p:cTn>
                              </p:par>
                            </p:childTnLst>
                          </p:cTn>
                        </p:par>
                        <p:par>
                          <p:cTn id="67" fill="hold">
                            <p:stCondLst>
                              <p:cond delay="5500"/>
                            </p:stCondLst>
                            <p:childTnLst>
                              <p:par>
                                <p:cTn id="68" presetID="23" presetClass="entr" presetSubtype="16" fill="hold" grpId="15" nodeType="afterEffect">
                                  <p:stCondLst>
                                    <p:cond delay="0"/>
                                  </p:stCondLst>
                                  <p:childTnLst>
                                    <p:set>
                                      <p:cBhvr>
                                        <p:cTn id="69" dur="420" fill="hold">
                                          <p:stCondLst>
                                            <p:cond delay="0"/>
                                          </p:stCondLst>
                                        </p:cTn>
                                        <p:tgtEl>
                                          <p:spTgt spid="18"/>
                                        </p:tgtEl>
                                        <p:attrNameLst>
                                          <p:attrName>style.visibility</p:attrName>
                                        </p:attrNameLst>
                                      </p:cBhvr>
                                      <p:to>
                                        <p:strVal val="visible"/>
                                      </p:to>
                                    </p:set>
                                    <p:anim calcmode="lin" valueType="num">
                                      <p:cBhvr>
                                        <p:cTn id="70" dur="420" fill="hold"/>
                                        <p:tgtEl>
                                          <p:spTgt spid="18"/>
                                        </p:tgtEl>
                                        <p:attrNameLst>
                                          <p:attrName>ppt_w</p:attrName>
                                        </p:attrNameLst>
                                      </p:cBhvr>
                                      <p:tavLst>
                                        <p:tav tm="0">
                                          <p:val>
                                            <p:fltVal val="0"/>
                                          </p:val>
                                        </p:tav>
                                        <p:tav tm="100000">
                                          <p:val>
                                            <p:strVal val="#ppt_w"/>
                                          </p:val>
                                        </p:tav>
                                      </p:tavLst>
                                    </p:anim>
                                    <p:anim calcmode="lin" valueType="num">
                                      <p:cBhvr>
                                        <p:cTn id="71" dur="42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7" grpId="2" uiExpand="1" build="allAtOnce"/>
      <p:bldP spid="8" grpId="3" uiExpand="1" build="allAtOnce"/>
      <p:bldP spid="9" grpId="4" uiExpand="1" build="allAtOnce"/>
      <p:bldP spid="11" grpId="5" uiExpand="1" build="allAtOnce"/>
      <p:bldP spid="12" grpId="6" uiExpand="1" build="allAtOnce"/>
      <p:bldP spid="13" grpId="7" uiExpand="1" build="allAtOnce"/>
      <p:bldP spid="15" grpId="8" uiExpand="1" build="allAtOnce"/>
      <p:bldP spid="16" grpId="9" uiExpand="1" build="allAtOnce"/>
      <p:bldP spid="17" grpId="10" uiExpand="1" build="allAtOnce"/>
      <p:bldP spid="18" grpId="11" uiExpand="1" build="allAtOnce"/>
      <p:bldP spid="3" grpId="0"/>
      <p:bldP spid="4" grpId="2"/>
      <p:bldP spid="6" grpId="0" animBg="1"/>
      <p:bldP spid="7" grpId="3"/>
      <p:bldP spid="8" grpId="4"/>
      <p:bldP spid="9" grpId="5"/>
      <p:bldP spid="10" grpId="0" animBg="1"/>
      <p:bldP spid="11" grpId="6"/>
      <p:bldP spid="12" grpId="7"/>
      <p:bldP spid="3" grpId="1"/>
      <p:bldP spid="4" grpId="3"/>
      <p:bldP spid="8" grpId="5"/>
      <p:bldP spid="12" grpId="8"/>
      <p:bldP spid="16" grpId="10"/>
      <p:bldP spid="9" grpId="6"/>
      <p:bldP spid="7" grpId="4"/>
      <p:bldP spid="13" grpId="8"/>
      <p:bldP spid="11" grpId="7"/>
      <p:bldP spid="17" grpId="11"/>
      <p:bldP spid="15" grpId="9"/>
      <p:bldP spid="18" grpId="12"/>
      <p:bldP spid="3" grpId="2"/>
      <p:bldP spid="4" grpId="4"/>
      <p:bldP spid="8" grpId="6"/>
      <p:bldP spid="12" grpId="9"/>
      <p:bldP spid="16" grpId="11"/>
      <p:bldP spid="7" grpId="5"/>
      <p:bldP spid="11" grpId="8"/>
      <p:bldP spid="9" grpId="7"/>
      <p:bldP spid="13" grpId="9"/>
      <p:bldP spid="15" grpId="10"/>
      <p:bldP spid="17" grpId="12"/>
      <p:bldP spid="18" grpId="13"/>
      <p:bldP spid="3" grpId="3"/>
      <p:bldP spid="4" grpId="5"/>
      <p:bldP spid="7" grpId="6"/>
      <p:bldP spid="11" grpId="9"/>
      <p:bldP spid="8" grpId="7"/>
      <p:bldP spid="12" grpId="10"/>
      <p:bldP spid="9" grpId="8"/>
      <p:bldP spid="13" grpId="10"/>
      <p:bldP spid="15" grpId="11"/>
      <p:bldP spid="16" grpId="12"/>
      <p:bldP spid="17" grpId="13"/>
      <p:bldP spid="18" grpId="14"/>
      <p:bldP spid="3" grpId="4"/>
      <p:bldP spid="4" grpId="6"/>
      <p:bldP spid="7" grpId="7"/>
      <p:bldP spid="11" grpId="10"/>
      <p:bldP spid="8" grpId="8"/>
      <p:bldP spid="12" grpId="11"/>
      <p:bldP spid="9" grpId="9"/>
      <p:bldP spid="13" grpId="11"/>
      <p:bldP spid="15" grpId="12"/>
      <p:bldP spid="16" grpId="13"/>
      <p:bldP spid="17" grpId="14"/>
      <p:bldP spid="18" grpId="15"/>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111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D6A13B"/>
                </a:solidFill>
                <a:latin typeface="微软雅黑" panose="020B0503020204020204" charset="-122"/>
                <a:ea typeface="微软雅黑" panose="020B0503020204020204" charset="-122"/>
              </a:rPr>
              <a:t>11 最终判断</a:t>
            </a:r>
            <a:endParaRPr lang="zh-CN" sz="800" b="1">
              <a:solidFill>
                <a:srgbClr val="D6A13B"/>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FFFFFF"/>
                </a:solidFill>
                <a:latin typeface="微软雅黑" panose="020B0503020204020204" charset="-122"/>
                <a:ea typeface="微软雅黑" panose="020B0503020204020204" charset="-122"/>
              </a:rPr>
              <a:t>一句话回答：还在走，但走法已经不是旧模板</a:t>
            </a:r>
            <a:endParaRPr lang="zh-CN" sz="1800" b="1">
              <a:solidFill>
                <a:srgbClr val="FFFFFF"/>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D6A13B"/>
          </a:solidFill>
          <a:ln>
            <a:noFill/>
          </a:ln>
        </p:spPr>
        <p:txBody>
          <a:bodyPr/>
          <a:lstStyle/>
          <a:p/>
        </p:txBody>
      </p:sp>
      <p:sp>
        <p:nvSpPr>
          <p:cNvPr id="6" name="Text"/>
          <p:cNvSpPr txBox="1"/>
          <p:nvPr/>
        </p:nvSpPr>
        <p:spPr>
          <a:xfrm>
            <a:off x="777240" y="1417320"/>
            <a:ext cx="2423160" cy="502920"/>
          </a:xfrm>
          <a:prstGeom prst="rect">
            <a:avLst/>
          </a:prstGeom>
          <a:noFill/>
          <a:ln>
            <a:noFill/>
          </a:ln>
        </p:spPr>
        <p:txBody>
          <a:bodyPr wrap="square" anchor="t">
            <a:spAutoFit/>
          </a:bodyPr>
          <a:lstStyle/>
          <a:p>
            <a:pPr algn="l"/>
            <a:r>
              <a:rPr lang="zh-CN" sz="2800" b="1">
                <a:solidFill>
                  <a:srgbClr val="D6A13B"/>
                </a:solidFill>
                <a:latin typeface="微软雅黑" panose="020B0503020204020204" charset="-122"/>
                <a:ea typeface="微软雅黑" panose="020B0503020204020204" charset="-122"/>
              </a:rPr>
              <a:t>还在走</a:t>
            </a:r>
            <a:endParaRPr lang="zh-CN" sz="2800" b="1">
              <a:solidFill>
                <a:srgbClr val="D6A13B"/>
              </a:solidFill>
              <a:latin typeface="微软雅黑" panose="020B0503020204020204" charset="-122"/>
              <a:ea typeface="微软雅黑" panose="020B0503020204020204" charset="-122"/>
            </a:endParaRPr>
          </a:p>
        </p:txBody>
      </p:sp>
      <p:sp>
        <p:nvSpPr>
          <p:cNvPr id="7" name="Text"/>
          <p:cNvSpPr txBox="1"/>
          <p:nvPr/>
        </p:nvSpPr>
        <p:spPr>
          <a:xfrm>
            <a:off x="3291840" y="1664208"/>
            <a:ext cx="4937760" cy="256032"/>
          </a:xfrm>
          <a:prstGeom prst="rect">
            <a:avLst/>
          </a:prstGeom>
          <a:noFill/>
          <a:ln>
            <a:noFill/>
          </a:ln>
        </p:spPr>
        <p:txBody>
          <a:bodyPr wrap="square" anchor="t">
            <a:spAutoFit/>
          </a:bodyPr>
          <a:lstStyle/>
          <a:p>
            <a:pPr algn="l"/>
            <a:r>
              <a:rPr lang="zh-CN" sz="1400" b="1">
                <a:solidFill>
                  <a:srgbClr val="FFFFFF"/>
                </a:solidFill>
                <a:latin typeface="微软雅黑" panose="020B0503020204020204" charset="-122"/>
                <a:ea typeface="微软雅黑" panose="020B0503020204020204" charset="-122"/>
              </a:rPr>
              <a:t>但不是用计划经济的旧方式走。</a:t>
            </a:r>
            <a:endParaRPr lang="zh-CN" sz="1400" b="1">
              <a:solidFill>
                <a:srgbClr val="FFFFFF"/>
              </a:solidFill>
              <a:latin typeface="微软雅黑" panose="020B0503020204020204" charset="-122"/>
              <a:ea typeface="微软雅黑" panose="020B0503020204020204" charset="-122"/>
            </a:endParaRPr>
          </a:p>
        </p:txBody>
      </p:sp>
      <p:sp>
        <p:nvSpPr>
          <p:cNvPr id="8" name="Shape"/>
          <p:cNvSpPr/>
          <p:nvPr/>
        </p:nvSpPr>
        <p:spPr>
          <a:xfrm>
            <a:off x="822960" y="2423160"/>
            <a:ext cx="9875520" cy="16459"/>
          </a:xfrm>
          <a:prstGeom prst="rect">
            <a:avLst/>
          </a:prstGeom>
          <a:solidFill>
            <a:srgbClr val="D6A13B"/>
          </a:solidFill>
          <a:ln>
            <a:noFill/>
          </a:ln>
        </p:spPr>
        <p:txBody>
          <a:bodyPr/>
          <a:lstStyle/>
          <a:p/>
        </p:txBody>
      </p:sp>
      <p:sp>
        <p:nvSpPr>
          <p:cNvPr id="9" name="Shape"/>
          <p:cNvSpPr/>
          <p:nvPr/>
        </p:nvSpPr>
        <p:spPr>
          <a:xfrm>
            <a:off x="868680" y="2880360"/>
            <a:ext cx="3108960" cy="1298448"/>
          </a:xfrm>
          <a:prstGeom prst="roundRect">
            <a:avLst/>
          </a:prstGeom>
          <a:solidFill>
            <a:srgbClr val="101B2A"/>
          </a:solidFill>
          <a:ln w="12700">
            <a:solidFill>
              <a:srgbClr val="233144"/>
            </a:solidFill>
          </a:ln>
        </p:spPr>
        <p:txBody>
          <a:bodyPr/>
          <a:lstStyle/>
          <a:p/>
        </p:txBody>
      </p:sp>
      <p:sp>
        <p:nvSpPr>
          <p:cNvPr id="10" name="Shape"/>
          <p:cNvSpPr/>
          <p:nvPr/>
        </p:nvSpPr>
        <p:spPr>
          <a:xfrm>
            <a:off x="868680" y="2880360"/>
            <a:ext cx="50292" cy="1298448"/>
          </a:xfrm>
          <a:prstGeom prst="rect">
            <a:avLst/>
          </a:prstGeom>
          <a:solidFill>
            <a:srgbClr val="B91C1C"/>
          </a:solidFill>
          <a:ln>
            <a:noFill/>
          </a:ln>
        </p:spPr>
        <p:txBody>
          <a:bodyPr/>
          <a:lstStyle/>
          <a:p/>
        </p:txBody>
      </p:sp>
      <p:sp>
        <p:nvSpPr>
          <p:cNvPr id="11" name="Text"/>
          <p:cNvSpPr txBox="1"/>
          <p:nvPr/>
        </p:nvSpPr>
        <p:spPr>
          <a:xfrm>
            <a:off x="1088136" y="3044952"/>
            <a:ext cx="2697479" cy="256032"/>
          </a:xfrm>
          <a:prstGeom prst="rect">
            <a:avLst/>
          </a:prstGeom>
          <a:noFill/>
          <a:ln>
            <a:noFill/>
          </a:ln>
        </p:spPr>
        <p:txBody>
          <a:bodyPr wrap="square" anchor="t">
            <a:spAutoFit/>
          </a:bodyPr>
          <a:lstStyle/>
          <a:p>
            <a:pPr algn="l"/>
            <a:r>
              <a:rPr lang="zh-CN" sz="1050" b="1">
                <a:solidFill>
                  <a:srgbClr val="FFFFFF"/>
                </a:solidFill>
                <a:latin typeface="微软雅黑" panose="020B0503020204020204" charset="-122"/>
                <a:ea typeface="微软雅黑" panose="020B0503020204020204" charset="-122"/>
              </a:rPr>
              <a:t>方向</a:t>
            </a:r>
            <a:endParaRPr lang="zh-CN" sz="1050" b="1">
              <a:solidFill>
                <a:srgbClr val="FFFFFF"/>
              </a:solidFill>
              <a:latin typeface="微软雅黑" panose="020B0503020204020204" charset="-122"/>
              <a:ea typeface="微软雅黑" panose="020B0503020204020204" charset="-122"/>
            </a:endParaRPr>
          </a:p>
        </p:txBody>
      </p:sp>
      <p:sp>
        <p:nvSpPr>
          <p:cNvPr id="12" name="Text"/>
          <p:cNvSpPr txBox="1"/>
          <p:nvPr/>
        </p:nvSpPr>
        <p:spPr>
          <a:xfrm>
            <a:off x="1088136" y="3392424"/>
            <a:ext cx="2697479" cy="704087"/>
          </a:xfrm>
          <a:prstGeom prst="rect">
            <a:avLst/>
          </a:prstGeom>
          <a:noFill/>
          <a:ln>
            <a:noFill/>
          </a:ln>
        </p:spPr>
        <p:txBody>
          <a:bodyPr wrap="square" anchor="t">
            <a:spAutoFit/>
          </a:bodyPr>
          <a:lstStyle/>
          <a:p>
            <a:pPr algn="l"/>
            <a:r>
              <a:rPr lang="zh-CN" sz="780" b="0">
                <a:solidFill>
                  <a:srgbClr val="CCD3DC"/>
                </a:solidFill>
                <a:latin typeface="微软雅黑" panose="020B0503020204020204" charset="-122"/>
                <a:ea typeface="微软雅黑" panose="020B0503020204020204" charset="-122"/>
              </a:rPr>
              <a:t>制度文本、政治领导和现代化目标仍明确指向社会主义。</a:t>
            </a:r>
            <a:endParaRPr lang="zh-CN" sz="780" b="0">
              <a:solidFill>
                <a:srgbClr val="CCD3DC"/>
              </a:solidFill>
              <a:latin typeface="微软雅黑" panose="020B0503020204020204" charset="-122"/>
              <a:ea typeface="微软雅黑" panose="020B0503020204020204" charset="-122"/>
            </a:endParaRPr>
          </a:p>
        </p:txBody>
      </p:sp>
      <p:sp>
        <p:nvSpPr>
          <p:cNvPr id="13" name="Shape"/>
          <p:cNvSpPr/>
          <p:nvPr/>
        </p:nvSpPr>
        <p:spPr>
          <a:xfrm>
            <a:off x="4434840" y="2880360"/>
            <a:ext cx="3108960" cy="1298448"/>
          </a:xfrm>
          <a:prstGeom prst="roundRect">
            <a:avLst/>
          </a:prstGeom>
          <a:solidFill>
            <a:srgbClr val="101B2A"/>
          </a:solidFill>
          <a:ln w="12700">
            <a:solidFill>
              <a:srgbClr val="233144"/>
            </a:solidFill>
          </a:ln>
        </p:spPr>
        <p:txBody>
          <a:bodyPr/>
          <a:lstStyle/>
          <a:p/>
        </p:txBody>
      </p:sp>
      <p:sp>
        <p:nvSpPr>
          <p:cNvPr id="14" name="Shape"/>
          <p:cNvSpPr/>
          <p:nvPr/>
        </p:nvSpPr>
        <p:spPr>
          <a:xfrm>
            <a:off x="4434840" y="2880360"/>
            <a:ext cx="50292" cy="1298448"/>
          </a:xfrm>
          <a:prstGeom prst="rect">
            <a:avLst/>
          </a:prstGeom>
          <a:solidFill>
            <a:srgbClr val="00A6A6"/>
          </a:solidFill>
          <a:ln>
            <a:noFill/>
          </a:ln>
        </p:spPr>
        <p:txBody>
          <a:bodyPr/>
          <a:lstStyle/>
          <a:p/>
        </p:txBody>
      </p:sp>
      <p:sp>
        <p:nvSpPr>
          <p:cNvPr id="15" name="Text"/>
          <p:cNvSpPr txBox="1"/>
          <p:nvPr/>
        </p:nvSpPr>
        <p:spPr>
          <a:xfrm>
            <a:off x="4654296" y="3044952"/>
            <a:ext cx="2697479" cy="256032"/>
          </a:xfrm>
          <a:prstGeom prst="rect">
            <a:avLst/>
          </a:prstGeom>
          <a:noFill/>
          <a:ln>
            <a:noFill/>
          </a:ln>
        </p:spPr>
        <p:txBody>
          <a:bodyPr wrap="square" anchor="t">
            <a:spAutoFit/>
          </a:bodyPr>
          <a:lstStyle/>
          <a:p>
            <a:pPr algn="l"/>
            <a:r>
              <a:rPr lang="zh-CN" sz="1050" b="1">
                <a:solidFill>
                  <a:srgbClr val="FFFFFF"/>
                </a:solidFill>
                <a:latin typeface="微软雅黑" panose="020B0503020204020204" charset="-122"/>
                <a:ea typeface="微软雅黑" panose="020B0503020204020204" charset="-122"/>
              </a:rPr>
              <a:t>方法</a:t>
            </a:r>
            <a:endParaRPr lang="zh-CN" sz="1050" b="1">
              <a:solidFill>
                <a:srgbClr val="FFFFFF"/>
              </a:solidFill>
              <a:latin typeface="微软雅黑" panose="020B0503020204020204" charset="-122"/>
              <a:ea typeface="微软雅黑" panose="020B0503020204020204" charset="-122"/>
            </a:endParaRPr>
          </a:p>
        </p:txBody>
      </p:sp>
      <p:sp>
        <p:nvSpPr>
          <p:cNvPr id="16" name="Text"/>
          <p:cNvSpPr txBox="1"/>
          <p:nvPr/>
        </p:nvSpPr>
        <p:spPr>
          <a:xfrm>
            <a:off x="4654296" y="3392424"/>
            <a:ext cx="2697479" cy="704087"/>
          </a:xfrm>
          <a:prstGeom prst="rect">
            <a:avLst/>
          </a:prstGeom>
          <a:noFill/>
          <a:ln>
            <a:noFill/>
          </a:ln>
        </p:spPr>
        <p:txBody>
          <a:bodyPr wrap="square" anchor="t">
            <a:spAutoFit/>
          </a:bodyPr>
          <a:lstStyle/>
          <a:p>
            <a:pPr algn="l"/>
            <a:r>
              <a:rPr lang="zh-CN" sz="780" b="0">
                <a:solidFill>
                  <a:srgbClr val="CCD3DC"/>
                </a:solidFill>
                <a:latin typeface="微软雅黑" panose="020B0503020204020204" charset="-122"/>
                <a:ea typeface="微软雅黑" panose="020B0503020204020204" charset="-122"/>
              </a:rPr>
              <a:t>通过市场经济、企业竞争和开放合作提高效率。</a:t>
            </a:r>
            <a:endParaRPr lang="zh-CN" sz="780" b="0">
              <a:solidFill>
                <a:srgbClr val="CCD3DC"/>
              </a:solidFill>
              <a:latin typeface="微软雅黑" panose="020B0503020204020204" charset="-122"/>
              <a:ea typeface="微软雅黑" panose="020B0503020204020204" charset="-122"/>
            </a:endParaRPr>
          </a:p>
        </p:txBody>
      </p:sp>
      <p:sp>
        <p:nvSpPr>
          <p:cNvPr id="17" name="Shape"/>
          <p:cNvSpPr/>
          <p:nvPr/>
        </p:nvSpPr>
        <p:spPr>
          <a:xfrm>
            <a:off x="8001000" y="2880360"/>
            <a:ext cx="3108960" cy="1298448"/>
          </a:xfrm>
          <a:prstGeom prst="roundRect">
            <a:avLst/>
          </a:prstGeom>
          <a:solidFill>
            <a:srgbClr val="101B2A"/>
          </a:solidFill>
          <a:ln w="12700">
            <a:solidFill>
              <a:srgbClr val="233144"/>
            </a:solidFill>
          </a:ln>
        </p:spPr>
        <p:txBody>
          <a:bodyPr/>
          <a:lstStyle/>
          <a:p/>
        </p:txBody>
      </p:sp>
      <p:sp>
        <p:nvSpPr>
          <p:cNvPr id="18" name="Shape"/>
          <p:cNvSpPr/>
          <p:nvPr/>
        </p:nvSpPr>
        <p:spPr>
          <a:xfrm>
            <a:off x="8001000" y="2880360"/>
            <a:ext cx="50292" cy="1298448"/>
          </a:xfrm>
          <a:prstGeom prst="rect">
            <a:avLst/>
          </a:prstGeom>
          <a:solidFill>
            <a:srgbClr val="D6A13B"/>
          </a:solidFill>
          <a:ln>
            <a:noFill/>
          </a:ln>
        </p:spPr>
        <p:txBody>
          <a:bodyPr/>
          <a:lstStyle/>
          <a:p/>
        </p:txBody>
      </p:sp>
      <p:sp>
        <p:nvSpPr>
          <p:cNvPr id="19" name="Text"/>
          <p:cNvSpPr txBox="1"/>
          <p:nvPr/>
        </p:nvSpPr>
        <p:spPr>
          <a:xfrm>
            <a:off x="8220456" y="3044952"/>
            <a:ext cx="2697479" cy="256032"/>
          </a:xfrm>
          <a:prstGeom prst="rect">
            <a:avLst/>
          </a:prstGeom>
          <a:noFill/>
          <a:ln>
            <a:noFill/>
          </a:ln>
        </p:spPr>
        <p:txBody>
          <a:bodyPr wrap="square" anchor="t">
            <a:spAutoFit/>
          </a:bodyPr>
          <a:lstStyle/>
          <a:p>
            <a:pPr algn="l"/>
            <a:r>
              <a:rPr lang="zh-CN" sz="1050" b="1">
                <a:solidFill>
                  <a:srgbClr val="FFFFFF"/>
                </a:solidFill>
                <a:latin typeface="微软雅黑" panose="020B0503020204020204" charset="-122"/>
                <a:ea typeface="微软雅黑" panose="020B0503020204020204" charset="-122"/>
              </a:rPr>
              <a:t>约束</a:t>
            </a:r>
            <a:endParaRPr lang="zh-CN" sz="1050" b="1">
              <a:solidFill>
                <a:srgbClr val="FFFFFF"/>
              </a:solidFill>
              <a:latin typeface="微软雅黑" panose="020B0503020204020204" charset="-122"/>
              <a:ea typeface="微软雅黑" panose="020B0503020204020204" charset="-122"/>
            </a:endParaRPr>
          </a:p>
        </p:txBody>
      </p:sp>
      <p:sp>
        <p:nvSpPr>
          <p:cNvPr id="20" name="Text"/>
          <p:cNvSpPr txBox="1"/>
          <p:nvPr/>
        </p:nvSpPr>
        <p:spPr>
          <a:xfrm>
            <a:off x="8220456" y="3392424"/>
            <a:ext cx="2697479" cy="704087"/>
          </a:xfrm>
          <a:prstGeom prst="rect">
            <a:avLst/>
          </a:prstGeom>
          <a:noFill/>
          <a:ln>
            <a:noFill/>
          </a:ln>
        </p:spPr>
        <p:txBody>
          <a:bodyPr wrap="square" anchor="t">
            <a:spAutoFit/>
          </a:bodyPr>
          <a:lstStyle/>
          <a:p>
            <a:pPr algn="l"/>
            <a:r>
              <a:rPr lang="zh-CN" sz="780" b="0">
                <a:solidFill>
                  <a:srgbClr val="CCD3DC"/>
                </a:solidFill>
                <a:latin typeface="微软雅黑" panose="020B0503020204020204" charset="-122"/>
                <a:ea typeface="微软雅黑" panose="020B0503020204020204" charset="-122"/>
              </a:rPr>
              <a:t>通过公共目标、国家调节和共同富裕防止失序。</a:t>
            </a:r>
            <a:endParaRPr lang="zh-CN" sz="780" b="0">
              <a:solidFill>
                <a:srgbClr val="CCD3DC"/>
              </a:solidFill>
              <a:latin typeface="微软雅黑" panose="020B0503020204020204" charset="-122"/>
              <a:ea typeface="微软雅黑" panose="020B0503020204020204" charset="-122"/>
            </a:endParaRPr>
          </a:p>
        </p:txBody>
      </p:sp>
      <p:sp>
        <p:nvSpPr>
          <p:cNvPr id="21" name="Text"/>
          <p:cNvSpPr txBox="1"/>
          <p:nvPr/>
        </p:nvSpPr>
        <p:spPr>
          <a:xfrm>
            <a:off x="914400" y="5212080"/>
            <a:ext cx="10241280" cy="256032"/>
          </a:xfrm>
          <a:prstGeom prst="rect">
            <a:avLst/>
          </a:prstGeom>
          <a:noFill/>
          <a:ln>
            <a:noFill/>
          </a:ln>
        </p:spPr>
        <p:txBody>
          <a:bodyPr wrap="square" anchor="t">
            <a:spAutoFit/>
          </a:bodyPr>
          <a:lstStyle/>
          <a:p>
            <a:pPr algn="ctr"/>
            <a:r>
              <a:rPr lang="zh-CN" sz="1400" b="1">
                <a:solidFill>
                  <a:srgbClr val="FFFFFF"/>
                </a:solidFill>
                <a:latin typeface="微软雅黑" panose="020B0503020204020204" charset="-122"/>
                <a:ea typeface="微软雅黑" panose="020B0503020204020204" charset="-122"/>
              </a:rPr>
              <a:t>真正值得讨论的，不是“有没有市场”，而是市场能否长期服务于公共目标。</a:t>
            </a:r>
            <a:endParaRPr lang="zh-CN" sz="1400" b="1">
              <a:solidFill>
                <a:srgbClr val="FFFFFF"/>
              </a:solidFill>
              <a:latin typeface="微软雅黑" panose="020B0503020204020204" charset="-122"/>
              <a:ea typeface="微软雅黑" panose="020B0503020204020204" charset="-122"/>
            </a:endParaRPr>
          </a:p>
        </p:txBody>
      </p:sp>
      <p:sp>
        <p:nvSpPr>
          <p:cNvPr id="22"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资料来源：公开资料整理；宪法、二十大报告、二十届三中全会决定、财政部等</a:t>
            </a:r>
            <a:endParaRPr lang="zh-CN" sz="550" b="0">
              <a:solidFill>
                <a:srgbClr val="8C939D"/>
              </a:solidFill>
              <a:latin typeface="微软雅黑" panose="020B0503020204020204" charset="-122"/>
              <a:ea typeface="微软雅黑" panose="020B0503020204020204" charset="-122"/>
            </a:endParaRPr>
          </a:p>
        </p:txBody>
      </p:sp>
      <p:sp>
        <p:nvSpPr>
          <p:cNvPr id="23"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3" presetClass="entr" presetSubtype="16" fill="hold" grpId="7" nodeType="afterEffect">
                                  <p:stCondLst>
                                    <p:cond delay="0"/>
                                  </p:stCondLst>
                                  <p:childTnLst>
                                    <p:set>
                                      <p:cBhvr>
                                        <p:cTn id="15" dur="350" fill="hold">
                                          <p:stCondLst>
                                            <p:cond delay="0"/>
                                          </p:stCondLst>
                                        </p:cTn>
                                        <p:tgtEl>
                                          <p:spTgt spid="6"/>
                                        </p:tgtEl>
                                        <p:attrNameLst>
                                          <p:attrName>style.visibility</p:attrName>
                                        </p:attrNameLst>
                                      </p:cBhvr>
                                      <p:to>
                                        <p:strVal val="visible"/>
                                      </p:to>
                                    </p:set>
                                    <p:anim calcmode="lin" valueType="num">
                                      <p:cBhvr>
                                        <p:cTn id="16" dur="350" fill="hold"/>
                                        <p:tgtEl>
                                          <p:spTgt spid="6"/>
                                        </p:tgtEl>
                                        <p:attrNameLst>
                                          <p:attrName>ppt_w</p:attrName>
                                        </p:attrNameLst>
                                      </p:cBhvr>
                                      <p:tavLst>
                                        <p:tav tm="0">
                                          <p:val>
                                            <p:fltVal val="0"/>
                                          </p:val>
                                        </p:tav>
                                        <p:tav tm="100000">
                                          <p:val>
                                            <p:strVal val="#ppt_w"/>
                                          </p:val>
                                        </p:tav>
                                      </p:tavLst>
                                    </p:anim>
                                    <p:anim calcmode="lin" valueType="num">
                                      <p:cBhvr>
                                        <p:cTn id="17" dur="350" fill="hold"/>
                                        <p:tgtEl>
                                          <p:spTgt spid="6"/>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30" presetClass="entr" presetSubtype="0" fill="hold" grpId="1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336" decel="100000"/>
                                        <p:tgtEl>
                                          <p:spTgt spid="11"/>
                                        </p:tgtEl>
                                      </p:cBhvr>
                                    </p:animEffect>
                                    <p:anim calcmode="lin" valueType="num">
                                      <p:cBhvr>
                                        <p:cTn id="22" dur="336" decel="100000" fill="hold"/>
                                        <p:tgtEl>
                                          <p:spTgt spid="11"/>
                                        </p:tgtEl>
                                        <p:attrNameLst>
                                          <p:attrName>style.rotation</p:attrName>
                                        </p:attrNameLst>
                                      </p:cBhvr>
                                      <p:tavLst>
                                        <p:tav tm="0">
                                          <p:val>
                                            <p:fltVal val="-90"/>
                                          </p:val>
                                        </p:tav>
                                        <p:tav tm="100000">
                                          <p:val>
                                            <p:fltVal val="0"/>
                                          </p:val>
                                        </p:tav>
                                      </p:tavLst>
                                    </p:anim>
                                    <p:anim calcmode="lin" valueType="num">
                                      <p:cBhvr>
                                        <p:cTn id="23" dur="336" decel="100000" fill="hold"/>
                                        <p:tgtEl>
                                          <p:spTgt spid="11"/>
                                        </p:tgtEl>
                                        <p:attrNameLst>
                                          <p:attrName>ppt_x</p:attrName>
                                        </p:attrNameLst>
                                      </p:cBhvr>
                                      <p:tavLst>
                                        <p:tav tm="0">
                                          <p:val>
                                            <p:strVal val="#ppt_x+0.4"/>
                                          </p:val>
                                        </p:tav>
                                        <p:tav tm="100000">
                                          <p:val>
                                            <p:strVal val="#ppt_x-0.05"/>
                                          </p:val>
                                        </p:tav>
                                      </p:tavLst>
                                    </p:anim>
                                    <p:anim calcmode="lin" valueType="num">
                                      <p:cBhvr>
                                        <p:cTn id="24" dur="336" decel="100000" fill="hold"/>
                                        <p:tgtEl>
                                          <p:spTgt spid="11"/>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11"/>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11"/>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8"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420"/>
                                        <p:tgtEl>
                                          <p:spTgt spid="7"/>
                                        </p:tgtEl>
                                      </p:cBhvr>
                                    </p:animEffect>
                                    <p:anim calcmode="lin" valueType="num">
                                      <p:cBhvr>
                                        <p:cTn id="31" dur="420" fill="hold"/>
                                        <p:tgtEl>
                                          <p:spTgt spid="7"/>
                                        </p:tgtEl>
                                        <p:attrNameLst>
                                          <p:attrName>ppt_x</p:attrName>
                                        </p:attrNameLst>
                                      </p:cBhvr>
                                      <p:tavLst>
                                        <p:tav tm="0">
                                          <p:val>
                                            <p:strVal val="#ppt_x"/>
                                          </p:val>
                                        </p:tav>
                                        <p:tav tm="100000">
                                          <p:val>
                                            <p:strVal val="#ppt_x"/>
                                          </p:val>
                                        </p:tav>
                                      </p:tavLst>
                                    </p:anim>
                                    <p:anim calcmode="lin" valueType="num">
                                      <p:cBhvr>
                                        <p:cTn id="32" dur="378" decel="100000" fill="hold"/>
                                        <p:tgtEl>
                                          <p:spTgt spid="7"/>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7"/>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3" nodeType="afterEffect">
                                  <p:stCondLst>
                                    <p:cond delay="0"/>
                                  </p:stCondLst>
                                  <p:childTnLst>
                                    <p:set>
                                      <p:cBhvr>
                                        <p:cTn id="36" dur="420"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childTnLst>
                          </p:cTn>
                        </p:par>
                        <p:par>
                          <p:cTn id="38" fill="hold">
                            <p:stCondLst>
                              <p:cond delay="3000"/>
                            </p:stCondLst>
                            <p:childTnLst>
                              <p:par>
                                <p:cTn id="39" presetID="22" presetClass="entr" presetSubtype="4" fill="hold" grpId="15" nodeType="afterEffect">
                                  <p:stCondLst>
                                    <p:cond delay="0"/>
                                  </p:stCondLst>
                                  <p:childTnLst>
                                    <p:set>
                                      <p:cBhvr>
                                        <p:cTn id="40" dur="420" fill="hold">
                                          <p:stCondLst>
                                            <p:cond delay="0"/>
                                          </p:stCondLst>
                                        </p:cTn>
                                        <p:tgtEl>
                                          <p:spTgt spid="19"/>
                                        </p:tgtEl>
                                        <p:attrNameLst>
                                          <p:attrName>style.visibility</p:attrName>
                                        </p:attrNameLst>
                                      </p:cBhvr>
                                      <p:to>
                                        <p:strVal val="visible"/>
                                      </p:to>
                                    </p:set>
                                    <p:animEffect transition="in" filter="wipe(down)">
                                      <p:cBhvr>
                                        <p:cTn id="41" dur="420"/>
                                        <p:tgtEl>
                                          <p:spTgt spid="19"/>
                                        </p:tgtEl>
                                      </p:cBhvr>
                                    </p:animEffect>
                                  </p:childTnLst>
                                </p:cTn>
                              </p:par>
                            </p:childTnLst>
                          </p:cTn>
                        </p:par>
                        <p:par>
                          <p:cTn id="42" fill="hold">
                            <p:stCondLst>
                              <p:cond delay="3500"/>
                            </p:stCondLst>
                            <p:childTnLst>
                              <p:par>
                                <p:cTn id="43" presetID="2" presetClass="entr" presetSubtype="4" fill="hold" grpId="11" nodeType="afterEffect">
                                  <p:stCondLst>
                                    <p:cond delay="0"/>
                                  </p:stCondLst>
                                  <p:childTnLst>
                                    <p:set>
                                      <p:cBhvr>
                                        <p:cTn id="44" dur="420" fill="hold">
                                          <p:stCondLst>
                                            <p:cond delay="0"/>
                                          </p:stCondLst>
                                        </p:cTn>
                                        <p:tgtEl>
                                          <p:spTgt spid="12"/>
                                        </p:tgtEl>
                                        <p:attrNameLst>
                                          <p:attrName>style.visibility</p:attrName>
                                        </p:attrNameLst>
                                      </p:cBhvr>
                                      <p:to>
                                        <p:strVal val="visible"/>
                                      </p:to>
                                    </p:set>
                                    <p:anim calcmode="lin" valueType="num">
                                      <p:cBhvr additive="base">
                                        <p:cTn id="45" dur="420" fill="hold"/>
                                        <p:tgtEl>
                                          <p:spTgt spid="12"/>
                                        </p:tgtEl>
                                        <p:attrNameLst>
                                          <p:attrName>ppt_x</p:attrName>
                                        </p:attrNameLst>
                                      </p:cBhvr>
                                      <p:tavLst>
                                        <p:tav tm="0">
                                          <p:val>
                                            <p:strVal val="#ppt_x"/>
                                          </p:val>
                                        </p:tav>
                                        <p:tav tm="100000">
                                          <p:val>
                                            <p:strVal val="#ppt_x"/>
                                          </p:val>
                                        </p:tav>
                                      </p:tavLst>
                                    </p:anim>
                                    <p:anim calcmode="lin" valueType="num">
                                      <p:cBhvr additive="base">
                                        <p:cTn id="46" dur="420" fill="hold"/>
                                        <p:tgtEl>
                                          <p:spTgt spid="12"/>
                                        </p:tgtEl>
                                        <p:attrNameLst>
                                          <p:attrName>ppt_y</p:attrName>
                                        </p:attrNameLst>
                                      </p:cBhvr>
                                      <p:tavLst>
                                        <p:tav tm="0">
                                          <p:val>
                                            <p:strVal val="1+#ppt_h/2"/>
                                          </p:val>
                                        </p:tav>
                                        <p:tav tm="100000">
                                          <p:val>
                                            <p:strVal val="#ppt_y"/>
                                          </p:val>
                                        </p:tav>
                                      </p:tavLst>
                                    </p:anim>
                                  </p:childTnLst>
                                </p:cTn>
                              </p:par>
                            </p:childTnLst>
                          </p:cTn>
                        </p:par>
                        <p:par>
                          <p:cTn id="47" fill="hold">
                            <p:stCondLst>
                              <p:cond delay="4000"/>
                            </p:stCondLst>
                            <p:childTnLst>
                              <p:par>
                                <p:cTn id="48" presetID="30" presetClass="entr" presetSubtype="0" fill="hold" grpId="13"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336" decel="100000"/>
                                        <p:tgtEl>
                                          <p:spTgt spid="16"/>
                                        </p:tgtEl>
                                      </p:cBhvr>
                                    </p:animEffect>
                                    <p:anim calcmode="lin" valueType="num">
                                      <p:cBhvr>
                                        <p:cTn id="51" dur="336" decel="100000" fill="hold"/>
                                        <p:tgtEl>
                                          <p:spTgt spid="16"/>
                                        </p:tgtEl>
                                        <p:attrNameLst>
                                          <p:attrName>style.rotation</p:attrName>
                                        </p:attrNameLst>
                                      </p:cBhvr>
                                      <p:tavLst>
                                        <p:tav tm="0">
                                          <p:val>
                                            <p:fltVal val="-90"/>
                                          </p:val>
                                        </p:tav>
                                        <p:tav tm="100000">
                                          <p:val>
                                            <p:fltVal val="0"/>
                                          </p:val>
                                        </p:tav>
                                      </p:tavLst>
                                    </p:anim>
                                    <p:anim calcmode="lin" valueType="num">
                                      <p:cBhvr>
                                        <p:cTn id="52" dur="336" decel="100000" fill="hold"/>
                                        <p:tgtEl>
                                          <p:spTgt spid="16"/>
                                        </p:tgtEl>
                                        <p:attrNameLst>
                                          <p:attrName>ppt_x</p:attrName>
                                        </p:attrNameLst>
                                      </p:cBhvr>
                                      <p:tavLst>
                                        <p:tav tm="0">
                                          <p:val>
                                            <p:strVal val="#ppt_x+0.4"/>
                                          </p:val>
                                        </p:tav>
                                        <p:tav tm="100000">
                                          <p:val>
                                            <p:strVal val="#ppt_x-0.05"/>
                                          </p:val>
                                        </p:tav>
                                      </p:tavLst>
                                    </p:anim>
                                    <p:anim calcmode="lin" valueType="num">
                                      <p:cBhvr>
                                        <p:cTn id="53" dur="336" decel="100000" fill="hold"/>
                                        <p:tgtEl>
                                          <p:spTgt spid="16"/>
                                        </p:tgtEl>
                                        <p:attrNameLst>
                                          <p:attrName>ppt_y</p:attrName>
                                        </p:attrNameLst>
                                      </p:cBhvr>
                                      <p:tavLst>
                                        <p:tav tm="0">
                                          <p:val>
                                            <p:strVal val="#ppt_y-0.4"/>
                                          </p:val>
                                        </p:tav>
                                        <p:tav tm="100000">
                                          <p:val>
                                            <p:strVal val="#ppt_y+0.1"/>
                                          </p:val>
                                        </p:tav>
                                      </p:tavLst>
                                    </p:anim>
                                    <p:anim calcmode="lin" valueType="num">
                                      <p:cBhvr>
                                        <p:cTn id="54" dur="84" accel="100000" fill="hold">
                                          <p:stCondLst>
                                            <p:cond delay="336"/>
                                          </p:stCondLst>
                                        </p:cTn>
                                        <p:tgtEl>
                                          <p:spTgt spid="16"/>
                                        </p:tgtEl>
                                        <p:attrNameLst>
                                          <p:attrName>ppt_x</p:attrName>
                                        </p:attrNameLst>
                                      </p:cBhvr>
                                      <p:tavLst>
                                        <p:tav tm="0">
                                          <p:val>
                                            <p:strVal val="#ppt_x-0.05"/>
                                          </p:val>
                                        </p:tav>
                                        <p:tav tm="100000">
                                          <p:val>
                                            <p:strVal val="#ppt_x"/>
                                          </p:val>
                                        </p:tav>
                                      </p:tavLst>
                                    </p:anim>
                                    <p:anim calcmode="lin" valueType="num">
                                      <p:cBhvr>
                                        <p:cTn id="55" dur="84" accel="100000" fill="hold">
                                          <p:stCondLst>
                                            <p:cond delay="336"/>
                                          </p:stCondLst>
                                        </p:cTn>
                                        <p:tgtEl>
                                          <p:spTgt spid="16"/>
                                        </p:tgtEl>
                                        <p:attrNameLst>
                                          <p:attrName>ppt_y</p:attrName>
                                        </p:attrNameLst>
                                      </p:cBhvr>
                                      <p:tavLst>
                                        <p:tav tm="0">
                                          <p:val>
                                            <p:strVal val="#ppt_y+0.1"/>
                                          </p:val>
                                        </p:tav>
                                        <p:tav tm="100000">
                                          <p:val>
                                            <p:strVal val="#ppt_y"/>
                                          </p:val>
                                        </p:tav>
                                      </p:tavLst>
                                    </p:anim>
                                  </p:childTnLst>
                                </p:cTn>
                              </p:par>
                            </p:childTnLst>
                          </p:cTn>
                        </p:par>
                        <p:par>
                          <p:cTn id="56" fill="hold">
                            <p:stCondLst>
                              <p:cond delay="4500"/>
                            </p:stCondLst>
                            <p:childTnLst>
                              <p:par>
                                <p:cTn id="57" presetID="37" presetClass="entr" presetSubtype="0" fill="hold" grpId="16"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20"/>
                                        <p:tgtEl>
                                          <p:spTgt spid="20"/>
                                        </p:tgtEl>
                                      </p:cBhvr>
                                    </p:animEffect>
                                    <p:anim calcmode="lin" valueType="num">
                                      <p:cBhvr>
                                        <p:cTn id="60" dur="420" fill="hold"/>
                                        <p:tgtEl>
                                          <p:spTgt spid="20"/>
                                        </p:tgtEl>
                                        <p:attrNameLst>
                                          <p:attrName>ppt_x</p:attrName>
                                        </p:attrNameLst>
                                      </p:cBhvr>
                                      <p:tavLst>
                                        <p:tav tm="0">
                                          <p:val>
                                            <p:strVal val="#ppt_x"/>
                                          </p:val>
                                        </p:tav>
                                        <p:tav tm="100000">
                                          <p:val>
                                            <p:strVal val="#ppt_x"/>
                                          </p:val>
                                        </p:tav>
                                      </p:tavLst>
                                    </p:anim>
                                    <p:anim calcmode="lin" valueType="num">
                                      <p:cBhvr>
                                        <p:cTn id="61" dur="378" decel="100000" fill="hold"/>
                                        <p:tgtEl>
                                          <p:spTgt spid="20"/>
                                        </p:tgtEl>
                                        <p:attrNameLst>
                                          <p:attrName>ppt_y</p:attrName>
                                        </p:attrNameLst>
                                      </p:cBhvr>
                                      <p:tavLst>
                                        <p:tav tm="0">
                                          <p:val>
                                            <p:strVal val="#ppt_y+1"/>
                                          </p:val>
                                        </p:tav>
                                        <p:tav tm="100000">
                                          <p:val>
                                            <p:strVal val="#ppt_y-.03"/>
                                          </p:val>
                                        </p:tav>
                                      </p:tavLst>
                                    </p:anim>
                                    <p:anim calcmode="lin" valueType="num">
                                      <p:cBhvr>
                                        <p:cTn id="62" dur="42" accel="100000" fill="hold">
                                          <p:stCondLst>
                                            <p:cond delay="378"/>
                                          </p:stCondLst>
                                        </p:cTn>
                                        <p:tgtEl>
                                          <p:spTgt spid="20"/>
                                        </p:tgtEl>
                                        <p:attrNameLst>
                                          <p:attrName>ppt_y</p:attrName>
                                        </p:attrNameLst>
                                      </p:cBhvr>
                                      <p:tavLst>
                                        <p:tav tm="0">
                                          <p:val>
                                            <p:strVal val="#ppt_y-.03"/>
                                          </p:val>
                                        </p:tav>
                                        <p:tav tm="100000">
                                          <p:val>
                                            <p:strVal val="#ppt_y"/>
                                          </p:val>
                                        </p:tav>
                                      </p:tavLst>
                                    </p:anim>
                                  </p:childTnLst>
                                </p:cTn>
                              </p:par>
                            </p:childTnLst>
                          </p:cTn>
                        </p:par>
                        <p:par>
                          <p:cTn id="63" fill="hold">
                            <p:stCondLst>
                              <p:cond delay="5000"/>
                            </p:stCondLst>
                            <p:childTnLst>
                              <p:par>
                                <p:cTn id="64" presetID="16" presetClass="entr" presetSubtype="21" fill="hold" grpId="3" nodeType="afterEffect">
                                  <p:stCondLst>
                                    <p:cond delay="0"/>
                                  </p:stCondLst>
                                  <p:childTnLst>
                                    <p:set>
                                      <p:cBhvr>
                                        <p:cTn id="65" dur="420" fill="hold">
                                          <p:stCondLst>
                                            <p:cond delay="0"/>
                                          </p:stCondLst>
                                        </p:cTn>
                                        <p:tgtEl>
                                          <p:spTgt spid="21"/>
                                        </p:tgtEl>
                                        <p:attrNameLst>
                                          <p:attrName>style.visibility</p:attrName>
                                        </p:attrNameLst>
                                      </p:cBhvr>
                                      <p:to>
                                        <p:strVal val="visible"/>
                                      </p:to>
                                    </p:set>
                                    <p:animEffect transition="in" filter="barn(inVertical)">
                                      <p:cBhvr>
                                        <p:cTn id="66" dur="42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6" grpId="2" uiExpand="1" build="allAtOnce"/>
      <p:bldP spid="7" grpId="3" uiExpand="1" build="allAtOnce"/>
      <p:bldP spid="9" grpId="4" uiExpand="1" build="allAtOnce"/>
      <p:bldP spid="11" grpId="5" uiExpand="1" build="allAtOnce"/>
      <p:bldP spid="12" grpId="6" uiExpand="1" build="allAtOnce"/>
      <p:bldP spid="13" grpId="7" uiExpand="1" build="allAtOnce"/>
      <p:bldP spid="15" grpId="8" uiExpand="1" build="allAtOnce"/>
      <p:bldP spid="16" grpId="9" uiExpand="1" build="allAtOnce"/>
      <p:bldP spid="17" grpId="10" uiExpand="1" build="allAtOnce"/>
      <p:bldP spid="19" grpId="11" uiExpand="1" build="allAtOnce"/>
      <p:bldP spid="20" grpId="12" uiExpand="1" build="allAtOnce"/>
      <p:bldP spid="3" grpId="0"/>
      <p:bldP spid="4" grpId="2"/>
      <p:bldP spid="6" grpId="3"/>
      <p:bldP spid="7" grpId="4"/>
      <p:bldP spid="9" grpId="5" animBg="1"/>
      <p:bldP spid="11" grpId="6"/>
      <p:bldP spid="12" grpId="7"/>
      <p:bldP spid="13" grpId="8" animBg="1"/>
      <p:bldP spid="15" grpId="9"/>
      <p:bldP spid="3" grpId="1"/>
      <p:bldP spid="4" grpId="3"/>
      <p:bldP spid="6" grpId="4"/>
      <p:bldP spid="11" grpId="7"/>
      <p:bldP spid="15" grpId="10"/>
      <p:bldP spid="19" grpId="12"/>
      <p:bldP spid="7" grpId="5"/>
      <p:bldP spid="12" grpId="8"/>
      <p:bldP spid="16" grpId="10"/>
      <p:bldP spid="20" grpId="13"/>
      <p:bldP spid="21" grpId="0"/>
      <p:bldP spid="3" grpId="2"/>
      <p:bldP spid="4" grpId="4"/>
      <p:bldP spid="6" grpId="5"/>
      <p:bldP spid="11" grpId="8"/>
      <p:bldP spid="15" grpId="11"/>
      <p:bldP spid="19" grpId="13"/>
      <p:bldP spid="7" grpId="6"/>
      <p:bldP spid="12" grpId="9"/>
      <p:bldP spid="16" grpId="11"/>
      <p:bldP spid="20" grpId="14"/>
      <p:bldP spid="21" grpId="1"/>
      <p:bldP spid="3" grpId="3"/>
      <p:bldP spid="4" grpId="5"/>
      <p:bldP spid="6" grpId="6"/>
      <p:bldP spid="11" grpId="9"/>
      <p:bldP spid="7" grpId="7"/>
      <p:bldP spid="15" grpId="12"/>
      <p:bldP spid="19" grpId="14"/>
      <p:bldP spid="12" grpId="10"/>
      <p:bldP spid="16" grpId="12"/>
      <p:bldP spid="20" grpId="15"/>
      <p:bldP spid="21" grpId="2"/>
      <p:bldP spid="3" grpId="4"/>
      <p:bldP spid="4" grpId="6"/>
      <p:bldP spid="6" grpId="7"/>
      <p:bldP spid="11" grpId="10"/>
      <p:bldP spid="7" grpId="8"/>
      <p:bldP spid="15" grpId="13"/>
      <p:bldP spid="19" grpId="15"/>
      <p:bldP spid="12" grpId="11"/>
      <p:bldP spid="16" grpId="13"/>
      <p:bldP spid="20" grpId="16"/>
      <p:bldP spid="21" grpId="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6F2E9"/>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12 收束</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给听众留下的三个问题</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1005840" y="1554480"/>
            <a:ext cx="9966960" cy="694944"/>
          </a:xfrm>
          <a:prstGeom prst="roundRect">
            <a:avLst/>
          </a:prstGeom>
          <a:solidFill>
            <a:srgbClr val="FFFDF7"/>
          </a:solidFill>
          <a:ln w="12700">
            <a:solidFill>
              <a:srgbClr val="E4DED2"/>
            </a:solidFill>
          </a:ln>
        </p:spPr>
        <p:txBody>
          <a:bodyPr/>
          <a:lstStyle/>
          <a:p/>
        </p:txBody>
      </p:sp>
      <p:sp>
        <p:nvSpPr>
          <p:cNvPr id="7" name="Shape"/>
          <p:cNvSpPr/>
          <p:nvPr/>
        </p:nvSpPr>
        <p:spPr>
          <a:xfrm>
            <a:off x="1298448" y="1773936"/>
            <a:ext cx="292608" cy="292608"/>
          </a:xfrm>
          <a:prstGeom prst="roundRect">
            <a:avLst/>
          </a:prstGeom>
          <a:solidFill>
            <a:srgbClr val="B91C1C"/>
          </a:solidFill>
          <a:ln>
            <a:noFill/>
          </a:ln>
        </p:spPr>
        <p:txBody>
          <a:bodyPr/>
          <a:lstStyle/>
          <a:p/>
        </p:txBody>
      </p:sp>
      <p:sp>
        <p:nvSpPr>
          <p:cNvPr id="8" name="Text"/>
          <p:cNvSpPr txBox="1"/>
          <p:nvPr/>
        </p:nvSpPr>
        <p:spPr>
          <a:xfrm>
            <a:off x="1371600" y="1856231"/>
            <a:ext cx="146304" cy="91440"/>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1</a:t>
            </a:r>
            <a:endParaRPr lang="zh-CN" sz="720" b="1">
              <a:solidFill>
                <a:srgbClr val="FFFFFF"/>
              </a:solidFill>
              <a:latin typeface="微软雅黑" panose="020B0503020204020204" charset="-122"/>
              <a:ea typeface="微软雅黑" panose="020B0503020204020204" charset="-122"/>
            </a:endParaRPr>
          </a:p>
        </p:txBody>
      </p:sp>
      <p:sp>
        <p:nvSpPr>
          <p:cNvPr id="9" name="Text"/>
          <p:cNvSpPr txBox="1"/>
          <p:nvPr/>
        </p:nvSpPr>
        <p:spPr>
          <a:xfrm>
            <a:off x="1874519" y="1764792"/>
            <a:ext cx="7863840" cy="182880"/>
          </a:xfrm>
          <a:prstGeom prst="rect">
            <a:avLst/>
          </a:prstGeom>
          <a:noFill/>
          <a:ln>
            <a:noFill/>
          </a:ln>
        </p:spPr>
        <p:txBody>
          <a:bodyPr wrap="square" anchor="t">
            <a:spAutoFit/>
          </a:bodyPr>
          <a:lstStyle/>
          <a:p>
            <a:pPr algn="l"/>
            <a:r>
              <a:rPr lang="zh-CN" sz="1250" b="1">
                <a:solidFill>
                  <a:srgbClr val="15202B"/>
                </a:solidFill>
                <a:latin typeface="微软雅黑" panose="020B0503020204020204" charset="-122"/>
                <a:ea typeface="微软雅黑" panose="020B0503020204020204" charset="-122"/>
              </a:rPr>
              <a:t>发展速度和公平分配，如何继续平衡？</a:t>
            </a:r>
            <a:endParaRPr lang="zh-CN" sz="1250" b="1">
              <a:solidFill>
                <a:srgbClr val="15202B"/>
              </a:solidFill>
              <a:latin typeface="微软雅黑" panose="020B0503020204020204" charset="-122"/>
              <a:ea typeface="微软雅黑" panose="020B0503020204020204" charset="-122"/>
            </a:endParaRPr>
          </a:p>
        </p:txBody>
      </p:sp>
      <p:sp>
        <p:nvSpPr>
          <p:cNvPr id="10" name="Shape"/>
          <p:cNvSpPr/>
          <p:nvPr/>
        </p:nvSpPr>
        <p:spPr>
          <a:xfrm>
            <a:off x="1005840" y="2651760"/>
            <a:ext cx="9966960" cy="694944"/>
          </a:xfrm>
          <a:prstGeom prst="roundRect">
            <a:avLst/>
          </a:prstGeom>
          <a:solidFill>
            <a:srgbClr val="FFFDF7"/>
          </a:solidFill>
          <a:ln w="12700">
            <a:solidFill>
              <a:srgbClr val="E4DED2"/>
            </a:solidFill>
          </a:ln>
        </p:spPr>
        <p:txBody>
          <a:bodyPr/>
          <a:lstStyle/>
          <a:p/>
        </p:txBody>
      </p:sp>
      <p:sp>
        <p:nvSpPr>
          <p:cNvPr id="11" name="Shape"/>
          <p:cNvSpPr/>
          <p:nvPr/>
        </p:nvSpPr>
        <p:spPr>
          <a:xfrm>
            <a:off x="1298448" y="2871215"/>
            <a:ext cx="292608" cy="292608"/>
          </a:xfrm>
          <a:prstGeom prst="roundRect">
            <a:avLst/>
          </a:prstGeom>
          <a:solidFill>
            <a:srgbClr val="2563EB"/>
          </a:solidFill>
          <a:ln>
            <a:noFill/>
          </a:ln>
        </p:spPr>
        <p:txBody>
          <a:bodyPr/>
          <a:lstStyle/>
          <a:p/>
        </p:txBody>
      </p:sp>
      <p:sp>
        <p:nvSpPr>
          <p:cNvPr id="12" name="Text"/>
          <p:cNvSpPr txBox="1"/>
          <p:nvPr/>
        </p:nvSpPr>
        <p:spPr>
          <a:xfrm>
            <a:off x="1371600" y="2953511"/>
            <a:ext cx="146304" cy="91440"/>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2</a:t>
            </a:r>
            <a:endParaRPr lang="zh-CN" sz="720" b="1">
              <a:solidFill>
                <a:srgbClr val="FFFFFF"/>
              </a:solidFill>
              <a:latin typeface="微软雅黑" panose="020B0503020204020204" charset="-122"/>
              <a:ea typeface="微软雅黑" panose="020B0503020204020204" charset="-122"/>
            </a:endParaRPr>
          </a:p>
        </p:txBody>
      </p:sp>
      <p:sp>
        <p:nvSpPr>
          <p:cNvPr id="13" name="Text"/>
          <p:cNvSpPr txBox="1"/>
          <p:nvPr/>
        </p:nvSpPr>
        <p:spPr>
          <a:xfrm>
            <a:off x="1874519" y="2862072"/>
            <a:ext cx="7863840" cy="182880"/>
          </a:xfrm>
          <a:prstGeom prst="rect">
            <a:avLst/>
          </a:prstGeom>
          <a:noFill/>
          <a:ln>
            <a:noFill/>
          </a:ln>
        </p:spPr>
        <p:txBody>
          <a:bodyPr wrap="square" anchor="t">
            <a:spAutoFit/>
          </a:bodyPr>
          <a:lstStyle/>
          <a:p>
            <a:pPr algn="l"/>
            <a:r>
              <a:rPr lang="zh-CN" sz="1250" b="1">
                <a:solidFill>
                  <a:srgbClr val="15202B"/>
                </a:solidFill>
                <a:latin typeface="微软雅黑" panose="020B0503020204020204" charset="-122"/>
                <a:ea typeface="微软雅黑" panose="020B0503020204020204" charset="-122"/>
              </a:rPr>
              <a:t>政府有为和市场有效，边界如何更清楚？</a:t>
            </a:r>
            <a:endParaRPr lang="zh-CN" sz="1250" b="1">
              <a:solidFill>
                <a:srgbClr val="15202B"/>
              </a:solidFill>
              <a:latin typeface="微软雅黑" panose="020B0503020204020204" charset="-122"/>
              <a:ea typeface="微软雅黑" panose="020B0503020204020204" charset="-122"/>
            </a:endParaRPr>
          </a:p>
        </p:txBody>
      </p:sp>
      <p:sp>
        <p:nvSpPr>
          <p:cNvPr id="14" name="Shape"/>
          <p:cNvSpPr/>
          <p:nvPr/>
        </p:nvSpPr>
        <p:spPr>
          <a:xfrm>
            <a:off x="1005840" y="3749039"/>
            <a:ext cx="9966960" cy="694944"/>
          </a:xfrm>
          <a:prstGeom prst="roundRect">
            <a:avLst/>
          </a:prstGeom>
          <a:solidFill>
            <a:srgbClr val="FFFDF7"/>
          </a:solidFill>
          <a:ln w="12700">
            <a:solidFill>
              <a:srgbClr val="E4DED2"/>
            </a:solidFill>
          </a:ln>
        </p:spPr>
        <p:txBody>
          <a:bodyPr/>
          <a:lstStyle/>
          <a:p/>
        </p:txBody>
      </p:sp>
      <p:sp>
        <p:nvSpPr>
          <p:cNvPr id="15" name="Shape"/>
          <p:cNvSpPr/>
          <p:nvPr/>
        </p:nvSpPr>
        <p:spPr>
          <a:xfrm>
            <a:off x="1298448" y="3968496"/>
            <a:ext cx="292608" cy="292608"/>
          </a:xfrm>
          <a:prstGeom prst="roundRect">
            <a:avLst/>
          </a:prstGeom>
          <a:solidFill>
            <a:srgbClr val="16825D"/>
          </a:solidFill>
          <a:ln>
            <a:noFill/>
          </a:ln>
        </p:spPr>
        <p:txBody>
          <a:bodyPr/>
          <a:lstStyle/>
          <a:p/>
        </p:txBody>
      </p:sp>
      <p:sp>
        <p:nvSpPr>
          <p:cNvPr id="16" name="Text"/>
          <p:cNvSpPr txBox="1"/>
          <p:nvPr/>
        </p:nvSpPr>
        <p:spPr>
          <a:xfrm>
            <a:off x="1371600" y="4050791"/>
            <a:ext cx="146304" cy="91440"/>
          </a:xfrm>
          <a:prstGeom prst="rect">
            <a:avLst/>
          </a:prstGeom>
          <a:noFill/>
          <a:ln>
            <a:noFill/>
          </a:ln>
        </p:spPr>
        <p:txBody>
          <a:bodyPr wrap="square" anchor="t">
            <a:spAutoFit/>
          </a:bodyPr>
          <a:lstStyle/>
          <a:p>
            <a:pPr algn="ctr"/>
            <a:r>
              <a:rPr lang="zh-CN" sz="720" b="1">
                <a:solidFill>
                  <a:srgbClr val="FFFFFF"/>
                </a:solidFill>
                <a:latin typeface="微软雅黑" panose="020B0503020204020204" charset="-122"/>
                <a:ea typeface="微软雅黑" panose="020B0503020204020204" charset="-122"/>
              </a:rPr>
              <a:t>3</a:t>
            </a:r>
            <a:endParaRPr lang="zh-CN" sz="720" b="1">
              <a:solidFill>
                <a:srgbClr val="FFFFFF"/>
              </a:solidFill>
              <a:latin typeface="微软雅黑" panose="020B0503020204020204" charset="-122"/>
              <a:ea typeface="微软雅黑" panose="020B0503020204020204" charset="-122"/>
            </a:endParaRPr>
          </a:p>
        </p:txBody>
      </p:sp>
      <p:sp>
        <p:nvSpPr>
          <p:cNvPr id="17" name="Text"/>
          <p:cNvSpPr txBox="1"/>
          <p:nvPr/>
        </p:nvSpPr>
        <p:spPr>
          <a:xfrm>
            <a:off x="1874519" y="3959352"/>
            <a:ext cx="7863840" cy="182880"/>
          </a:xfrm>
          <a:prstGeom prst="rect">
            <a:avLst/>
          </a:prstGeom>
          <a:noFill/>
          <a:ln>
            <a:noFill/>
          </a:ln>
        </p:spPr>
        <p:txBody>
          <a:bodyPr wrap="square" anchor="t">
            <a:spAutoFit/>
          </a:bodyPr>
          <a:lstStyle/>
          <a:p>
            <a:pPr algn="l"/>
            <a:r>
              <a:rPr lang="zh-CN" sz="1250" b="1">
                <a:solidFill>
                  <a:srgbClr val="15202B"/>
                </a:solidFill>
                <a:latin typeface="微软雅黑" panose="020B0503020204020204" charset="-122"/>
                <a:ea typeface="微软雅黑" panose="020B0503020204020204" charset="-122"/>
              </a:rPr>
              <a:t>共同富裕如何从理念转化为可感知的生活改善？</a:t>
            </a:r>
            <a:endParaRPr lang="zh-CN" sz="1250" b="1">
              <a:solidFill>
                <a:srgbClr val="15202B"/>
              </a:solidFill>
              <a:latin typeface="微软雅黑" panose="020B0503020204020204" charset="-122"/>
              <a:ea typeface="微软雅黑" panose="020B0503020204020204" charset="-122"/>
            </a:endParaRPr>
          </a:p>
        </p:txBody>
      </p:sp>
      <p:sp>
        <p:nvSpPr>
          <p:cNvPr id="18" name="Shape"/>
          <p:cNvSpPr/>
          <p:nvPr/>
        </p:nvSpPr>
        <p:spPr>
          <a:xfrm>
            <a:off x="1005840" y="5120640"/>
            <a:ext cx="9966960" cy="566928"/>
          </a:xfrm>
          <a:prstGeom prst="roundRect">
            <a:avLst/>
          </a:prstGeom>
          <a:solidFill>
            <a:srgbClr val="15202B"/>
          </a:solidFill>
          <a:ln>
            <a:noFill/>
          </a:ln>
        </p:spPr>
        <p:txBody>
          <a:bodyPr/>
          <a:lstStyle/>
          <a:p/>
        </p:txBody>
      </p:sp>
      <p:sp>
        <p:nvSpPr>
          <p:cNvPr id="19" name="Text"/>
          <p:cNvSpPr txBox="1"/>
          <p:nvPr/>
        </p:nvSpPr>
        <p:spPr>
          <a:xfrm>
            <a:off x="1234440" y="5330952"/>
            <a:ext cx="9509760" cy="146304"/>
          </a:xfrm>
          <a:prstGeom prst="rect">
            <a:avLst/>
          </a:prstGeom>
          <a:noFill/>
          <a:ln>
            <a:noFill/>
          </a:ln>
        </p:spPr>
        <p:txBody>
          <a:bodyPr wrap="square" anchor="t">
            <a:spAutoFit/>
          </a:bodyPr>
          <a:lstStyle/>
          <a:p>
            <a:pPr algn="ctr"/>
            <a:r>
              <a:rPr lang="zh-CN" sz="900" b="1">
                <a:solidFill>
                  <a:srgbClr val="FFFFFF"/>
                </a:solidFill>
                <a:latin typeface="微软雅黑" panose="020B0503020204020204" charset="-122"/>
                <a:ea typeface="微软雅黑" panose="020B0503020204020204" charset="-122"/>
              </a:rPr>
              <a:t>判断道路，最终要回到人民生活：机会是否更多，底线是否更稳，未来是否更有确定性。</a:t>
            </a:r>
            <a:endParaRPr lang="zh-CN" sz="900" b="1">
              <a:solidFill>
                <a:srgbClr val="FFFFFF"/>
              </a:solidFill>
              <a:latin typeface="微软雅黑" panose="020B0503020204020204" charset="-122"/>
              <a:ea typeface="微软雅黑" panose="020B0503020204020204" charset="-122"/>
            </a:endParaRPr>
          </a:p>
        </p:txBody>
      </p:sp>
      <p:sp>
        <p:nvSpPr>
          <p:cNvPr id="20"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资料来源：公开资料整理；宪法、二十大报告、二十届三中全会决定、财政部等</a:t>
            </a:r>
            <a:endParaRPr lang="zh-CN" sz="550" b="0">
              <a:solidFill>
                <a:srgbClr val="8C939D"/>
              </a:solidFill>
              <a:latin typeface="微软雅黑" panose="020B0503020204020204" charset="-122"/>
              <a:ea typeface="微软雅黑" panose="020B0503020204020204" charset="-122"/>
            </a:endParaRPr>
          </a:p>
        </p:txBody>
      </p:sp>
      <p:sp>
        <p:nvSpPr>
          <p:cNvPr id="21"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 presetClass="entr" presetSubtype="4" fill="hold" grpId="8" nodeType="afterEffect">
                                  <p:stCondLst>
                                    <p:cond delay="0"/>
                                  </p:stCondLst>
                                  <p:childTnLst>
                                    <p:set>
                                      <p:cBhvr>
                                        <p:cTn id="15" dur="420" fill="hold">
                                          <p:stCondLst>
                                            <p:cond delay="0"/>
                                          </p:stCondLst>
                                        </p:cTn>
                                        <p:tgtEl>
                                          <p:spTgt spid="9"/>
                                        </p:tgtEl>
                                        <p:attrNameLst>
                                          <p:attrName>style.visibility</p:attrName>
                                        </p:attrNameLst>
                                      </p:cBhvr>
                                      <p:to>
                                        <p:strVal val="visible"/>
                                      </p:to>
                                    </p:set>
                                    <p:anim calcmode="lin" valueType="num">
                                      <p:cBhvr additive="base">
                                        <p:cTn id="16" dur="420" fill="hold"/>
                                        <p:tgtEl>
                                          <p:spTgt spid="9"/>
                                        </p:tgtEl>
                                        <p:attrNameLst>
                                          <p:attrName>ppt_x</p:attrName>
                                        </p:attrNameLst>
                                      </p:cBhvr>
                                      <p:tavLst>
                                        <p:tav tm="0">
                                          <p:val>
                                            <p:strVal val="#ppt_x"/>
                                          </p:val>
                                        </p:tav>
                                        <p:tav tm="100000">
                                          <p:val>
                                            <p:strVal val="#ppt_x"/>
                                          </p:val>
                                        </p:tav>
                                      </p:tavLst>
                                    </p:anim>
                                    <p:anim calcmode="lin" valueType="num">
                                      <p:cBhvr additive="base">
                                        <p:cTn id="17" dur="420" fill="hold"/>
                                        <p:tgtEl>
                                          <p:spTgt spid="9"/>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30" presetClass="entr" presetSubtype="0" fill="hold" grpId="1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36" decel="100000"/>
                                        <p:tgtEl>
                                          <p:spTgt spid="13"/>
                                        </p:tgtEl>
                                      </p:cBhvr>
                                    </p:animEffect>
                                    <p:anim calcmode="lin" valueType="num">
                                      <p:cBhvr>
                                        <p:cTn id="22" dur="336" decel="100000" fill="hold"/>
                                        <p:tgtEl>
                                          <p:spTgt spid="13"/>
                                        </p:tgtEl>
                                        <p:attrNameLst>
                                          <p:attrName>style.rotation</p:attrName>
                                        </p:attrNameLst>
                                      </p:cBhvr>
                                      <p:tavLst>
                                        <p:tav tm="0">
                                          <p:val>
                                            <p:fltVal val="-90"/>
                                          </p:val>
                                        </p:tav>
                                        <p:tav tm="100000">
                                          <p:val>
                                            <p:fltVal val="0"/>
                                          </p:val>
                                        </p:tav>
                                      </p:tavLst>
                                    </p:anim>
                                    <p:anim calcmode="lin" valueType="num">
                                      <p:cBhvr>
                                        <p:cTn id="23" dur="336" decel="100000" fill="hold"/>
                                        <p:tgtEl>
                                          <p:spTgt spid="13"/>
                                        </p:tgtEl>
                                        <p:attrNameLst>
                                          <p:attrName>ppt_x</p:attrName>
                                        </p:attrNameLst>
                                      </p:cBhvr>
                                      <p:tavLst>
                                        <p:tav tm="0">
                                          <p:val>
                                            <p:strVal val="#ppt_x+0.4"/>
                                          </p:val>
                                        </p:tav>
                                        <p:tav tm="100000">
                                          <p:val>
                                            <p:strVal val="#ppt_x-0.05"/>
                                          </p:val>
                                        </p:tav>
                                      </p:tavLst>
                                    </p:anim>
                                    <p:anim calcmode="lin" valueType="num">
                                      <p:cBhvr>
                                        <p:cTn id="24" dur="336" decel="100000" fill="hold"/>
                                        <p:tgtEl>
                                          <p:spTgt spid="13"/>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13"/>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13"/>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12" nodeType="after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20"/>
                                        <p:tgtEl>
                                          <p:spTgt spid="17"/>
                                        </p:tgtEl>
                                      </p:cBhvr>
                                    </p:animEffect>
                                    <p:anim calcmode="lin" valueType="num">
                                      <p:cBhvr>
                                        <p:cTn id="31" dur="420" fill="hold"/>
                                        <p:tgtEl>
                                          <p:spTgt spid="17"/>
                                        </p:tgtEl>
                                        <p:attrNameLst>
                                          <p:attrName>ppt_x</p:attrName>
                                        </p:attrNameLst>
                                      </p:cBhvr>
                                      <p:tavLst>
                                        <p:tav tm="0">
                                          <p:val>
                                            <p:strVal val="#ppt_x"/>
                                          </p:val>
                                        </p:tav>
                                        <p:tav tm="100000">
                                          <p:val>
                                            <p:strVal val="#ppt_x"/>
                                          </p:val>
                                        </p:tav>
                                      </p:tavLst>
                                    </p:anim>
                                    <p:anim calcmode="lin" valueType="num">
                                      <p:cBhvr>
                                        <p:cTn id="32" dur="378" decel="100000" fill="hold"/>
                                        <p:tgtEl>
                                          <p:spTgt spid="17"/>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7"/>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23" presetClass="entr" presetSubtype="16" fill="hold" grpId="12" nodeType="afterEffect">
                                  <p:stCondLst>
                                    <p:cond delay="0"/>
                                  </p:stCondLst>
                                  <p:childTnLst>
                                    <p:set>
                                      <p:cBhvr>
                                        <p:cTn id="36" dur="420" fill="hold">
                                          <p:stCondLst>
                                            <p:cond delay="0"/>
                                          </p:stCondLst>
                                        </p:cTn>
                                        <p:tgtEl>
                                          <p:spTgt spid="19"/>
                                        </p:tgtEl>
                                        <p:attrNameLst>
                                          <p:attrName>style.visibility</p:attrName>
                                        </p:attrNameLst>
                                      </p:cBhvr>
                                      <p:to>
                                        <p:strVal val="visible"/>
                                      </p:to>
                                    </p:set>
                                    <p:anim calcmode="lin" valueType="num">
                                      <p:cBhvr>
                                        <p:cTn id="37" dur="420" fill="hold"/>
                                        <p:tgtEl>
                                          <p:spTgt spid="19"/>
                                        </p:tgtEl>
                                        <p:attrNameLst>
                                          <p:attrName>ppt_w</p:attrName>
                                        </p:attrNameLst>
                                      </p:cBhvr>
                                      <p:tavLst>
                                        <p:tav tm="0">
                                          <p:val>
                                            <p:fltVal val="0"/>
                                          </p:val>
                                        </p:tav>
                                        <p:tav tm="100000">
                                          <p:val>
                                            <p:strVal val="#ppt_w"/>
                                          </p:val>
                                        </p:tav>
                                      </p:tavLst>
                                    </p:anim>
                                    <p:anim calcmode="lin" valueType="num">
                                      <p:cBhvr>
                                        <p:cTn id="38" dur="420" fill="hold"/>
                                        <p:tgtEl>
                                          <p:spTgt spid="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8" grpId="2" uiExpand="1" build="allAtOnce"/>
      <p:bldP spid="9" grpId="3" uiExpand="1" build="allAtOnce"/>
      <p:bldP spid="12" grpId="4" uiExpand="1" build="allAtOnce"/>
      <p:bldP spid="13" grpId="5" uiExpand="1" build="allAtOnce"/>
      <p:bldP spid="16" grpId="6" uiExpand="1" build="allAtOnce"/>
      <p:bldP spid="17" grpId="7" uiExpand="1" build="allAtOnce"/>
      <p:bldP spid="19" grpId="8" uiExpand="1" build="allAtOnce"/>
      <p:bldP spid="3" grpId="0"/>
      <p:bldP spid="4" grpId="2"/>
      <p:bldP spid="6" grpId="0" animBg="1"/>
      <p:bldP spid="9" grpId="4"/>
      <p:bldP spid="10" grpId="0" animBg="1"/>
      <p:bldP spid="13" grpId="6"/>
      <p:bldP spid="14" grpId="0" animBg="1"/>
      <p:bldP spid="17" grpId="8"/>
      <p:bldP spid="18" grpId="0" animBg="1"/>
      <p:bldP spid="3" grpId="1"/>
      <p:bldP spid="4" grpId="3"/>
      <p:bldP spid="9" grpId="5"/>
      <p:bldP spid="13" grpId="7"/>
      <p:bldP spid="17" grpId="9"/>
      <p:bldP spid="19" grpId="9"/>
      <p:bldP spid="3" grpId="2"/>
      <p:bldP spid="4" grpId="4"/>
      <p:bldP spid="9" grpId="6"/>
      <p:bldP spid="13" grpId="8"/>
      <p:bldP spid="17" grpId="10"/>
      <p:bldP spid="19" grpId="10"/>
      <p:bldP spid="3" grpId="3"/>
      <p:bldP spid="4" grpId="5"/>
      <p:bldP spid="9" grpId="7"/>
      <p:bldP spid="13" grpId="9"/>
      <p:bldP spid="17" grpId="11"/>
      <p:bldP spid="19" grpId="11"/>
      <p:bldP spid="3" grpId="4"/>
      <p:bldP spid="4" grpId="6"/>
      <p:bldP spid="9" grpId="8"/>
      <p:bldP spid="13" grpId="10"/>
      <p:bldP spid="17" grpId="12"/>
      <p:bldP spid="19" grpId="12"/>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8F5ED"/>
          </a:solidFill>
          <a:ln>
            <a:noFill/>
          </a:ln>
        </p:spPr>
        <p:txBody>
          <a:bodyPr/>
          <a:lstStyle/>
          <a:p/>
        </p:txBody>
      </p:sp>
      <p:sp>
        <p:nvSpPr>
          <p:cNvPr id="3" name="Text"/>
          <p:cNvSpPr txBox="1"/>
          <p:nvPr/>
        </p:nvSpPr>
        <p:spPr>
          <a:xfrm>
            <a:off x="594360" y="310896"/>
            <a:ext cx="3200400" cy="219456"/>
          </a:xfrm>
          <a:prstGeom prst="rect">
            <a:avLst/>
          </a:prstGeom>
          <a:noFill/>
          <a:ln>
            <a:noFill/>
          </a:ln>
        </p:spPr>
        <p:txBody>
          <a:bodyPr wrap="square" anchor="t">
            <a:spAutoFit/>
          </a:bodyPr>
          <a:lstStyle/>
          <a:p>
            <a:pPr algn="l"/>
            <a:r>
              <a:rPr lang="zh-CN" sz="800" b="1">
                <a:solidFill>
                  <a:srgbClr val="B91C1C"/>
                </a:solidFill>
                <a:latin typeface="微软雅黑" panose="020B0503020204020204" charset="-122"/>
                <a:ea typeface="微软雅黑" panose="020B0503020204020204" charset="-122"/>
              </a:rPr>
              <a:t>Appendix</a:t>
            </a:r>
            <a:endParaRPr lang="zh-CN" sz="800" b="1">
              <a:solidFill>
                <a:srgbClr val="B91C1C"/>
              </a:solidFill>
              <a:latin typeface="微软雅黑" panose="020B0503020204020204" charset="-122"/>
              <a:ea typeface="微软雅黑" panose="020B0503020204020204" charset="-122"/>
            </a:endParaRPr>
          </a:p>
        </p:txBody>
      </p:sp>
      <p:sp>
        <p:nvSpPr>
          <p:cNvPr id="4" name="Text"/>
          <p:cNvSpPr txBox="1"/>
          <p:nvPr/>
        </p:nvSpPr>
        <p:spPr>
          <a:xfrm>
            <a:off x="594360" y="566928"/>
            <a:ext cx="8138160" cy="530352"/>
          </a:xfrm>
          <a:prstGeom prst="rect">
            <a:avLst/>
          </a:prstGeom>
          <a:noFill/>
          <a:ln>
            <a:noFill/>
          </a:ln>
        </p:spPr>
        <p:txBody>
          <a:bodyPr wrap="square" anchor="t">
            <a:spAutoFit/>
          </a:bodyPr>
          <a:lstStyle/>
          <a:p>
            <a:pPr algn="l"/>
            <a:r>
              <a:rPr lang="zh-CN" sz="1800" b="1">
                <a:solidFill>
                  <a:srgbClr val="15202B"/>
                </a:solidFill>
                <a:latin typeface="微软雅黑" panose="020B0503020204020204" charset="-122"/>
                <a:ea typeface="微软雅黑" panose="020B0503020204020204" charset="-122"/>
              </a:rPr>
              <a:t>资料来源与说明</a:t>
            </a:r>
            <a:endParaRPr lang="zh-CN" sz="1800" b="1">
              <a:solidFill>
                <a:srgbClr val="15202B"/>
              </a:solidFill>
              <a:latin typeface="微软雅黑" panose="020B0503020204020204" charset="-122"/>
              <a:ea typeface="微软雅黑" panose="020B0503020204020204" charset="-122"/>
            </a:endParaRPr>
          </a:p>
        </p:txBody>
      </p:sp>
      <p:sp>
        <p:nvSpPr>
          <p:cNvPr id="5" name="Shape"/>
          <p:cNvSpPr/>
          <p:nvPr/>
        </p:nvSpPr>
        <p:spPr>
          <a:xfrm>
            <a:off x="594360" y="1115568"/>
            <a:ext cx="868680" cy="32004"/>
          </a:xfrm>
          <a:prstGeom prst="rect">
            <a:avLst/>
          </a:prstGeom>
          <a:solidFill>
            <a:srgbClr val="B91C1C"/>
          </a:solidFill>
          <a:ln>
            <a:noFill/>
          </a:ln>
        </p:spPr>
        <p:txBody>
          <a:bodyPr/>
          <a:lstStyle/>
          <a:p/>
        </p:txBody>
      </p:sp>
      <p:sp>
        <p:nvSpPr>
          <p:cNvPr id="6" name="Shape"/>
          <p:cNvSpPr/>
          <p:nvPr/>
        </p:nvSpPr>
        <p:spPr>
          <a:xfrm>
            <a:off x="822960" y="1371600"/>
            <a:ext cx="201168" cy="201168"/>
          </a:xfrm>
          <a:prstGeom prst="roundRect">
            <a:avLst/>
          </a:prstGeom>
          <a:solidFill>
            <a:srgbClr val="B91C1C"/>
          </a:solidFill>
          <a:ln>
            <a:noFill/>
          </a:ln>
        </p:spPr>
        <p:txBody>
          <a:bodyPr/>
          <a:lstStyle/>
          <a:p/>
        </p:txBody>
      </p:sp>
      <p:sp>
        <p:nvSpPr>
          <p:cNvPr id="7" name="Text"/>
          <p:cNvSpPr txBox="1"/>
          <p:nvPr/>
        </p:nvSpPr>
        <p:spPr>
          <a:xfrm>
            <a:off x="1170432" y="1325880"/>
            <a:ext cx="9784080" cy="256032"/>
          </a:xfrm>
          <a:prstGeom prst="rect">
            <a:avLst/>
          </a:prstGeom>
          <a:noFill/>
          <a:ln>
            <a:noFill/>
          </a:ln>
        </p:spPr>
        <p:txBody>
          <a:bodyPr wrap="square" anchor="t">
            <a:spAutoFit/>
          </a:bodyPr>
          <a:lstStyle/>
          <a:p>
            <a:pPr algn="l"/>
            <a:r>
              <a:rPr lang="zh-CN" sz="860" b="0">
                <a:solidFill>
                  <a:srgbClr val="15202B"/>
                </a:solidFill>
                <a:latin typeface="微软雅黑" panose="020B0503020204020204" charset="-122"/>
                <a:ea typeface="微软雅黑" panose="020B0503020204020204" charset="-122"/>
              </a:rPr>
              <a:t>《中华人民共和国宪法》：关于社会主义制度、党的领导和国家制度的基本表述。</a:t>
            </a:r>
            <a:endParaRPr lang="zh-CN" sz="860" b="0">
              <a:solidFill>
                <a:srgbClr val="15202B"/>
              </a:solidFill>
              <a:latin typeface="微软雅黑" panose="020B0503020204020204" charset="-122"/>
              <a:ea typeface="微软雅黑" panose="020B0503020204020204" charset="-122"/>
            </a:endParaRPr>
          </a:p>
        </p:txBody>
      </p:sp>
      <p:sp>
        <p:nvSpPr>
          <p:cNvPr id="8" name="Shape"/>
          <p:cNvSpPr/>
          <p:nvPr/>
        </p:nvSpPr>
        <p:spPr>
          <a:xfrm>
            <a:off x="822960" y="2029967"/>
            <a:ext cx="201168" cy="201168"/>
          </a:xfrm>
          <a:prstGeom prst="roundRect">
            <a:avLst/>
          </a:prstGeom>
          <a:solidFill>
            <a:srgbClr val="D6A13B"/>
          </a:solidFill>
          <a:ln>
            <a:noFill/>
          </a:ln>
        </p:spPr>
        <p:txBody>
          <a:bodyPr/>
          <a:lstStyle/>
          <a:p/>
        </p:txBody>
      </p:sp>
      <p:sp>
        <p:nvSpPr>
          <p:cNvPr id="9" name="Text"/>
          <p:cNvSpPr txBox="1"/>
          <p:nvPr/>
        </p:nvSpPr>
        <p:spPr>
          <a:xfrm>
            <a:off x="1170432" y="1984248"/>
            <a:ext cx="9784080" cy="256032"/>
          </a:xfrm>
          <a:prstGeom prst="rect">
            <a:avLst/>
          </a:prstGeom>
          <a:noFill/>
          <a:ln>
            <a:noFill/>
          </a:ln>
        </p:spPr>
        <p:txBody>
          <a:bodyPr wrap="square" anchor="t">
            <a:spAutoFit/>
          </a:bodyPr>
          <a:lstStyle/>
          <a:p>
            <a:pPr algn="l"/>
            <a:r>
              <a:rPr lang="zh-CN" sz="860" b="0">
                <a:solidFill>
                  <a:srgbClr val="15202B"/>
                </a:solidFill>
                <a:latin typeface="微软雅黑" panose="020B0503020204020204" charset="-122"/>
                <a:ea typeface="微软雅黑" panose="020B0503020204020204" charset="-122"/>
              </a:rPr>
              <a:t>党的二十大报告：关于中国式现代化、中国特色社会主义和共同富裕的表述。</a:t>
            </a:r>
            <a:endParaRPr lang="zh-CN" sz="860" b="0">
              <a:solidFill>
                <a:srgbClr val="15202B"/>
              </a:solidFill>
              <a:latin typeface="微软雅黑" panose="020B0503020204020204" charset="-122"/>
              <a:ea typeface="微软雅黑" panose="020B0503020204020204" charset="-122"/>
            </a:endParaRPr>
          </a:p>
        </p:txBody>
      </p:sp>
      <p:sp>
        <p:nvSpPr>
          <p:cNvPr id="10" name="Shape"/>
          <p:cNvSpPr/>
          <p:nvPr/>
        </p:nvSpPr>
        <p:spPr>
          <a:xfrm>
            <a:off x="822960" y="2688336"/>
            <a:ext cx="201168" cy="201168"/>
          </a:xfrm>
          <a:prstGeom prst="roundRect">
            <a:avLst/>
          </a:prstGeom>
          <a:solidFill>
            <a:srgbClr val="B91C1C"/>
          </a:solidFill>
          <a:ln>
            <a:noFill/>
          </a:ln>
        </p:spPr>
        <p:txBody>
          <a:bodyPr/>
          <a:lstStyle/>
          <a:p/>
        </p:txBody>
      </p:sp>
      <p:sp>
        <p:nvSpPr>
          <p:cNvPr id="11" name="Text"/>
          <p:cNvSpPr txBox="1"/>
          <p:nvPr/>
        </p:nvSpPr>
        <p:spPr>
          <a:xfrm>
            <a:off x="1170432" y="2642615"/>
            <a:ext cx="9784080" cy="256032"/>
          </a:xfrm>
          <a:prstGeom prst="rect">
            <a:avLst/>
          </a:prstGeom>
          <a:noFill/>
          <a:ln>
            <a:noFill/>
          </a:ln>
        </p:spPr>
        <p:txBody>
          <a:bodyPr wrap="square" anchor="t">
            <a:spAutoFit/>
          </a:bodyPr>
          <a:lstStyle/>
          <a:p>
            <a:pPr algn="l"/>
            <a:r>
              <a:rPr lang="zh-CN" sz="860" b="0">
                <a:solidFill>
                  <a:srgbClr val="15202B"/>
                </a:solidFill>
                <a:latin typeface="微软雅黑" panose="020B0503020204020204" charset="-122"/>
                <a:ea typeface="微软雅黑" panose="020B0503020204020204" charset="-122"/>
              </a:rPr>
              <a:t>二十届三中全会《决定》：关于高水平社会主义市场经济体制、进一步全面深化改革的表述。</a:t>
            </a:r>
            <a:endParaRPr lang="zh-CN" sz="860" b="0">
              <a:solidFill>
                <a:srgbClr val="15202B"/>
              </a:solidFill>
              <a:latin typeface="微软雅黑" panose="020B0503020204020204" charset="-122"/>
              <a:ea typeface="微软雅黑" panose="020B0503020204020204" charset="-122"/>
            </a:endParaRPr>
          </a:p>
        </p:txBody>
      </p:sp>
      <p:sp>
        <p:nvSpPr>
          <p:cNvPr id="12" name="Shape"/>
          <p:cNvSpPr/>
          <p:nvPr/>
        </p:nvSpPr>
        <p:spPr>
          <a:xfrm>
            <a:off x="822960" y="3346704"/>
            <a:ext cx="201168" cy="201168"/>
          </a:xfrm>
          <a:prstGeom prst="roundRect">
            <a:avLst/>
          </a:prstGeom>
          <a:solidFill>
            <a:srgbClr val="D6A13B"/>
          </a:solidFill>
          <a:ln>
            <a:noFill/>
          </a:ln>
        </p:spPr>
        <p:txBody>
          <a:bodyPr/>
          <a:lstStyle/>
          <a:p/>
        </p:txBody>
      </p:sp>
      <p:sp>
        <p:nvSpPr>
          <p:cNvPr id="13" name="Text"/>
          <p:cNvSpPr txBox="1"/>
          <p:nvPr/>
        </p:nvSpPr>
        <p:spPr>
          <a:xfrm>
            <a:off x="1170432" y="3300984"/>
            <a:ext cx="9784080" cy="256032"/>
          </a:xfrm>
          <a:prstGeom prst="rect">
            <a:avLst/>
          </a:prstGeom>
          <a:noFill/>
          <a:ln>
            <a:noFill/>
          </a:ln>
        </p:spPr>
        <p:txBody>
          <a:bodyPr wrap="square" anchor="t">
            <a:spAutoFit/>
          </a:bodyPr>
          <a:lstStyle/>
          <a:p>
            <a:pPr algn="l"/>
            <a:r>
              <a:rPr lang="zh-CN" sz="860" b="0">
                <a:solidFill>
                  <a:srgbClr val="15202B"/>
                </a:solidFill>
                <a:latin typeface="微软雅黑" panose="020B0503020204020204" charset="-122"/>
                <a:ea typeface="微软雅黑" panose="020B0503020204020204" charset="-122"/>
              </a:rPr>
              <a:t>财政部公开财政收支资料：教育、社会保障和就业、卫生健康等公共支出信息。</a:t>
            </a:r>
            <a:endParaRPr lang="zh-CN" sz="860" b="0">
              <a:solidFill>
                <a:srgbClr val="15202B"/>
              </a:solidFill>
              <a:latin typeface="微软雅黑" panose="020B0503020204020204" charset="-122"/>
              <a:ea typeface="微软雅黑" panose="020B0503020204020204" charset="-122"/>
            </a:endParaRPr>
          </a:p>
        </p:txBody>
      </p:sp>
      <p:sp>
        <p:nvSpPr>
          <p:cNvPr id="14" name="Shape"/>
          <p:cNvSpPr/>
          <p:nvPr/>
        </p:nvSpPr>
        <p:spPr>
          <a:xfrm>
            <a:off x="822960" y="4005072"/>
            <a:ext cx="201168" cy="201168"/>
          </a:xfrm>
          <a:prstGeom prst="roundRect">
            <a:avLst/>
          </a:prstGeom>
          <a:solidFill>
            <a:srgbClr val="B91C1C"/>
          </a:solidFill>
          <a:ln>
            <a:noFill/>
          </a:ln>
        </p:spPr>
        <p:txBody>
          <a:bodyPr/>
          <a:lstStyle/>
          <a:p/>
        </p:txBody>
      </p:sp>
      <p:sp>
        <p:nvSpPr>
          <p:cNvPr id="15" name="Text"/>
          <p:cNvSpPr txBox="1"/>
          <p:nvPr/>
        </p:nvSpPr>
        <p:spPr>
          <a:xfrm>
            <a:off x="1170432" y="3959352"/>
            <a:ext cx="9784080" cy="256032"/>
          </a:xfrm>
          <a:prstGeom prst="rect">
            <a:avLst/>
          </a:prstGeom>
          <a:noFill/>
          <a:ln>
            <a:noFill/>
          </a:ln>
        </p:spPr>
        <p:txBody>
          <a:bodyPr wrap="square" anchor="t">
            <a:spAutoFit/>
          </a:bodyPr>
          <a:lstStyle/>
          <a:p>
            <a:pPr algn="l"/>
            <a:r>
              <a:rPr lang="zh-CN" sz="860" b="0">
                <a:solidFill>
                  <a:srgbClr val="15202B"/>
                </a:solidFill>
                <a:latin typeface="微软雅黑" panose="020B0503020204020204" charset="-122"/>
                <a:ea typeface="微软雅黑" panose="020B0503020204020204" charset="-122"/>
              </a:rPr>
              <a:t>民营经济促进相关公开政策：关于民营经济在社会主义市场经济中的地位和法治保障。</a:t>
            </a:r>
            <a:endParaRPr lang="zh-CN" sz="860" b="0">
              <a:solidFill>
                <a:srgbClr val="15202B"/>
              </a:solidFill>
              <a:latin typeface="微软雅黑" panose="020B0503020204020204" charset="-122"/>
              <a:ea typeface="微软雅黑" panose="020B0503020204020204" charset="-122"/>
            </a:endParaRPr>
          </a:p>
        </p:txBody>
      </p:sp>
      <p:sp>
        <p:nvSpPr>
          <p:cNvPr id="16" name="Shape"/>
          <p:cNvSpPr/>
          <p:nvPr/>
        </p:nvSpPr>
        <p:spPr>
          <a:xfrm>
            <a:off x="868680" y="5074920"/>
            <a:ext cx="10058400" cy="731520"/>
          </a:xfrm>
          <a:prstGeom prst="roundRect">
            <a:avLst/>
          </a:prstGeom>
          <a:solidFill>
            <a:srgbClr val="FFFDF7"/>
          </a:solidFill>
          <a:ln w="12700">
            <a:solidFill>
              <a:srgbClr val="E4DED2"/>
            </a:solidFill>
          </a:ln>
        </p:spPr>
        <p:txBody>
          <a:bodyPr/>
          <a:lstStyle/>
          <a:p/>
        </p:txBody>
      </p:sp>
      <p:sp>
        <p:nvSpPr>
          <p:cNvPr id="17" name="Shape"/>
          <p:cNvSpPr/>
          <p:nvPr/>
        </p:nvSpPr>
        <p:spPr>
          <a:xfrm>
            <a:off x="868680" y="5074920"/>
            <a:ext cx="50292" cy="731520"/>
          </a:xfrm>
          <a:prstGeom prst="rect">
            <a:avLst/>
          </a:prstGeom>
          <a:solidFill>
            <a:srgbClr val="2563EB"/>
          </a:solidFill>
          <a:ln>
            <a:noFill/>
          </a:ln>
        </p:spPr>
        <p:txBody>
          <a:bodyPr/>
          <a:lstStyle/>
          <a:p/>
        </p:txBody>
      </p:sp>
      <p:sp>
        <p:nvSpPr>
          <p:cNvPr id="18" name="Text"/>
          <p:cNvSpPr txBox="1"/>
          <p:nvPr/>
        </p:nvSpPr>
        <p:spPr>
          <a:xfrm>
            <a:off x="1088136" y="5239512"/>
            <a:ext cx="9646920" cy="256032"/>
          </a:xfrm>
          <a:prstGeom prst="rect">
            <a:avLst/>
          </a:prstGeom>
          <a:noFill/>
          <a:ln>
            <a:noFill/>
          </a:ln>
        </p:spPr>
        <p:txBody>
          <a:bodyPr wrap="square" anchor="t">
            <a:spAutoFit/>
          </a:bodyPr>
          <a:lstStyle/>
          <a:p>
            <a:pPr algn="l"/>
            <a:r>
              <a:rPr lang="zh-CN" sz="1050" b="1">
                <a:solidFill>
                  <a:srgbClr val="15202B"/>
                </a:solidFill>
                <a:latin typeface="微软雅黑" panose="020B0503020204020204" charset="-122"/>
                <a:ea typeface="微软雅黑" panose="020B0503020204020204" charset="-122"/>
              </a:rPr>
              <a:t>说明</a:t>
            </a:r>
            <a:endParaRPr lang="zh-CN" sz="1050" b="1">
              <a:solidFill>
                <a:srgbClr val="15202B"/>
              </a:solidFill>
              <a:latin typeface="微软雅黑" panose="020B0503020204020204" charset="-122"/>
              <a:ea typeface="微软雅黑" panose="020B0503020204020204" charset="-122"/>
            </a:endParaRPr>
          </a:p>
        </p:txBody>
      </p:sp>
      <p:sp>
        <p:nvSpPr>
          <p:cNvPr id="19" name="Text"/>
          <p:cNvSpPr txBox="1"/>
          <p:nvPr/>
        </p:nvSpPr>
        <p:spPr>
          <a:xfrm>
            <a:off x="1088136" y="5586983"/>
            <a:ext cx="9646920" cy="137160"/>
          </a:xfrm>
          <a:prstGeom prst="rect">
            <a:avLst/>
          </a:prstGeom>
          <a:noFill/>
          <a:ln>
            <a:noFill/>
          </a:ln>
        </p:spPr>
        <p:txBody>
          <a:bodyPr wrap="square" anchor="t">
            <a:spAutoFit/>
          </a:bodyPr>
          <a:lstStyle/>
          <a:p>
            <a:pPr algn="l"/>
            <a:r>
              <a:rPr lang="zh-CN" sz="780" b="0">
                <a:solidFill>
                  <a:srgbClr val="697586"/>
                </a:solidFill>
                <a:latin typeface="微软雅黑" panose="020B0503020204020204" charset="-122"/>
                <a:ea typeface="微软雅黑" panose="020B0503020204020204" charset="-122"/>
              </a:rPr>
              <a:t>本稿为公开资料基础上的通俗化政治经济分析，用于课堂、讨论或汇报场景；核心目标是帮助非专业听众理解概念与判断框架。</a:t>
            </a:r>
            <a:endParaRPr lang="zh-CN" sz="780" b="0">
              <a:solidFill>
                <a:srgbClr val="697586"/>
              </a:solidFill>
              <a:latin typeface="微软雅黑" panose="020B0503020204020204" charset="-122"/>
              <a:ea typeface="微软雅黑" panose="020B0503020204020204" charset="-122"/>
            </a:endParaRPr>
          </a:p>
        </p:txBody>
      </p:sp>
      <p:sp>
        <p:nvSpPr>
          <p:cNvPr id="20" name="Text"/>
          <p:cNvSpPr txBox="1"/>
          <p:nvPr/>
        </p:nvSpPr>
        <p:spPr>
          <a:xfrm>
            <a:off x="566928" y="6473952"/>
            <a:ext cx="8412480" cy="146304"/>
          </a:xfrm>
          <a:prstGeom prst="rect">
            <a:avLst/>
          </a:prstGeom>
          <a:noFill/>
          <a:ln>
            <a:noFill/>
          </a:ln>
        </p:spPr>
        <p:txBody>
          <a:bodyPr wrap="square" anchor="t">
            <a:spAutoFit/>
          </a:bodyPr>
          <a:lstStyle/>
          <a:p>
            <a:pPr algn="l"/>
            <a:r>
              <a:rPr lang="zh-CN" sz="550" b="0">
                <a:solidFill>
                  <a:srgbClr val="8C939D"/>
                </a:solidFill>
                <a:latin typeface="微软雅黑" panose="020B0503020204020204" charset="-122"/>
                <a:ea typeface="微软雅黑" panose="020B0503020204020204" charset="-122"/>
              </a:rPr>
              <a:t>生成时间：2026-05-13</a:t>
            </a:r>
            <a:endParaRPr lang="zh-CN" sz="550" b="0">
              <a:solidFill>
                <a:srgbClr val="8C939D"/>
              </a:solidFill>
              <a:latin typeface="微软雅黑" panose="020B0503020204020204" charset="-122"/>
              <a:ea typeface="微软雅黑" panose="020B0503020204020204" charset="-122"/>
            </a:endParaRPr>
          </a:p>
        </p:txBody>
      </p:sp>
      <p:sp>
        <p:nvSpPr>
          <p:cNvPr id="21" name="Text"/>
          <p:cNvSpPr txBox="1"/>
          <p:nvPr/>
        </p:nvSpPr>
        <p:spPr>
          <a:xfrm>
            <a:off x="9966960" y="6473952"/>
            <a:ext cx="1600200" cy="146304"/>
          </a:xfrm>
          <a:prstGeom prst="rect">
            <a:avLst/>
          </a:prstGeom>
          <a:noFill/>
          <a:ln>
            <a:noFill/>
          </a:ln>
        </p:spPr>
        <p:txBody>
          <a:bodyPr wrap="square" anchor="t">
            <a:spAutoFit/>
          </a:bodyPr>
          <a:lstStyle/>
          <a:p>
            <a:pPr algn="r"/>
            <a:r>
              <a:rPr lang="zh-CN" sz="550" b="0">
                <a:solidFill>
                  <a:srgbClr val="8C939D"/>
                </a:solidFill>
                <a:latin typeface="微软雅黑" panose="020B0503020204020204" charset="-122"/>
                <a:ea typeface="微软雅黑" panose="020B0503020204020204" charset="-122"/>
              </a:rPr>
              <a:t>中国道路再理解</a:t>
            </a:r>
            <a:endParaRPr lang="zh-CN" sz="550" b="0">
              <a:solidFill>
                <a:srgbClr val="8C939D"/>
              </a:solidFill>
              <a:latin typeface="微软雅黑" panose="020B0503020204020204" charset="-122"/>
              <a:ea typeface="微软雅黑" panose="020B0503020204020204" charset="-122"/>
            </a:endParaRPr>
          </a:p>
        </p:txBody>
      </p:sp>
    </p:spTree>
  </p:cSld>
  <p:clrMapOvr>
    <a:masterClrMapping/>
  </p:clrMapOvr>
  <p:transition spd="med">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4" nodeType="clickEffect">
                                  <p:stCondLst>
                                    <p:cond delay="0"/>
                                  </p:stCondLst>
                                  <p:childTnLst>
                                    <p:set>
                                      <p:cBhvr>
                                        <p:cTn id="6" dur="350" fill="hold">
                                          <p:stCondLst>
                                            <p:cond delay="0"/>
                                          </p:stCondLst>
                                        </p:cTn>
                                        <p:tgtEl>
                                          <p:spTgt spid="3"/>
                                        </p:tgtEl>
                                        <p:attrNameLst>
                                          <p:attrName>style.visibility</p:attrName>
                                        </p:attrNameLst>
                                      </p:cBhvr>
                                      <p:to>
                                        <p:strVal val="visible"/>
                                      </p:to>
                                    </p:set>
                                    <p:anim calcmode="lin" valueType="num">
                                      <p:cBhvr>
                                        <p:cTn id="7" dur="350" fill="hold"/>
                                        <p:tgtEl>
                                          <p:spTgt spid="3"/>
                                        </p:tgtEl>
                                        <p:attrNameLst>
                                          <p:attrName>ppt_w</p:attrName>
                                        </p:attrNameLst>
                                      </p:cBhvr>
                                      <p:tavLst>
                                        <p:tav tm="0">
                                          <p:val>
                                            <p:fltVal val="0"/>
                                          </p:val>
                                        </p:tav>
                                        <p:tav tm="100000">
                                          <p:val>
                                            <p:strVal val="#ppt_w"/>
                                          </p:val>
                                        </p:tav>
                                      </p:tavLst>
                                    </p:anim>
                                    <p:anim calcmode="lin" valueType="num">
                                      <p:cBhvr>
                                        <p:cTn id="8" dur="35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grpId="6" nodeType="afterEffect">
                                  <p:stCondLst>
                                    <p:cond delay="0"/>
                                  </p:stCondLst>
                                  <p:childTnLst>
                                    <p:set>
                                      <p:cBhvr>
                                        <p:cTn id="11" dur="350" fill="hold">
                                          <p:stCondLst>
                                            <p:cond delay="0"/>
                                          </p:stCondLst>
                                        </p:cTn>
                                        <p:tgtEl>
                                          <p:spTgt spid="4"/>
                                        </p:tgtEl>
                                        <p:attrNameLst>
                                          <p:attrName>style.visibility</p:attrName>
                                        </p:attrNameLst>
                                      </p:cBhvr>
                                      <p:to>
                                        <p:strVal val="visible"/>
                                      </p:to>
                                    </p:set>
                                    <p:animEffect transition="in" filter="fade">
                                      <p:cBhvr>
                                        <p:cTn id="12" dur="350"/>
                                        <p:tgtEl>
                                          <p:spTgt spid="4"/>
                                        </p:tgtEl>
                                      </p:cBhvr>
                                    </p:animEffect>
                                  </p:childTnLst>
                                </p:cTn>
                              </p:par>
                            </p:childTnLst>
                          </p:cTn>
                        </p:par>
                        <p:par>
                          <p:cTn id="13" fill="hold">
                            <p:stCondLst>
                              <p:cond delay="1000"/>
                            </p:stCondLst>
                            <p:childTnLst>
                              <p:par>
                                <p:cTn id="14" presetID="23" presetClass="entr" presetSubtype="16" fill="hold" grpId="7" nodeType="afterEffect">
                                  <p:stCondLst>
                                    <p:cond delay="0"/>
                                  </p:stCondLst>
                                  <p:childTnLst>
                                    <p:set>
                                      <p:cBhvr>
                                        <p:cTn id="15" dur="350" fill="hold">
                                          <p:stCondLst>
                                            <p:cond delay="0"/>
                                          </p:stCondLst>
                                        </p:cTn>
                                        <p:tgtEl>
                                          <p:spTgt spid="7"/>
                                        </p:tgtEl>
                                        <p:attrNameLst>
                                          <p:attrName>style.visibility</p:attrName>
                                        </p:attrNameLst>
                                      </p:cBhvr>
                                      <p:to>
                                        <p:strVal val="visible"/>
                                      </p:to>
                                    </p:set>
                                    <p:anim calcmode="lin" valueType="num">
                                      <p:cBhvr>
                                        <p:cTn id="16" dur="350" fill="hold"/>
                                        <p:tgtEl>
                                          <p:spTgt spid="7"/>
                                        </p:tgtEl>
                                        <p:attrNameLst>
                                          <p:attrName>ppt_w</p:attrName>
                                        </p:attrNameLst>
                                      </p:cBhvr>
                                      <p:tavLst>
                                        <p:tav tm="0">
                                          <p:val>
                                            <p:fltVal val="0"/>
                                          </p:val>
                                        </p:tav>
                                        <p:tav tm="100000">
                                          <p:val>
                                            <p:strVal val="#ppt_w"/>
                                          </p:val>
                                        </p:tav>
                                      </p:tavLst>
                                    </p:anim>
                                    <p:anim calcmode="lin" valueType="num">
                                      <p:cBhvr>
                                        <p:cTn id="17" dur="350" fill="hold"/>
                                        <p:tgtEl>
                                          <p:spTgt spid="7"/>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30" presetClass="entr" presetSubtype="0" fill="hold" grpId="8"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336" decel="100000"/>
                                        <p:tgtEl>
                                          <p:spTgt spid="9"/>
                                        </p:tgtEl>
                                      </p:cBhvr>
                                    </p:animEffect>
                                    <p:anim calcmode="lin" valueType="num">
                                      <p:cBhvr>
                                        <p:cTn id="22" dur="336" decel="100000" fill="hold"/>
                                        <p:tgtEl>
                                          <p:spTgt spid="9"/>
                                        </p:tgtEl>
                                        <p:attrNameLst>
                                          <p:attrName>style.rotation</p:attrName>
                                        </p:attrNameLst>
                                      </p:cBhvr>
                                      <p:tavLst>
                                        <p:tav tm="0">
                                          <p:val>
                                            <p:fltVal val="-90"/>
                                          </p:val>
                                        </p:tav>
                                        <p:tav tm="100000">
                                          <p:val>
                                            <p:fltVal val="0"/>
                                          </p:val>
                                        </p:tav>
                                      </p:tavLst>
                                    </p:anim>
                                    <p:anim calcmode="lin" valueType="num">
                                      <p:cBhvr>
                                        <p:cTn id="23" dur="336" decel="100000" fill="hold"/>
                                        <p:tgtEl>
                                          <p:spTgt spid="9"/>
                                        </p:tgtEl>
                                        <p:attrNameLst>
                                          <p:attrName>ppt_x</p:attrName>
                                        </p:attrNameLst>
                                      </p:cBhvr>
                                      <p:tavLst>
                                        <p:tav tm="0">
                                          <p:val>
                                            <p:strVal val="#ppt_x+0.4"/>
                                          </p:val>
                                        </p:tav>
                                        <p:tav tm="100000">
                                          <p:val>
                                            <p:strVal val="#ppt_x-0.05"/>
                                          </p:val>
                                        </p:tav>
                                      </p:tavLst>
                                    </p:anim>
                                    <p:anim calcmode="lin" valueType="num">
                                      <p:cBhvr>
                                        <p:cTn id="24" dur="336" decel="100000" fill="hold"/>
                                        <p:tgtEl>
                                          <p:spTgt spid="9"/>
                                        </p:tgtEl>
                                        <p:attrNameLst>
                                          <p:attrName>ppt_y</p:attrName>
                                        </p:attrNameLst>
                                      </p:cBhvr>
                                      <p:tavLst>
                                        <p:tav tm="0">
                                          <p:val>
                                            <p:strVal val="#ppt_y-0.4"/>
                                          </p:val>
                                        </p:tav>
                                        <p:tav tm="100000">
                                          <p:val>
                                            <p:strVal val="#ppt_y+0.1"/>
                                          </p:val>
                                        </p:tav>
                                      </p:tavLst>
                                    </p:anim>
                                    <p:anim calcmode="lin" valueType="num">
                                      <p:cBhvr>
                                        <p:cTn id="25" dur="84" accel="100000" fill="hold">
                                          <p:stCondLst>
                                            <p:cond delay="336"/>
                                          </p:stCondLst>
                                        </p:cTn>
                                        <p:tgtEl>
                                          <p:spTgt spid="9"/>
                                        </p:tgtEl>
                                        <p:attrNameLst>
                                          <p:attrName>ppt_x</p:attrName>
                                        </p:attrNameLst>
                                      </p:cBhvr>
                                      <p:tavLst>
                                        <p:tav tm="0">
                                          <p:val>
                                            <p:strVal val="#ppt_x-0.05"/>
                                          </p:val>
                                        </p:tav>
                                        <p:tav tm="100000">
                                          <p:val>
                                            <p:strVal val="#ppt_x"/>
                                          </p:val>
                                        </p:tav>
                                      </p:tavLst>
                                    </p:anim>
                                    <p:anim calcmode="lin" valueType="num">
                                      <p:cBhvr>
                                        <p:cTn id="26" dur="84" accel="100000" fill="hold">
                                          <p:stCondLst>
                                            <p:cond delay="336"/>
                                          </p:stCondLst>
                                        </p:cTn>
                                        <p:tgtEl>
                                          <p:spTgt spid="9"/>
                                        </p:tgtEl>
                                        <p:attrNameLst>
                                          <p:attrName>ppt_y</p:attrName>
                                        </p:attrNameLst>
                                      </p:cBhvr>
                                      <p:tavLst>
                                        <p:tav tm="0">
                                          <p:val>
                                            <p:strVal val="#ppt_y+0.1"/>
                                          </p:val>
                                        </p:tav>
                                        <p:tav tm="100000">
                                          <p:val>
                                            <p:strVal val="#ppt_y"/>
                                          </p:val>
                                        </p:tav>
                                      </p:tavLst>
                                    </p:anim>
                                  </p:childTnLst>
                                </p:cTn>
                              </p:par>
                            </p:childTnLst>
                          </p:cTn>
                        </p:par>
                        <p:par>
                          <p:cTn id="27" fill="hold">
                            <p:stCondLst>
                              <p:cond delay="2000"/>
                            </p:stCondLst>
                            <p:childTnLst>
                              <p:par>
                                <p:cTn id="28" presetID="37" presetClass="entr" presetSubtype="0" fill="hold" grpId="9"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20"/>
                                        <p:tgtEl>
                                          <p:spTgt spid="11"/>
                                        </p:tgtEl>
                                      </p:cBhvr>
                                    </p:animEffect>
                                    <p:anim calcmode="lin" valueType="num">
                                      <p:cBhvr>
                                        <p:cTn id="31" dur="420" fill="hold"/>
                                        <p:tgtEl>
                                          <p:spTgt spid="11"/>
                                        </p:tgtEl>
                                        <p:attrNameLst>
                                          <p:attrName>ppt_x</p:attrName>
                                        </p:attrNameLst>
                                      </p:cBhvr>
                                      <p:tavLst>
                                        <p:tav tm="0">
                                          <p:val>
                                            <p:strVal val="#ppt_x"/>
                                          </p:val>
                                        </p:tav>
                                        <p:tav tm="100000">
                                          <p:val>
                                            <p:strVal val="#ppt_x"/>
                                          </p:val>
                                        </p:tav>
                                      </p:tavLst>
                                    </p:anim>
                                    <p:anim calcmode="lin" valueType="num">
                                      <p:cBhvr>
                                        <p:cTn id="32" dur="378" decel="100000" fill="hold"/>
                                        <p:tgtEl>
                                          <p:spTgt spid="11"/>
                                        </p:tgtEl>
                                        <p:attrNameLst>
                                          <p:attrName>ppt_y</p:attrName>
                                        </p:attrNameLst>
                                      </p:cBhvr>
                                      <p:tavLst>
                                        <p:tav tm="0">
                                          <p:val>
                                            <p:strVal val="#ppt_y+1"/>
                                          </p:val>
                                        </p:tav>
                                        <p:tav tm="100000">
                                          <p:val>
                                            <p:strVal val="#ppt_y-.03"/>
                                          </p:val>
                                        </p:tav>
                                      </p:tavLst>
                                    </p:anim>
                                    <p:anim calcmode="lin" valueType="num">
                                      <p:cBhvr>
                                        <p:cTn id="33" dur="42" accel="100000" fill="hold">
                                          <p:stCondLst>
                                            <p:cond delay="378"/>
                                          </p:stCondLst>
                                        </p:cTn>
                                        <p:tgtEl>
                                          <p:spTgt spid="11"/>
                                        </p:tgtEl>
                                        <p:attrNameLst>
                                          <p:attrName>ppt_y</p:attrName>
                                        </p:attrNameLst>
                                      </p:cBhvr>
                                      <p:tavLst>
                                        <p:tav tm="0">
                                          <p:val>
                                            <p:strVal val="#ppt_y-.03"/>
                                          </p:val>
                                        </p:tav>
                                        <p:tav tm="100000">
                                          <p:val>
                                            <p:strVal val="#ppt_y"/>
                                          </p:val>
                                        </p:tav>
                                      </p:tavLst>
                                    </p:anim>
                                  </p:childTnLst>
                                </p:cTn>
                              </p:par>
                            </p:childTnLst>
                          </p:cTn>
                        </p:par>
                        <p:par>
                          <p:cTn id="34" fill="hold">
                            <p:stCondLst>
                              <p:cond delay="2500"/>
                            </p:stCondLst>
                            <p:childTnLst>
                              <p:par>
                                <p:cTn id="35" presetID="10" presetClass="entr" presetSubtype="0" fill="hold" grpId="10" nodeType="afterEffect">
                                  <p:stCondLst>
                                    <p:cond delay="0"/>
                                  </p:stCondLst>
                                  <p:childTnLst>
                                    <p:set>
                                      <p:cBhvr>
                                        <p:cTn id="36" dur="420" fill="hold">
                                          <p:stCondLst>
                                            <p:cond delay="0"/>
                                          </p:stCondLst>
                                        </p:cTn>
                                        <p:tgtEl>
                                          <p:spTgt spid="13"/>
                                        </p:tgtEl>
                                        <p:attrNameLst>
                                          <p:attrName>style.visibility</p:attrName>
                                        </p:attrNameLst>
                                      </p:cBhvr>
                                      <p:to>
                                        <p:strVal val="visible"/>
                                      </p:to>
                                    </p:set>
                                    <p:animEffect transition="in" filter="fade">
                                      <p:cBhvr>
                                        <p:cTn id="37" dur="420"/>
                                        <p:tgtEl>
                                          <p:spTgt spid="13"/>
                                        </p:tgtEl>
                                      </p:cBhvr>
                                    </p:animEffect>
                                  </p:childTnLst>
                                </p:cTn>
                              </p:par>
                            </p:childTnLst>
                          </p:cTn>
                        </p:par>
                        <p:par>
                          <p:cTn id="38" fill="hold">
                            <p:stCondLst>
                              <p:cond delay="3000"/>
                            </p:stCondLst>
                            <p:childTnLst>
                              <p:par>
                                <p:cTn id="39" presetID="22" presetClass="entr" presetSubtype="4" fill="hold" grpId="11" nodeType="afterEffect">
                                  <p:stCondLst>
                                    <p:cond delay="0"/>
                                  </p:stCondLst>
                                  <p:childTnLst>
                                    <p:set>
                                      <p:cBhvr>
                                        <p:cTn id="40" dur="420" fill="hold">
                                          <p:stCondLst>
                                            <p:cond delay="0"/>
                                          </p:stCondLst>
                                        </p:cTn>
                                        <p:tgtEl>
                                          <p:spTgt spid="15"/>
                                        </p:tgtEl>
                                        <p:attrNameLst>
                                          <p:attrName>style.visibility</p:attrName>
                                        </p:attrNameLst>
                                      </p:cBhvr>
                                      <p:to>
                                        <p:strVal val="visible"/>
                                      </p:to>
                                    </p:set>
                                    <p:animEffect transition="in" filter="wipe(down)">
                                      <p:cBhvr>
                                        <p:cTn id="41" dur="420"/>
                                        <p:tgtEl>
                                          <p:spTgt spid="15"/>
                                        </p:tgtEl>
                                      </p:cBhvr>
                                    </p:animEffect>
                                  </p:childTnLst>
                                </p:cTn>
                              </p:par>
                            </p:childTnLst>
                          </p:cTn>
                        </p:par>
                        <p:par>
                          <p:cTn id="42" fill="hold">
                            <p:stCondLst>
                              <p:cond delay="3500"/>
                            </p:stCondLst>
                            <p:childTnLst>
                              <p:par>
                                <p:cTn id="43" presetID="23" presetClass="entr" presetSubtype="16" fill="hold" grpId="13" nodeType="afterEffect">
                                  <p:stCondLst>
                                    <p:cond delay="0"/>
                                  </p:stCondLst>
                                  <p:childTnLst>
                                    <p:set>
                                      <p:cBhvr>
                                        <p:cTn id="44" dur="420" fill="hold">
                                          <p:stCondLst>
                                            <p:cond delay="0"/>
                                          </p:stCondLst>
                                        </p:cTn>
                                        <p:tgtEl>
                                          <p:spTgt spid="18"/>
                                        </p:tgtEl>
                                        <p:attrNameLst>
                                          <p:attrName>style.visibility</p:attrName>
                                        </p:attrNameLst>
                                      </p:cBhvr>
                                      <p:to>
                                        <p:strVal val="visible"/>
                                      </p:to>
                                    </p:set>
                                    <p:anim calcmode="lin" valueType="num">
                                      <p:cBhvr>
                                        <p:cTn id="45" dur="420" fill="hold"/>
                                        <p:tgtEl>
                                          <p:spTgt spid="18"/>
                                        </p:tgtEl>
                                        <p:attrNameLst>
                                          <p:attrName>ppt_w</p:attrName>
                                        </p:attrNameLst>
                                      </p:cBhvr>
                                      <p:tavLst>
                                        <p:tav tm="0">
                                          <p:val>
                                            <p:fltVal val="0"/>
                                          </p:val>
                                        </p:tav>
                                        <p:tav tm="100000">
                                          <p:val>
                                            <p:strVal val="#ppt_w"/>
                                          </p:val>
                                        </p:tav>
                                      </p:tavLst>
                                    </p:anim>
                                    <p:anim calcmode="lin" valueType="num">
                                      <p:cBhvr>
                                        <p:cTn id="46" dur="420" fill="hold"/>
                                        <p:tgtEl>
                                          <p:spTgt spid="18"/>
                                        </p:tgtEl>
                                        <p:attrNameLst>
                                          <p:attrName>ppt_h</p:attrName>
                                        </p:attrNameLst>
                                      </p:cBhvr>
                                      <p:tavLst>
                                        <p:tav tm="0">
                                          <p:val>
                                            <p:fltVal val="0"/>
                                          </p:val>
                                        </p:tav>
                                        <p:tav tm="100000">
                                          <p:val>
                                            <p:strVal val="#ppt_h"/>
                                          </p:val>
                                        </p:tav>
                                      </p:tavLst>
                                    </p:anim>
                                  </p:childTnLst>
                                </p:cTn>
                              </p:par>
                            </p:childTnLst>
                          </p:cTn>
                        </p:par>
                        <p:par>
                          <p:cTn id="47" fill="hold">
                            <p:stCondLst>
                              <p:cond delay="4000"/>
                            </p:stCondLst>
                            <p:childTnLst>
                              <p:par>
                                <p:cTn id="48" presetID="16" presetClass="entr" presetSubtype="21" fill="hold" grpId="13" nodeType="afterEffect">
                                  <p:stCondLst>
                                    <p:cond delay="0"/>
                                  </p:stCondLst>
                                  <p:childTnLst>
                                    <p:set>
                                      <p:cBhvr>
                                        <p:cTn id="49" dur="420" fill="hold">
                                          <p:stCondLst>
                                            <p:cond delay="0"/>
                                          </p:stCondLst>
                                        </p:cTn>
                                        <p:tgtEl>
                                          <p:spTgt spid="19"/>
                                        </p:tgtEl>
                                        <p:attrNameLst>
                                          <p:attrName>style.visibility</p:attrName>
                                        </p:attrNameLst>
                                      </p:cBhvr>
                                      <p:to>
                                        <p:strVal val="visible"/>
                                      </p:to>
                                    </p:set>
                                    <p:animEffect transition="in" filter="barn(inVertical)">
                                      <p:cBhvr>
                                        <p:cTn id="50"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uiExpand="1" build="allAtOnce"/>
      <p:bldP spid="7" grpId="2" uiExpand="1" build="allAtOnce"/>
      <p:bldP spid="9" grpId="3" uiExpand="1" build="allAtOnce"/>
      <p:bldP spid="11" grpId="4" uiExpand="1" build="allAtOnce"/>
      <p:bldP spid="13" grpId="5" uiExpand="1" build="allAtOnce"/>
      <p:bldP spid="15" grpId="6" uiExpand="1" build="allAtOnce"/>
      <p:bldP spid="16" grpId="7" uiExpand="1" build="allAtOnce"/>
      <p:bldP spid="18" grpId="8" uiExpand="1" build="allAtOnce"/>
      <p:bldP spid="19" grpId="9" uiExpand="1" build="allAtOnce"/>
      <p:bldP spid="3" grpId="0"/>
      <p:bldP spid="4" grpId="2"/>
      <p:bldP spid="7" grpId="3"/>
      <p:bldP spid="9" grpId="4"/>
      <p:bldP spid="11" grpId="5"/>
      <p:bldP spid="13" grpId="6"/>
      <p:bldP spid="15" grpId="7"/>
      <p:bldP spid="16" grpId="8" animBg="1"/>
      <p:bldP spid="18" grpId="9"/>
      <p:bldP spid="3" grpId="1"/>
      <p:bldP spid="4" grpId="3"/>
      <p:bldP spid="7" grpId="4"/>
      <p:bldP spid="9" grpId="5"/>
      <p:bldP spid="11" grpId="6"/>
      <p:bldP spid="13" grpId="7"/>
      <p:bldP spid="15" grpId="8"/>
      <p:bldP spid="18" grpId="10"/>
      <p:bldP spid="19" grpId="10"/>
      <p:bldP spid="3" grpId="2"/>
      <p:bldP spid="4" grpId="4"/>
      <p:bldP spid="7" grpId="5"/>
      <p:bldP spid="9" grpId="6"/>
      <p:bldP spid="11" grpId="7"/>
      <p:bldP spid="13" grpId="8"/>
      <p:bldP spid="15" grpId="9"/>
      <p:bldP spid="18" grpId="11"/>
      <p:bldP spid="19" grpId="11"/>
      <p:bldP spid="3" grpId="3"/>
      <p:bldP spid="4" grpId="5"/>
      <p:bldP spid="7" grpId="6"/>
      <p:bldP spid="9" grpId="7"/>
      <p:bldP spid="11" grpId="8"/>
      <p:bldP spid="13" grpId="9"/>
      <p:bldP spid="15" grpId="10"/>
      <p:bldP spid="18" grpId="12"/>
      <p:bldP spid="19" grpId="12"/>
      <p:bldP spid="3" grpId="4"/>
      <p:bldP spid="4" grpId="6"/>
      <p:bldP spid="7" grpId="7"/>
      <p:bldP spid="9" grpId="8"/>
      <p:bldP spid="11" grpId="9"/>
      <p:bldP spid="13" grpId="10"/>
      <p:bldP spid="15" grpId="11"/>
      <p:bldP spid="18" grpId="13"/>
      <p:bldP spid="19" grpId="13"/>
    </p:bldLst>
  </p:timing>
</p:sld>
</file>

<file path=ppt/theme/theme1.xml><?xml version="1.0" encoding="utf-8"?>
<a:theme xmlns:a="http://schemas.openxmlformats.org/drawingml/2006/main" name="Premium Civic">
  <a:themeElements>
    <a:clrScheme name="Premium Civic">
      <a:dk1>
        <a:srgbClr val="15202B"/>
      </a:dk1>
      <a:lt1>
        <a:srgbClr val="F4F1EA"/>
      </a:lt1>
      <a:dk2>
        <a:srgbClr val="07111D"/>
      </a:dk2>
      <a:lt2>
        <a:srgbClr val="FFFFFF"/>
      </a:lt2>
      <a:accent1>
        <a:srgbClr val="B91C1C"/>
      </a:accent1>
      <a:accent2>
        <a:srgbClr val="D6A13B"/>
      </a:accent2>
      <a:accent3>
        <a:srgbClr val="00A6A6"/>
      </a:accent3>
      <a:accent4>
        <a:srgbClr val="2563EB"/>
      </a:accent4>
      <a:accent5>
        <a:srgbClr val="16825D"/>
      </a:accent5>
      <a:accent6>
        <a:srgbClr val="697586"/>
      </a:accent6>
      <a:hlink>
        <a:srgbClr val="2563EB"/>
      </a:hlink>
      <a:folHlink>
        <a:srgbClr val="B91C1C"/>
      </a:folHlink>
    </a:clrScheme>
    <a:fontScheme name="Microsoft YaHei">
      <a:majorFont>
        <a:latin typeface="Aptos Display"/>
        <a:ea typeface="Microsoft YaHei"/>
        <a:cs typeface=""/>
      </a:majorFont>
      <a:minorFont>
        <a:latin typeface="Aptos"/>
        <a:ea typeface="Microsoft YaHei"/>
        <a:cs typeface=""/>
      </a:minorFont>
    </a:fontScheme>
    <a:fmtScheme name="Premium">
      <a:fillStyleLst>
        <a:solidFill>
          <a:schemeClr val="phClr"/>
        </a:solidFill>
      </a:fillStyleLst>
      <a:lnStyleLst>
        <a:ln w="9525">
          <a:solidFill>
            <a:schemeClr val="phClr"/>
          </a:solidFill>
        </a:ln>
        <a:ln/>
        <a:ln/>
      </a:lnStyleLst>
      <a:effectStyleLst>
        <a:effectStyle>
          <a:effectLst/>
        </a:effectStyle>
      </a:effectStyleLst>
      <a:bgFillStyleLst>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3075</Words>
  <Application>WPS 演示</Application>
  <PresentationFormat>宽屏</PresentationFormat>
  <Paragraphs>396</Paragraphs>
  <Slides>16</Slides>
  <Notes>16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16</vt:i4>
      </vt:variant>
    </vt:vector>
  </HeadingPairs>
  <TitlesOfParts>
    <vt:vector size="21" baseType="lpstr">
      <vt:lpstr>Arial</vt:lpstr>
      <vt:lpstr>宋体</vt:lpstr>
      <vt:lpstr>Wingdings</vt:lpstr>
      <vt:lpstr>微软雅黑</vt:lpstr>
      <vt:lpstr>Premium Civic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中国道路再理解：是否还在走社会主义</dc:title>
  <dc:creator>Codex</dc:creator>
  <cp:lastModifiedBy>A丶bo</cp:lastModifiedBy>
  <cp:revision>5</cp:revision>
  <dcterms:created xsi:type="dcterms:W3CDTF">2026-05-13T06:51:00Z</dcterms:created>
  <dcterms:modified xsi:type="dcterms:W3CDTF">2026-05-13T07:12:16Z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2737789BD10F48D484E501DE06ACBFCF_12</vt:lpwstr>
  </property>
  <property fmtid="{D5CDD505-2E9C-101B-9397-08002B2CF9AE}" pid="3" name="KSOProductBuildVer">
    <vt:lpwstr>2052-12.1.0.25865</vt:lpwstr>
  </property>
</Properties>
</file>