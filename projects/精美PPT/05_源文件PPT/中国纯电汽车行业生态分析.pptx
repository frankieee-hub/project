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china_bev_ecosystem_cover.png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china_bev_ecosystem_cover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7111D">
              <a:alpha val="83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"/>
          <p:cNvSpPr txBox="1"/>
          <p:nvPr/>
        </p:nvSpPr>
        <p:spPr>
          <a:xfrm>
            <a:off x="658368" y="123444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</a:rPr>
              <a:t>中国纯电汽车行业</a:t>
            </a:r>
          </a:p>
          <a:p>
            <a:pPr algn="l"/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</a:rPr>
              <a:t>生态分析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13232" y="261518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0">
                <a:solidFill>
                  <a:srgbClr val="B7F4F4"/>
                </a:solidFill>
                <a:latin typeface="Microsoft YaHei"/>
                <a:ea typeface="Microsoft YaHei"/>
              </a:rPr>
              <a:t>China BEV Industry Ecosystem Analysis</a:t>
            </a:r>
          </a:p>
        </p:txBody>
      </p:sp>
      <p:sp>
        <p:nvSpPr>
          <p:cNvPr id="7" name="Shape"/>
          <p:cNvSpPr/>
          <p:nvPr/>
        </p:nvSpPr>
        <p:spPr>
          <a:xfrm>
            <a:off x="713232" y="2971800"/>
            <a:ext cx="932688" cy="32004"/>
          </a:xfrm>
          <a:prstGeom prst="rect">
            <a:avLst/>
          </a:prstGeom>
          <a:solidFill>
            <a:srgbClr val="7CE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713232" y="32461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50" b="0">
                <a:solidFill>
                  <a:srgbClr val="E8EEF7"/>
                </a:solidFill>
                <a:latin typeface="Microsoft YaHei"/>
                <a:ea typeface="Microsoft YaHei"/>
              </a:rPr>
              <a:t>市场规模 · 产业链结构 · 竞争格局 · 能源网络 · 战略机会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13232" y="60533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0">
                <a:solidFill>
                  <a:srgbClr val="D4D8DE"/>
                </a:solidFill>
                <a:latin typeface="Microsoft YaHei"/>
                <a:ea typeface="Microsoft YaHei"/>
              </a:rP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01 执行摘要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中国纯电车进入“规模化后半场”：增长还在，但胜负手转向生态效率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685800" y="141732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7" name="Shape"/>
          <p:cNvSpPr/>
          <p:nvPr/>
        </p:nvSpPr>
        <p:spPr>
          <a:xfrm>
            <a:off x="685800" y="1417320"/>
            <a:ext cx="54864" cy="146304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886968" y="15819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市场重心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86968" y="1947672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中国已是全球最大电动车市场，2025 年新能源车产销均超过 1600 万辆，纯电产销超 1060 万辆；增量空间从渗透率提升转向结构升级。</a:t>
            </a:r>
          </a:p>
        </p:txBody>
      </p:sp>
      <p:sp>
        <p:nvSpPr>
          <p:cNvPr id="10" name="Shape"/>
          <p:cNvSpPr/>
          <p:nvPr/>
        </p:nvSpPr>
        <p:spPr>
          <a:xfrm>
            <a:off x="6172200" y="141732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1" name="Shape"/>
          <p:cNvSpPr/>
          <p:nvPr/>
        </p:nvSpPr>
        <p:spPr>
          <a:xfrm>
            <a:off x="6172200" y="1417320"/>
            <a:ext cx="54864" cy="14630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6373368" y="15819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竞争逻辑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373368" y="1947672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价格战仍会持续，但单纯低价难以建立护城河；电池、平台化制造、软件体验、补能和渠道效率共同决定单位经济。</a:t>
            </a:r>
          </a:p>
        </p:txBody>
      </p:sp>
      <p:sp>
        <p:nvSpPr>
          <p:cNvPr id="14" name="Shape"/>
          <p:cNvSpPr/>
          <p:nvPr/>
        </p:nvSpPr>
        <p:spPr>
          <a:xfrm>
            <a:off x="685800" y="3291839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685800" y="3291839"/>
            <a:ext cx="54864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886968" y="3456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生态边界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86968" y="3822191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车企正在向能源服务、保险金融、二手车、数据服务延伸；电池企业和充电运营商也在向整车体验靠近。</a:t>
            </a:r>
          </a:p>
        </p:txBody>
      </p:sp>
      <p:sp>
        <p:nvSpPr>
          <p:cNvPr id="18" name="Shape"/>
          <p:cNvSpPr/>
          <p:nvPr/>
        </p:nvSpPr>
        <p:spPr>
          <a:xfrm>
            <a:off x="6172200" y="3291839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6172200" y="3291839"/>
            <a:ext cx="54864" cy="1463040"/>
          </a:xfrm>
          <a:prstGeom prst="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373368" y="3456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战略判断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373368" y="3822191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未来 3-5 年，行业机会集中在高压快充、智能化平权、出海本地化、动力电池新技术和全生命周期运营。</a:t>
            </a:r>
          </a:p>
        </p:txBody>
      </p:sp>
      <p:sp>
        <p:nvSpPr>
          <p:cNvPr id="22" name="Shape"/>
          <p:cNvSpPr/>
          <p:nvPr/>
        </p:nvSpPr>
        <p:spPr>
          <a:xfrm>
            <a:off x="685800" y="5349240"/>
            <a:ext cx="2560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850392" y="5477255"/>
            <a:ext cx="23042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22A06B"/>
                </a:solidFill>
                <a:latin typeface="Microsoft YaHei"/>
                <a:ea typeface="Microsoft YaHei"/>
              </a:rPr>
              <a:t>1600万+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50392" y="5806440"/>
            <a:ext cx="23042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2025 中国新能源车销量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50392" y="6016752"/>
            <a:ext cx="23042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中汽协/新华社公开报道</a:t>
            </a:r>
          </a:p>
        </p:txBody>
      </p:sp>
      <p:sp>
        <p:nvSpPr>
          <p:cNvPr id="26" name="Shape"/>
          <p:cNvSpPr/>
          <p:nvPr/>
        </p:nvSpPr>
        <p:spPr>
          <a:xfrm>
            <a:off x="3474720" y="5349240"/>
            <a:ext cx="2560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3639312" y="5477255"/>
            <a:ext cx="23042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00A6A6"/>
                </a:solidFill>
                <a:latin typeface="Microsoft YaHei"/>
                <a:ea typeface="Microsoft YaHei"/>
              </a:rPr>
              <a:t>1060万+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3639312" y="5806440"/>
            <a:ext cx="23042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2025 中国纯电产销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639312" y="6016752"/>
            <a:ext cx="23042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央视网公开报道</a:t>
            </a:r>
          </a:p>
        </p:txBody>
      </p:sp>
      <p:sp>
        <p:nvSpPr>
          <p:cNvPr id="30" name="Shape"/>
          <p:cNvSpPr/>
          <p:nvPr/>
        </p:nvSpPr>
        <p:spPr>
          <a:xfrm>
            <a:off x="6263640" y="5349240"/>
            <a:ext cx="2560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6428231" y="5477255"/>
            <a:ext cx="23042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2000万级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428231" y="5806440"/>
            <a:ext cx="23042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全国充电设施规模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428231" y="6016752"/>
            <a:ext cx="23042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国家能源局/央视网报道</a:t>
            </a:r>
          </a:p>
        </p:txBody>
      </p:sp>
      <p:sp>
        <p:nvSpPr>
          <p:cNvPr id="34" name="Shape"/>
          <p:cNvSpPr/>
          <p:nvPr/>
        </p:nvSpPr>
        <p:spPr>
          <a:xfrm>
            <a:off x="9052560" y="5349240"/>
            <a:ext cx="2560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9217152" y="5477255"/>
            <a:ext cx="23042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D99A1E"/>
                </a:solidFill>
                <a:latin typeface="Microsoft YaHei"/>
                <a:ea typeface="Microsoft YaHei"/>
              </a:rPr>
              <a:t>≈60%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9217152" y="5806440"/>
            <a:ext cx="23042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全球领先地位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217152" y="6016752"/>
            <a:ext cx="23042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IEA：全球电动车销量中中国占比约六成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02 市场概览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市场规模：纯电仍是主轴，但行业从“高速普及”转向“质量增长”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685800" y="1234440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0">
                <a:solidFill>
                  <a:srgbClr val="66717F"/>
                </a:solidFill>
                <a:latin typeface="Microsoft YaHei"/>
                <a:ea typeface="Microsoft YaHei"/>
              </a:rPr>
              <a:t>中国电动车市场已经完成从政策试点到大规模消费品的跃迁。2025 年新能源车产销均超 1600 万辆，其中纯电车型产销超 1060 万辆；后续增长将更依赖产品结构、补能体验和智能化价值。</a:t>
            </a:r>
          </a:p>
        </p:txBody>
      </p:sp>
      <p:sp>
        <p:nvSpPr>
          <p:cNvPr id="7" name="Shape"/>
          <p:cNvSpPr/>
          <p:nvPr/>
        </p:nvSpPr>
        <p:spPr>
          <a:xfrm>
            <a:off x="713232" y="2057400"/>
            <a:ext cx="2331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877824" y="2185416"/>
            <a:ext cx="20756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22A06B"/>
                </a:solidFill>
                <a:latin typeface="Microsoft YaHei"/>
                <a:ea typeface="Microsoft YaHei"/>
              </a:rPr>
              <a:t>1613万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77824" y="2514600"/>
            <a:ext cx="20756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2025 新能源车产量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77824" y="2724912"/>
            <a:ext cx="20756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同比增长约 24%</a:t>
            </a:r>
          </a:p>
        </p:txBody>
      </p:sp>
      <p:sp>
        <p:nvSpPr>
          <p:cNvPr id="11" name="Shape"/>
          <p:cNvSpPr/>
          <p:nvPr/>
        </p:nvSpPr>
        <p:spPr>
          <a:xfrm>
            <a:off x="3246120" y="2057400"/>
            <a:ext cx="2331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3410712" y="2185416"/>
            <a:ext cx="20756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00A6A6"/>
                </a:solidFill>
                <a:latin typeface="Microsoft YaHei"/>
                <a:ea typeface="Microsoft YaHei"/>
              </a:rPr>
              <a:t>1608万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410712" y="2514600"/>
            <a:ext cx="20756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2025 新能源车销量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410712" y="2724912"/>
            <a:ext cx="20756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同比增长约 24%</a:t>
            </a:r>
          </a:p>
        </p:txBody>
      </p:sp>
      <p:sp>
        <p:nvSpPr>
          <p:cNvPr id="15" name="Shape"/>
          <p:cNvSpPr/>
          <p:nvPr/>
        </p:nvSpPr>
        <p:spPr>
          <a:xfrm>
            <a:off x="5779008" y="2057400"/>
            <a:ext cx="2331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5943600" y="2185416"/>
            <a:ext cx="20756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1060万+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943600" y="2514600"/>
            <a:ext cx="20756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2025 纯电产销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943600" y="2724912"/>
            <a:ext cx="20756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纯电是行业基本盘</a:t>
            </a:r>
          </a:p>
        </p:txBody>
      </p:sp>
      <p:sp>
        <p:nvSpPr>
          <p:cNvPr id="19" name="Shape"/>
          <p:cNvSpPr/>
          <p:nvPr/>
        </p:nvSpPr>
        <p:spPr>
          <a:xfrm>
            <a:off x="8311896" y="2057400"/>
            <a:ext cx="2331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8476488" y="2185416"/>
            <a:ext cx="2075687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D99A1E"/>
                </a:solidFill>
                <a:latin typeface="Microsoft YaHei"/>
                <a:ea typeface="Microsoft YaHei"/>
              </a:rPr>
              <a:t>全球第一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476488" y="2514600"/>
            <a:ext cx="207568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IEA 判断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476488" y="2724912"/>
            <a:ext cx="207568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中国贡献全球电动车销量约六成</a:t>
            </a:r>
          </a:p>
        </p:txBody>
      </p:sp>
      <p:sp>
        <p:nvSpPr>
          <p:cNvPr id="23" name="Shape"/>
          <p:cNvSpPr/>
          <p:nvPr/>
        </p:nvSpPr>
        <p:spPr>
          <a:xfrm>
            <a:off x="777240" y="36576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1005840" y="38587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增长驱动从数量转向结构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60120" y="43068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1">
                <a:solidFill>
                  <a:srgbClr val="17212B"/>
                </a:solidFill>
                <a:latin typeface="Microsoft YaHei"/>
                <a:ea typeface="Microsoft YaHei"/>
              </a:rPr>
              <a:t>新能源销量</a:t>
            </a:r>
          </a:p>
        </p:txBody>
      </p:sp>
      <p:sp>
        <p:nvSpPr>
          <p:cNvPr id="26" name="Shape"/>
          <p:cNvSpPr/>
          <p:nvPr/>
        </p:nvSpPr>
        <p:spPr>
          <a:xfrm>
            <a:off x="2532888" y="4315968"/>
            <a:ext cx="2788920" cy="100584"/>
          </a:xfrm>
          <a:prstGeom prst="roundRect">
            <a:avLst/>
          </a:prstGeom>
          <a:solidFill>
            <a:srgbClr val="E6E4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hape"/>
          <p:cNvSpPr/>
          <p:nvPr/>
        </p:nvSpPr>
        <p:spPr>
          <a:xfrm>
            <a:off x="2532888" y="4315968"/>
            <a:ext cx="2788920" cy="100584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5376672" y="429768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700" b="1">
                <a:solidFill>
                  <a:srgbClr val="17212B"/>
                </a:solidFill>
                <a:latin typeface="Microsoft YaHei"/>
                <a:ea typeface="Microsoft YaHei"/>
              </a:rPr>
              <a:t>1608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60120" y="45354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1">
                <a:solidFill>
                  <a:srgbClr val="17212B"/>
                </a:solidFill>
                <a:latin typeface="Microsoft YaHei"/>
                <a:ea typeface="Microsoft YaHei"/>
              </a:rPr>
              <a:t>纯电产销</a:t>
            </a:r>
          </a:p>
        </p:txBody>
      </p:sp>
      <p:sp>
        <p:nvSpPr>
          <p:cNvPr id="30" name="Shape"/>
          <p:cNvSpPr/>
          <p:nvPr/>
        </p:nvSpPr>
        <p:spPr>
          <a:xfrm>
            <a:off x="2532888" y="4544568"/>
            <a:ext cx="2788920" cy="100584"/>
          </a:xfrm>
          <a:prstGeom prst="roundRect">
            <a:avLst/>
          </a:prstGeom>
          <a:solidFill>
            <a:srgbClr val="E6E4D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2532888" y="4544568"/>
            <a:ext cx="1838467" cy="10058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5376672" y="452628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700" b="1">
                <a:solidFill>
                  <a:srgbClr val="17212B"/>
                </a:solidFill>
                <a:latin typeface="Microsoft YaHei"/>
                <a:ea typeface="Microsoft YaHei"/>
              </a:rPr>
              <a:t>1060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60120" y="47640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1">
                <a:solidFill>
                  <a:srgbClr val="17212B"/>
                </a:solidFill>
                <a:latin typeface="Microsoft YaHei"/>
                <a:ea typeface="Microsoft YaHei"/>
              </a:rPr>
              <a:t>插混/增程</a:t>
            </a:r>
          </a:p>
        </p:txBody>
      </p:sp>
      <p:sp>
        <p:nvSpPr>
          <p:cNvPr id="34" name="Shape"/>
          <p:cNvSpPr/>
          <p:nvPr/>
        </p:nvSpPr>
        <p:spPr>
          <a:xfrm>
            <a:off x="2532888" y="4773168"/>
            <a:ext cx="2788920" cy="100584"/>
          </a:xfrm>
          <a:prstGeom prst="roundRect">
            <a:avLst/>
          </a:prstGeom>
          <a:solidFill>
            <a:srgbClr val="E6E4D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hape"/>
          <p:cNvSpPr/>
          <p:nvPr/>
        </p:nvSpPr>
        <p:spPr>
          <a:xfrm>
            <a:off x="2532888" y="4773168"/>
            <a:ext cx="745793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"/>
          <p:cNvSpPr txBox="1"/>
          <p:nvPr/>
        </p:nvSpPr>
        <p:spPr>
          <a:xfrm>
            <a:off x="5376672" y="475488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700" b="1">
                <a:solidFill>
                  <a:srgbClr val="17212B"/>
                </a:solidFill>
                <a:latin typeface="Microsoft YaHei"/>
                <a:ea typeface="Microsoft YaHei"/>
              </a:rPr>
              <a:t>430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60120" y="49926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1">
                <a:solidFill>
                  <a:srgbClr val="17212B"/>
                </a:solidFill>
                <a:latin typeface="Microsoft YaHei"/>
                <a:ea typeface="Microsoft YaHei"/>
              </a:rPr>
              <a:t>出口承压变量</a:t>
            </a:r>
          </a:p>
        </p:txBody>
      </p:sp>
      <p:sp>
        <p:nvSpPr>
          <p:cNvPr id="38" name="Shape"/>
          <p:cNvSpPr/>
          <p:nvPr/>
        </p:nvSpPr>
        <p:spPr>
          <a:xfrm>
            <a:off x="2532888" y="5001768"/>
            <a:ext cx="2788920" cy="100584"/>
          </a:xfrm>
          <a:prstGeom prst="roundRect">
            <a:avLst/>
          </a:prstGeom>
          <a:solidFill>
            <a:srgbClr val="E6E4D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hape"/>
          <p:cNvSpPr/>
          <p:nvPr/>
        </p:nvSpPr>
        <p:spPr>
          <a:xfrm>
            <a:off x="2532888" y="5001768"/>
            <a:ext cx="204659" cy="100584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"/>
          <p:cNvSpPr txBox="1"/>
          <p:nvPr/>
        </p:nvSpPr>
        <p:spPr>
          <a:xfrm>
            <a:off x="5376672" y="498348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700" b="1">
                <a:solidFill>
                  <a:srgbClr val="17212B"/>
                </a:solidFill>
                <a:latin typeface="Microsoft YaHei"/>
                <a:ea typeface="Microsoft YaHei"/>
              </a:rPr>
              <a:t>118</a:t>
            </a:r>
          </a:p>
        </p:txBody>
      </p:sp>
      <p:sp>
        <p:nvSpPr>
          <p:cNvPr id="41" name="Shape"/>
          <p:cNvSpPr/>
          <p:nvPr/>
        </p:nvSpPr>
        <p:spPr>
          <a:xfrm>
            <a:off x="6492240" y="3657600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42" name="Shape"/>
          <p:cNvSpPr/>
          <p:nvPr/>
        </p:nvSpPr>
        <p:spPr>
          <a:xfrm>
            <a:off x="6492240" y="3657600"/>
            <a:ext cx="54864" cy="8686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"/>
          <p:cNvSpPr txBox="1"/>
          <p:nvPr/>
        </p:nvSpPr>
        <p:spPr>
          <a:xfrm>
            <a:off x="6693407" y="3822191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结构变化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6693407" y="4187952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A00/A0 级代步车、10-20 万主流家庭车、30 万以上智能豪华车的竞争逻辑明显不同。</a:t>
            </a:r>
          </a:p>
        </p:txBody>
      </p:sp>
      <p:sp>
        <p:nvSpPr>
          <p:cNvPr id="45" name="Shape"/>
          <p:cNvSpPr/>
          <p:nvPr/>
        </p:nvSpPr>
        <p:spPr>
          <a:xfrm>
            <a:off x="6492240" y="468172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46" name="Shape"/>
          <p:cNvSpPr/>
          <p:nvPr/>
        </p:nvSpPr>
        <p:spPr>
          <a:xfrm>
            <a:off x="6492240" y="4681728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"/>
          <p:cNvSpPr txBox="1"/>
          <p:nvPr/>
        </p:nvSpPr>
        <p:spPr>
          <a:xfrm>
            <a:off x="6693407" y="484632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纯电关键问题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693407" y="5212080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消费者不再只问续航，而是关注快充、冬季能耗、智能驾驶、保值率和服务网络。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资料来源：新华社、中汽协、央视网、IEA Global EV Outlook 2025；数值为公开报道口径整理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03 生态地图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纯电生态由“车”延展为“能源 + 软件 + 服务”系统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594360" y="1417320"/>
            <a:ext cx="19019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7" name="Shape"/>
          <p:cNvSpPr/>
          <p:nvPr/>
        </p:nvSpPr>
        <p:spPr>
          <a:xfrm>
            <a:off x="594360" y="1417320"/>
            <a:ext cx="1901952" cy="146304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777240" y="171907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上游资源</a:t>
            </a:r>
          </a:p>
        </p:txBody>
      </p:sp>
      <p:sp>
        <p:nvSpPr>
          <p:cNvPr id="9" name="Shape"/>
          <p:cNvSpPr/>
          <p:nvPr/>
        </p:nvSpPr>
        <p:spPr>
          <a:xfrm>
            <a:off x="795528" y="2212848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886968" y="2304288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锂 / 镍 / 钴 / 石墨</a:t>
            </a:r>
          </a:p>
        </p:txBody>
      </p:sp>
      <p:sp>
        <p:nvSpPr>
          <p:cNvPr id="11" name="Shape"/>
          <p:cNvSpPr/>
          <p:nvPr/>
        </p:nvSpPr>
        <p:spPr>
          <a:xfrm>
            <a:off x="795528" y="2871215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886968" y="2962656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电池材料</a:t>
            </a:r>
          </a:p>
        </p:txBody>
      </p:sp>
      <p:sp>
        <p:nvSpPr>
          <p:cNvPr id="13" name="Shape"/>
          <p:cNvSpPr/>
          <p:nvPr/>
        </p:nvSpPr>
        <p:spPr>
          <a:xfrm>
            <a:off x="795528" y="3529584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86968" y="3621024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功率半导体</a:t>
            </a:r>
          </a:p>
        </p:txBody>
      </p:sp>
      <p:sp>
        <p:nvSpPr>
          <p:cNvPr id="15" name="Shape"/>
          <p:cNvSpPr/>
          <p:nvPr/>
        </p:nvSpPr>
        <p:spPr>
          <a:xfrm>
            <a:off x="795528" y="4187952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886968" y="4279392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车规芯片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2532888" y="317296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8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Shape"/>
          <p:cNvSpPr/>
          <p:nvPr/>
        </p:nvSpPr>
        <p:spPr>
          <a:xfrm>
            <a:off x="2834640" y="1417320"/>
            <a:ext cx="19019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2834640" y="1417320"/>
            <a:ext cx="1901952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3017520" y="171907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核心部件</a:t>
            </a:r>
          </a:p>
        </p:txBody>
      </p:sp>
      <p:sp>
        <p:nvSpPr>
          <p:cNvPr id="21" name="Shape"/>
          <p:cNvSpPr/>
          <p:nvPr/>
        </p:nvSpPr>
        <p:spPr>
          <a:xfrm>
            <a:off x="3035808" y="2212848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3127248" y="2304288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动力电池</a:t>
            </a:r>
          </a:p>
        </p:txBody>
      </p:sp>
      <p:sp>
        <p:nvSpPr>
          <p:cNvPr id="23" name="Shape"/>
          <p:cNvSpPr/>
          <p:nvPr/>
        </p:nvSpPr>
        <p:spPr>
          <a:xfrm>
            <a:off x="3035808" y="2871215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3127248" y="2962656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电驱电控</a:t>
            </a:r>
          </a:p>
        </p:txBody>
      </p:sp>
      <p:sp>
        <p:nvSpPr>
          <p:cNvPr id="25" name="Shape"/>
          <p:cNvSpPr/>
          <p:nvPr/>
        </p:nvSpPr>
        <p:spPr>
          <a:xfrm>
            <a:off x="3035808" y="3529584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3127248" y="3621024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热管理</a:t>
            </a:r>
          </a:p>
        </p:txBody>
      </p:sp>
      <p:sp>
        <p:nvSpPr>
          <p:cNvPr id="27" name="Shape"/>
          <p:cNvSpPr/>
          <p:nvPr/>
        </p:nvSpPr>
        <p:spPr>
          <a:xfrm>
            <a:off x="3035808" y="4187952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3127248" y="4279392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域控 / 传感器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773168" y="317296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8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0" name="Shape"/>
          <p:cNvSpPr/>
          <p:nvPr/>
        </p:nvSpPr>
        <p:spPr>
          <a:xfrm>
            <a:off x="5074920" y="1417320"/>
            <a:ext cx="19019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074920" y="1417320"/>
            <a:ext cx="1901952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5257800" y="171907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整车制造</a:t>
            </a:r>
          </a:p>
        </p:txBody>
      </p:sp>
      <p:sp>
        <p:nvSpPr>
          <p:cNvPr id="33" name="Shape"/>
          <p:cNvSpPr/>
          <p:nvPr/>
        </p:nvSpPr>
        <p:spPr>
          <a:xfrm>
            <a:off x="5276088" y="2212848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5367528" y="2304288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平台架构</a:t>
            </a:r>
          </a:p>
        </p:txBody>
      </p:sp>
      <p:sp>
        <p:nvSpPr>
          <p:cNvPr id="35" name="Shape"/>
          <p:cNvSpPr/>
          <p:nvPr/>
        </p:nvSpPr>
        <p:spPr>
          <a:xfrm>
            <a:off x="5276088" y="2871215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"/>
          <p:cNvSpPr txBox="1"/>
          <p:nvPr/>
        </p:nvSpPr>
        <p:spPr>
          <a:xfrm>
            <a:off x="5367528" y="2962656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三电集成</a:t>
            </a:r>
          </a:p>
        </p:txBody>
      </p:sp>
      <p:sp>
        <p:nvSpPr>
          <p:cNvPr id="37" name="Shape"/>
          <p:cNvSpPr/>
          <p:nvPr/>
        </p:nvSpPr>
        <p:spPr>
          <a:xfrm>
            <a:off x="5276088" y="3529584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5367528" y="3621024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智能座舱</a:t>
            </a:r>
          </a:p>
        </p:txBody>
      </p:sp>
      <p:sp>
        <p:nvSpPr>
          <p:cNvPr id="39" name="Shape"/>
          <p:cNvSpPr/>
          <p:nvPr/>
        </p:nvSpPr>
        <p:spPr>
          <a:xfrm>
            <a:off x="5276088" y="4187952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"/>
          <p:cNvSpPr txBox="1"/>
          <p:nvPr/>
        </p:nvSpPr>
        <p:spPr>
          <a:xfrm>
            <a:off x="5367528" y="4279392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辅助驾驶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013448" y="317296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8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2" name="Shape"/>
          <p:cNvSpPr/>
          <p:nvPr/>
        </p:nvSpPr>
        <p:spPr>
          <a:xfrm>
            <a:off x="7315200" y="1417320"/>
            <a:ext cx="19019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7315200" y="1417320"/>
            <a:ext cx="1901952" cy="146304"/>
          </a:xfrm>
          <a:prstGeom prst="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7498079" y="171907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流通服务</a:t>
            </a:r>
          </a:p>
        </p:txBody>
      </p:sp>
      <p:sp>
        <p:nvSpPr>
          <p:cNvPr id="45" name="Shape"/>
          <p:cNvSpPr/>
          <p:nvPr/>
        </p:nvSpPr>
        <p:spPr>
          <a:xfrm>
            <a:off x="7516368" y="2212848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"/>
          <p:cNvSpPr txBox="1"/>
          <p:nvPr/>
        </p:nvSpPr>
        <p:spPr>
          <a:xfrm>
            <a:off x="7607808" y="2304288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直营/经销</a:t>
            </a:r>
          </a:p>
        </p:txBody>
      </p:sp>
      <p:sp>
        <p:nvSpPr>
          <p:cNvPr id="47" name="Shape"/>
          <p:cNvSpPr/>
          <p:nvPr/>
        </p:nvSpPr>
        <p:spPr>
          <a:xfrm>
            <a:off x="7516368" y="2871215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"/>
          <p:cNvSpPr txBox="1"/>
          <p:nvPr/>
        </p:nvSpPr>
        <p:spPr>
          <a:xfrm>
            <a:off x="7607808" y="2962656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金融保险</a:t>
            </a:r>
          </a:p>
        </p:txBody>
      </p:sp>
      <p:sp>
        <p:nvSpPr>
          <p:cNvPr id="49" name="Shape"/>
          <p:cNvSpPr/>
          <p:nvPr/>
        </p:nvSpPr>
        <p:spPr>
          <a:xfrm>
            <a:off x="7516368" y="3529584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7607808" y="3621024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二手车</a:t>
            </a:r>
          </a:p>
        </p:txBody>
      </p:sp>
      <p:sp>
        <p:nvSpPr>
          <p:cNvPr id="51" name="Shape"/>
          <p:cNvSpPr/>
          <p:nvPr/>
        </p:nvSpPr>
        <p:spPr>
          <a:xfrm>
            <a:off x="7516368" y="4187952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"/>
          <p:cNvSpPr txBox="1"/>
          <p:nvPr/>
        </p:nvSpPr>
        <p:spPr>
          <a:xfrm>
            <a:off x="7607808" y="4279392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售后维保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9253728" y="317296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8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4" name="Shape"/>
          <p:cNvSpPr/>
          <p:nvPr/>
        </p:nvSpPr>
        <p:spPr>
          <a:xfrm>
            <a:off x="9555480" y="1417320"/>
            <a:ext cx="190195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55" name="Shape"/>
          <p:cNvSpPr/>
          <p:nvPr/>
        </p:nvSpPr>
        <p:spPr>
          <a:xfrm>
            <a:off x="9555480" y="1417320"/>
            <a:ext cx="1901952" cy="146304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"/>
          <p:cNvSpPr txBox="1"/>
          <p:nvPr/>
        </p:nvSpPr>
        <p:spPr>
          <a:xfrm>
            <a:off x="9738360" y="171907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能源网络</a:t>
            </a:r>
          </a:p>
        </p:txBody>
      </p:sp>
      <p:sp>
        <p:nvSpPr>
          <p:cNvPr id="57" name="Shape"/>
          <p:cNvSpPr/>
          <p:nvPr/>
        </p:nvSpPr>
        <p:spPr>
          <a:xfrm>
            <a:off x="9756648" y="2212848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ext"/>
          <p:cNvSpPr txBox="1"/>
          <p:nvPr/>
        </p:nvSpPr>
        <p:spPr>
          <a:xfrm>
            <a:off x="9848088" y="2304288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公共充电</a:t>
            </a:r>
          </a:p>
        </p:txBody>
      </p:sp>
      <p:sp>
        <p:nvSpPr>
          <p:cNvPr id="59" name="Shape"/>
          <p:cNvSpPr/>
          <p:nvPr/>
        </p:nvSpPr>
        <p:spPr>
          <a:xfrm>
            <a:off x="9756648" y="2871215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"/>
          <p:cNvSpPr txBox="1"/>
          <p:nvPr/>
        </p:nvSpPr>
        <p:spPr>
          <a:xfrm>
            <a:off x="9848088" y="2962656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超充/换电</a:t>
            </a:r>
          </a:p>
        </p:txBody>
      </p:sp>
      <p:sp>
        <p:nvSpPr>
          <p:cNvPr id="61" name="Shape"/>
          <p:cNvSpPr/>
          <p:nvPr/>
        </p:nvSpPr>
        <p:spPr>
          <a:xfrm>
            <a:off x="9756648" y="3529584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ext"/>
          <p:cNvSpPr txBox="1"/>
          <p:nvPr/>
        </p:nvSpPr>
        <p:spPr>
          <a:xfrm>
            <a:off x="9848088" y="3621024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V2G</a:t>
            </a:r>
          </a:p>
        </p:txBody>
      </p:sp>
      <p:sp>
        <p:nvSpPr>
          <p:cNvPr id="63" name="Shape"/>
          <p:cNvSpPr/>
          <p:nvPr/>
        </p:nvSpPr>
        <p:spPr>
          <a:xfrm>
            <a:off x="9756648" y="4187952"/>
            <a:ext cx="1499616" cy="347472"/>
          </a:xfrm>
          <a:prstGeom prst="roundRect">
            <a:avLst/>
          </a:prstGeom>
          <a:solidFill>
            <a:srgbClr val="F3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ext"/>
          <p:cNvSpPr txBox="1"/>
          <p:nvPr/>
        </p:nvSpPr>
        <p:spPr>
          <a:xfrm>
            <a:off x="9848088" y="4279392"/>
            <a:ext cx="13167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0">
                <a:solidFill>
                  <a:srgbClr val="17212B"/>
                </a:solidFill>
                <a:latin typeface="Microsoft YaHei"/>
                <a:ea typeface="Microsoft YaHei"/>
              </a:rPr>
              <a:t>储能协同</a:t>
            </a:r>
          </a:p>
        </p:txBody>
      </p:sp>
      <p:sp>
        <p:nvSpPr>
          <p:cNvPr id="65" name="Shape"/>
          <p:cNvSpPr/>
          <p:nvPr/>
        </p:nvSpPr>
        <p:spPr>
          <a:xfrm>
            <a:off x="640080" y="5650992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66" name="Shape"/>
          <p:cNvSpPr/>
          <p:nvPr/>
        </p:nvSpPr>
        <p:spPr>
          <a:xfrm>
            <a:off x="640080" y="5650992"/>
            <a:ext cx="54864" cy="5303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ext"/>
          <p:cNvSpPr txBox="1"/>
          <p:nvPr/>
        </p:nvSpPr>
        <p:spPr>
          <a:xfrm>
            <a:off x="841247" y="5815583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生态控制点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841247" y="6181344"/>
            <a:ext cx="4892040" cy="-1097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电池成本、电子电气架构、补能网络、数据闭环与品牌渠道正在决定长期议价能力。</a:t>
            </a:r>
          </a:p>
        </p:txBody>
      </p:sp>
      <p:sp>
        <p:nvSpPr>
          <p:cNvPr id="69" name="Shape"/>
          <p:cNvSpPr/>
          <p:nvPr/>
        </p:nvSpPr>
        <p:spPr>
          <a:xfrm>
            <a:off x="6126480" y="5650992"/>
            <a:ext cx="53949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70" name="Shape"/>
          <p:cNvSpPr/>
          <p:nvPr/>
        </p:nvSpPr>
        <p:spPr>
          <a:xfrm>
            <a:off x="6126480" y="5650992"/>
            <a:ext cx="54864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"/>
          <p:cNvSpPr txBox="1"/>
          <p:nvPr/>
        </p:nvSpPr>
        <p:spPr>
          <a:xfrm>
            <a:off x="6327648" y="5815583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行业本质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6327648" y="6181344"/>
            <a:ext cx="5074920" cy="-1097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竞争已从单车性能转向“制造效率 + 软件体验 + 能源服务 + 生命周期运营”的组合战。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04 价值链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价值链：利润池由硬件制造向电池、软件、能源和生命周期服务迁移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594360" y="1417320"/>
            <a:ext cx="15727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722376" y="16276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22376" y="1938528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资源/材料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22376" y="245059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锂、镍、石墨</a:t>
            </a:r>
          </a:p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正负极、隔膜、电解液</a:t>
            </a:r>
          </a:p>
        </p:txBody>
      </p:sp>
      <p:sp>
        <p:nvSpPr>
          <p:cNvPr id="10" name="Shape"/>
          <p:cNvSpPr/>
          <p:nvPr/>
        </p:nvSpPr>
        <p:spPr>
          <a:xfrm>
            <a:off x="758952" y="3703320"/>
            <a:ext cx="1143000" cy="256032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832104" y="3744468"/>
            <a:ext cx="996696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成本波动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203704" y="265176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Shape"/>
          <p:cNvSpPr/>
          <p:nvPr/>
        </p:nvSpPr>
        <p:spPr>
          <a:xfrm>
            <a:off x="2468879" y="1417320"/>
            <a:ext cx="15727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2596896" y="16276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596896" y="1938528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电池系统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596896" y="245059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电芯、BMS、热管理</a:t>
            </a:r>
          </a:p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CTP/刀片/麒麟等结构创新</a:t>
            </a:r>
          </a:p>
        </p:txBody>
      </p:sp>
      <p:sp>
        <p:nvSpPr>
          <p:cNvPr id="17" name="Shape"/>
          <p:cNvSpPr/>
          <p:nvPr/>
        </p:nvSpPr>
        <p:spPr>
          <a:xfrm>
            <a:off x="2633472" y="3703320"/>
            <a:ext cx="1143000" cy="25603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2706624" y="3744468"/>
            <a:ext cx="996696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核心议价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078224" y="265176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Shape"/>
          <p:cNvSpPr/>
          <p:nvPr/>
        </p:nvSpPr>
        <p:spPr>
          <a:xfrm>
            <a:off x="4343400" y="1417320"/>
            <a:ext cx="15727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4471416" y="16276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471416" y="1938528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整车平台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471416" y="245059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三电集成、平台化制造</a:t>
            </a:r>
          </a:p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供应链协同</a:t>
            </a:r>
          </a:p>
        </p:txBody>
      </p:sp>
      <p:sp>
        <p:nvSpPr>
          <p:cNvPr id="24" name="Shape"/>
          <p:cNvSpPr/>
          <p:nvPr/>
        </p:nvSpPr>
        <p:spPr>
          <a:xfrm>
            <a:off x="4507992" y="3703320"/>
            <a:ext cx="114300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4581144" y="3744468"/>
            <a:ext cx="996696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规模效率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952744" y="265176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7" name="Shape"/>
          <p:cNvSpPr/>
          <p:nvPr/>
        </p:nvSpPr>
        <p:spPr>
          <a:xfrm>
            <a:off x="6217920" y="1417320"/>
            <a:ext cx="15727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6345936" y="16276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345936" y="1938528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智能化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345936" y="245059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座舱、ADAS、OS、数据闭环</a:t>
            </a:r>
          </a:p>
        </p:txBody>
      </p:sp>
      <p:sp>
        <p:nvSpPr>
          <p:cNvPr id="31" name="Shape"/>
          <p:cNvSpPr/>
          <p:nvPr/>
        </p:nvSpPr>
        <p:spPr>
          <a:xfrm>
            <a:off x="6382512" y="3703320"/>
            <a:ext cx="1143000" cy="256032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455664" y="3744468"/>
            <a:ext cx="996696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体验溢价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827264" y="265176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4" name="Shape"/>
          <p:cNvSpPr/>
          <p:nvPr/>
        </p:nvSpPr>
        <p:spPr>
          <a:xfrm>
            <a:off x="8092440" y="1417320"/>
            <a:ext cx="15727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8220456" y="16276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220456" y="1938528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能源服务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8220456" y="245059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快充、换电、V2G、储能</a:t>
            </a:r>
          </a:p>
        </p:txBody>
      </p:sp>
      <p:sp>
        <p:nvSpPr>
          <p:cNvPr id="38" name="Shape"/>
          <p:cNvSpPr/>
          <p:nvPr/>
        </p:nvSpPr>
        <p:spPr>
          <a:xfrm>
            <a:off x="8257031" y="3703320"/>
            <a:ext cx="1143000" cy="256032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8330183" y="3744468"/>
            <a:ext cx="996696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生态入口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9701784" y="2651760"/>
            <a:ext cx="2194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5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1" name="Shape"/>
          <p:cNvSpPr/>
          <p:nvPr/>
        </p:nvSpPr>
        <p:spPr>
          <a:xfrm>
            <a:off x="9966960" y="1417320"/>
            <a:ext cx="15727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42" name="Text"/>
          <p:cNvSpPr txBox="1"/>
          <p:nvPr/>
        </p:nvSpPr>
        <p:spPr>
          <a:xfrm>
            <a:off x="10094976" y="16276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1">
                <a:solidFill>
                  <a:srgbClr val="00A6A6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0094976" y="1938528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后市场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0094976" y="2450592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20" b="0">
                <a:solidFill>
                  <a:srgbClr val="66717F"/>
                </a:solidFill>
                <a:latin typeface="Microsoft YaHei"/>
                <a:ea typeface="Microsoft YaHei"/>
              </a:rPr>
              <a:t>保险、维修、二手车、回收</a:t>
            </a:r>
          </a:p>
        </p:txBody>
      </p:sp>
      <p:sp>
        <p:nvSpPr>
          <p:cNvPr id="45" name="Shape"/>
          <p:cNvSpPr/>
          <p:nvPr/>
        </p:nvSpPr>
        <p:spPr>
          <a:xfrm>
            <a:off x="10131552" y="3703320"/>
            <a:ext cx="1143000" cy="25603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ext"/>
          <p:cNvSpPr txBox="1"/>
          <p:nvPr/>
        </p:nvSpPr>
        <p:spPr>
          <a:xfrm>
            <a:off x="10204704" y="3744468"/>
            <a:ext cx="996696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长期利润</a:t>
            </a:r>
          </a:p>
        </p:txBody>
      </p:sp>
      <p:sp>
        <p:nvSpPr>
          <p:cNvPr id="47" name="Shape"/>
          <p:cNvSpPr/>
          <p:nvPr/>
        </p:nvSpPr>
        <p:spPr>
          <a:xfrm>
            <a:off x="685800" y="4736592"/>
            <a:ext cx="3429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48" name="Shape"/>
          <p:cNvSpPr/>
          <p:nvPr/>
        </p:nvSpPr>
        <p:spPr>
          <a:xfrm>
            <a:off x="685800" y="4736592"/>
            <a:ext cx="54864" cy="86868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ext"/>
          <p:cNvSpPr txBox="1"/>
          <p:nvPr/>
        </p:nvSpPr>
        <p:spPr>
          <a:xfrm>
            <a:off x="886968" y="4901183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短期胜负手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86968" y="526694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规模化降本、渠道效率、爆款车型节奏与库存控制。</a:t>
            </a:r>
          </a:p>
        </p:txBody>
      </p:sp>
      <p:sp>
        <p:nvSpPr>
          <p:cNvPr id="51" name="Shape"/>
          <p:cNvSpPr/>
          <p:nvPr/>
        </p:nvSpPr>
        <p:spPr>
          <a:xfrm>
            <a:off x="4343400" y="4736592"/>
            <a:ext cx="3429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52" name="Shape"/>
          <p:cNvSpPr/>
          <p:nvPr/>
        </p:nvSpPr>
        <p:spPr>
          <a:xfrm>
            <a:off x="4343400" y="4736592"/>
            <a:ext cx="54864" cy="8686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ext"/>
          <p:cNvSpPr txBox="1"/>
          <p:nvPr/>
        </p:nvSpPr>
        <p:spPr>
          <a:xfrm>
            <a:off x="4544568" y="4901183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中期胜负手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4544568" y="526694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高压快充、智能化体验、平台复用和自研/外采边界管理。</a:t>
            </a:r>
          </a:p>
        </p:txBody>
      </p:sp>
      <p:sp>
        <p:nvSpPr>
          <p:cNvPr id="55" name="Shape"/>
          <p:cNvSpPr/>
          <p:nvPr/>
        </p:nvSpPr>
        <p:spPr>
          <a:xfrm>
            <a:off x="8001000" y="4736592"/>
            <a:ext cx="3429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56" name="Shape"/>
          <p:cNvSpPr/>
          <p:nvPr/>
        </p:nvSpPr>
        <p:spPr>
          <a:xfrm>
            <a:off x="8001000" y="4736592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"/>
          <p:cNvSpPr txBox="1"/>
          <p:nvPr/>
        </p:nvSpPr>
        <p:spPr>
          <a:xfrm>
            <a:off x="8202168" y="4901183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长期胜负手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8202168" y="526694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数据闭环、能源生态、品牌信任与海外本地化能力。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05 竞争格局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竞争格局：头部规模优势显著，新势力和科技公司争夺体验心智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685800" y="1207008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66717F"/>
                </a:solidFill>
                <a:latin typeface="Microsoft YaHei"/>
                <a:ea typeface="Microsoft YaHei"/>
              </a:rPr>
              <a:t>横轴代表规模/成本能力，纵轴代表技术和智能化心智。位置为战略判断示意，不代表精确排名。</a:t>
            </a:r>
          </a:p>
        </p:txBody>
      </p:sp>
      <p:sp>
        <p:nvSpPr>
          <p:cNvPr id="7" name="Shape"/>
          <p:cNvSpPr/>
          <p:nvPr/>
        </p:nvSpPr>
        <p:spPr>
          <a:xfrm>
            <a:off x="822960" y="1600200"/>
            <a:ext cx="6583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8" name="Shape"/>
          <p:cNvSpPr/>
          <p:nvPr/>
        </p:nvSpPr>
        <p:spPr>
          <a:xfrm>
            <a:off x="1024128" y="3726180"/>
            <a:ext cx="6181344" cy="10972"/>
          </a:xfrm>
          <a:prstGeom prst="rect">
            <a:avLst/>
          </a:prstGeom>
          <a:solidFill>
            <a:srgbClr val="D7D2C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"/>
          <p:cNvSpPr/>
          <p:nvPr/>
        </p:nvSpPr>
        <p:spPr>
          <a:xfrm>
            <a:off x="4114800" y="1801368"/>
            <a:ext cx="10972" cy="3849624"/>
          </a:xfrm>
          <a:prstGeom prst="rect">
            <a:avLst/>
          </a:prstGeom>
          <a:solidFill>
            <a:srgbClr val="D7D2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3520440" y="169164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技术/智能化高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583679" y="561441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规模/成本强</a:t>
            </a:r>
          </a:p>
        </p:txBody>
      </p:sp>
      <p:sp>
        <p:nvSpPr>
          <p:cNvPr id="12" name="Shape"/>
          <p:cNvSpPr/>
          <p:nvPr/>
        </p:nvSpPr>
        <p:spPr>
          <a:xfrm>
            <a:off x="5610758" y="2994660"/>
            <a:ext cx="91440" cy="91440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5720486" y="296722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比亚迪</a:t>
            </a:r>
          </a:p>
        </p:txBody>
      </p:sp>
      <p:sp>
        <p:nvSpPr>
          <p:cNvPr id="14" name="Shape"/>
          <p:cNvSpPr/>
          <p:nvPr/>
        </p:nvSpPr>
        <p:spPr>
          <a:xfrm>
            <a:off x="5270601" y="2720340"/>
            <a:ext cx="91440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5380329" y="269290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特斯拉中国</a:t>
            </a:r>
          </a:p>
        </p:txBody>
      </p:sp>
      <p:sp>
        <p:nvSpPr>
          <p:cNvPr id="16" name="Shape"/>
          <p:cNvSpPr/>
          <p:nvPr/>
        </p:nvSpPr>
        <p:spPr>
          <a:xfrm>
            <a:off x="4476902" y="3200400"/>
            <a:ext cx="91440" cy="9144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4586630" y="317296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吉利/极氪</a:t>
            </a:r>
          </a:p>
        </p:txBody>
      </p:sp>
      <p:sp>
        <p:nvSpPr>
          <p:cNvPr id="18" name="Shape"/>
          <p:cNvSpPr/>
          <p:nvPr/>
        </p:nvSpPr>
        <p:spPr>
          <a:xfrm>
            <a:off x="3909974" y="2788920"/>
            <a:ext cx="91440" cy="9144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4019702" y="276148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小鹏</a:t>
            </a:r>
          </a:p>
        </p:txBody>
      </p:sp>
      <p:sp>
        <p:nvSpPr>
          <p:cNvPr id="20" name="Shape"/>
          <p:cNvSpPr/>
          <p:nvPr/>
        </p:nvSpPr>
        <p:spPr>
          <a:xfrm>
            <a:off x="3569817" y="3028950"/>
            <a:ext cx="91440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3679545" y="300151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蔚来</a:t>
            </a:r>
          </a:p>
        </p:txBody>
      </p:sp>
      <p:sp>
        <p:nvSpPr>
          <p:cNvPr id="22" name="Shape"/>
          <p:cNvSpPr/>
          <p:nvPr/>
        </p:nvSpPr>
        <p:spPr>
          <a:xfrm>
            <a:off x="4817059" y="4091940"/>
            <a:ext cx="91440" cy="91440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4926787" y="406450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上汽/五菱</a:t>
            </a:r>
          </a:p>
        </p:txBody>
      </p:sp>
      <p:sp>
        <p:nvSpPr>
          <p:cNvPr id="24" name="Shape"/>
          <p:cNvSpPr/>
          <p:nvPr/>
        </p:nvSpPr>
        <p:spPr>
          <a:xfrm>
            <a:off x="3229660" y="3131820"/>
            <a:ext cx="91440" cy="91440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3339388" y="310438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小米汽车</a:t>
            </a:r>
          </a:p>
        </p:txBody>
      </p:sp>
      <p:sp>
        <p:nvSpPr>
          <p:cNvPr id="26" name="Shape"/>
          <p:cNvSpPr/>
          <p:nvPr/>
        </p:nvSpPr>
        <p:spPr>
          <a:xfrm>
            <a:off x="4023360" y="3611880"/>
            <a:ext cx="91440" cy="91440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4133088" y="3584448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50" b="0">
                <a:solidFill>
                  <a:srgbClr val="17212B"/>
                </a:solidFill>
                <a:latin typeface="Microsoft YaHei"/>
                <a:ea typeface="Microsoft YaHei"/>
              </a:rPr>
              <a:t>长安/深蓝</a:t>
            </a:r>
          </a:p>
        </p:txBody>
      </p:sp>
      <p:sp>
        <p:nvSpPr>
          <p:cNvPr id="28" name="Shape"/>
          <p:cNvSpPr/>
          <p:nvPr/>
        </p:nvSpPr>
        <p:spPr>
          <a:xfrm>
            <a:off x="7818120" y="1600200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29" name="Shape"/>
          <p:cNvSpPr/>
          <p:nvPr/>
        </p:nvSpPr>
        <p:spPr>
          <a:xfrm>
            <a:off x="7818120" y="1600200"/>
            <a:ext cx="54864" cy="82296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8019288" y="17647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规模型玩家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019288" y="21305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比亚迪、特斯拉中国、上汽/五菱等依靠制造效率、供应链和渠道覆盖建立成本优势。</a:t>
            </a:r>
          </a:p>
        </p:txBody>
      </p:sp>
      <p:sp>
        <p:nvSpPr>
          <p:cNvPr id="32" name="Shape"/>
          <p:cNvSpPr/>
          <p:nvPr/>
        </p:nvSpPr>
        <p:spPr>
          <a:xfrm>
            <a:off x="7818120" y="2633472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33" name="Shape"/>
          <p:cNvSpPr/>
          <p:nvPr/>
        </p:nvSpPr>
        <p:spPr>
          <a:xfrm>
            <a:off x="7818120" y="2633472"/>
            <a:ext cx="54864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8019288" y="2798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智能化玩家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019288" y="3163824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小鹏、蔚来、小米等更强调软件体验、用户运营和科技品牌心智。</a:t>
            </a:r>
          </a:p>
        </p:txBody>
      </p:sp>
      <p:sp>
        <p:nvSpPr>
          <p:cNvPr id="36" name="Shape"/>
          <p:cNvSpPr/>
          <p:nvPr/>
        </p:nvSpPr>
        <p:spPr>
          <a:xfrm>
            <a:off x="7818120" y="3666744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7818120" y="3666744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8019288" y="3831335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传统转型玩家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019288" y="419709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吉利、长安、广汽、上汽等通过多品牌矩阵和平台化纯电架构追赶。</a:t>
            </a:r>
          </a:p>
        </p:txBody>
      </p:sp>
      <p:sp>
        <p:nvSpPr>
          <p:cNvPr id="40" name="Shape"/>
          <p:cNvSpPr/>
          <p:nvPr/>
        </p:nvSpPr>
        <p:spPr>
          <a:xfrm>
            <a:off x="7818120" y="4700016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41" name="Shape"/>
          <p:cNvSpPr/>
          <p:nvPr/>
        </p:nvSpPr>
        <p:spPr>
          <a:xfrm>
            <a:off x="7818120" y="4700016"/>
            <a:ext cx="54864" cy="822960"/>
          </a:xfrm>
          <a:prstGeom prst="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"/>
          <p:cNvSpPr txBox="1"/>
          <p:nvPr/>
        </p:nvSpPr>
        <p:spPr>
          <a:xfrm>
            <a:off x="8019288" y="4864607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行业含义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019288" y="523036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纯电竞争已经不是单一车型竞争，而是研发节奏、供应链、现金流和服务体系的系统竞争。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资料来源：企业公开信息、乘用车市场公开报道；矩阵为分析示意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06 电池与材料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电池生态：成本、性能和供应安全仍是纯电行业最硬约束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685800" y="123444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50" b="0">
                <a:solidFill>
                  <a:srgbClr val="66717F"/>
                </a:solidFill>
                <a:latin typeface="Microsoft YaHei"/>
                <a:ea typeface="Microsoft YaHei"/>
              </a:rPr>
              <a:t>动力电池是纯电车成本和性能的核心。中国形成了从材料、电芯、PACK 到回收的完整体系，宁德时代和比亚迪等企业在全球处于领先位置。</a:t>
            </a:r>
          </a:p>
        </p:txBody>
      </p:sp>
      <p:sp>
        <p:nvSpPr>
          <p:cNvPr id="7" name="Shape"/>
          <p:cNvSpPr/>
          <p:nvPr/>
        </p:nvSpPr>
        <p:spPr>
          <a:xfrm>
            <a:off x="777240" y="1920240"/>
            <a:ext cx="48463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987552" y="212140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动力电池关键路线</a:t>
            </a:r>
          </a:p>
        </p:txBody>
      </p:sp>
      <p:sp>
        <p:nvSpPr>
          <p:cNvPr id="9" name="Shape"/>
          <p:cNvSpPr/>
          <p:nvPr/>
        </p:nvSpPr>
        <p:spPr>
          <a:xfrm>
            <a:off x="987552" y="2606040"/>
            <a:ext cx="109728" cy="109728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188720" y="255117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17212B"/>
                </a:solidFill>
                <a:latin typeface="Microsoft YaHei"/>
                <a:ea typeface="Microsoft YaHei"/>
              </a:rPr>
              <a:t>LFP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029968" y="2551176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50" b="0">
                <a:solidFill>
                  <a:srgbClr val="66717F"/>
                </a:solidFill>
                <a:latin typeface="Microsoft YaHei"/>
                <a:ea typeface="Microsoft YaHei"/>
              </a:rPr>
              <a:t>成本低、安全性高，主流市场基本盘</a:t>
            </a:r>
          </a:p>
        </p:txBody>
      </p:sp>
      <p:sp>
        <p:nvSpPr>
          <p:cNvPr id="12" name="Shape"/>
          <p:cNvSpPr/>
          <p:nvPr/>
        </p:nvSpPr>
        <p:spPr>
          <a:xfrm>
            <a:off x="987552" y="3218688"/>
            <a:ext cx="109728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188720" y="3163824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17212B"/>
                </a:solidFill>
                <a:latin typeface="Microsoft YaHei"/>
                <a:ea typeface="Microsoft YaHei"/>
              </a:rPr>
              <a:t>三元锂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029968" y="3163824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50" b="0">
                <a:solidFill>
                  <a:srgbClr val="66717F"/>
                </a:solidFill>
                <a:latin typeface="Microsoft YaHei"/>
                <a:ea typeface="Microsoft YaHei"/>
              </a:rPr>
              <a:t>高能量密度，仍服务高端和长续航</a:t>
            </a:r>
          </a:p>
        </p:txBody>
      </p:sp>
      <p:sp>
        <p:nvSpPr>
          <p:cNvPr id="15" name="Shape"/>
          <p:cNvSpPr/>
          <p:nvPr/>
        </p:nvSpPr>
        <p:spPr>
          <a:xfrm>
            <a:off x="987552" y="3831336"/>
            <a:ext cx="109728" cy="109728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1188720" y="3776472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17212B"/>
                </a:solidFill>
                <a:latin typeface="Microsoft YaHei"/>
                <a:ea typeface="Microsoft YaHei"/>
              </a:rPr>
              <a:t>钠离子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2029968" y="3776472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50" b="0">
                <a:solidFill>
                  <a:srgbClr val="66717F"/>
                </a:solidFill>
                <a:latin typeface="Microsoft YaHei"/>
                <a:ea typeface="Microsoft YaHei"/>
              </a:rPr>
              <a:t>低温和成本潜力，处于导入期</a:t>
            </a:r>
          </a:p>
        </p:txBody>
      </p:sp>
      <p:sp>
        <p:nvSpPr>
          <p:cNvPr id="18" name="Shape"/>
          <p:cNvSpPr/>
          <p:nvPr/>
        </p:nvSpPr>
        <p:spPr>
          <a:xfrm>
            <a:off x="987552" y="4443984"/>
            <a:ext cx="109728" cy="109728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188720" y="4389120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17212B"/>
                </a:solidFill>
                <a:latin typeface="Microsoft YaHei"/>
                <a:ea typeface="Microsoft YaHei"/>
              </a:rPr>
              <a:t>固态/半固态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029968" y="4389120"/>
            <a:ext cx="2971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50" b="0">
                <a:solidFill>
                  <a:srgbClr val="66717F"/>
                </a:solidFill>
                <a:latin typeface="Microsoft YaHei"/>
                <a:ea typeface="Microsoft YaHei"/>
              </a:rPr>
              <a:t>下一代技术方向，量产仍需时间</a:t>
            </a:r>
          </a:p>
        </p:txBody>
      </p:sp>
      <p:sp>
        <p:nvSpPr>
          <p:cNvPr id="21" name="Shape"/>
          <p:cNvSpPr/>
          <p:nvPr/>
        </p:nvSpPr>
        <p:spPr>
          <a:xfrm>
            <a:off x="6035040" y="1920240"/>
            <a:ext cx="50749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263640" y="21214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生态分工</a:t>
            </a:r>
          </a:p>
        </p:txBody>
      </p:sp>
      <p:sp>
        <p:nvSpPr>
          <p:cNvPr id="23" name="Shape"/>
          <p:cNvSpPr/>
          <p:nvPr/>
        </p:nvSpPr>
        <p:spPr>
          <a:xfrm>
            <a:off x="6309360" y="2788920"/>
            <a:ext cx="658368" cy="658368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6336792" y="2999232"/>
            <a:ext cx="6035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1">
                <a:solidFill>
                  <a:srgbClr val="FFFFFF"/>
                </a:solidFill>
                <a:latin typeface="Microsoft YaHei"/>
                <a:ea typeface="Microsoft YaHei"/>
              </a:rPr>
              <a:t>材料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013448" y="299923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6" name="Shape"/>
          <p:cNvSpPr/>
          <p:nvPr/>
        </p:nvSpPr>
        <p:spPr>
          <a:xfrm>
            <a:off x="7242048" y="2788920"/>
            <a:ext cx="658368" cy="65836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7269480" y="2999232"/>
            <a:ext cx="6035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1">
                <a:solidFill>
                  <a:srgbClr val="FFFFFF"/>
                </a:solidFill>
                <a:latin typeface="Microsoft YaHei"/>
                <a:ea typeface="Microsoft YaHei"/>
              </a:rPr>
              <a:t>电芯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946136" y="299923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Shape"/>
          <p:cNvSpPr/>
          <p:nvPr/>
        </p:nvSpPr>
        <p:spPr>
          <a:xfrm>
            <a:off x="8174736" y="2788920"/>
            <a:ext cx="658368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8202168" y="2999232"/>
            <a:ext cx="6035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1">
                <a:solidFill>
                  <a:srgbClr val="FFFFFF"/>
                </a:solidFill>
                <a:latin typeface="Microsoft YaHei"/>
                <a:ea typeface="Microsoft YaHei"/>
              </a:rPr>
              <a:t>PACK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878824" y="299923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2" name="Shape"/>
          <p:cNvSpPr/>
          <p:nvPr/>
        </p:nvSpPr>
        <p:spPr>
          <a:xfrm>
            <a:off x="9107424" y="2788920"/>
            <a:ext cx="658368" cy="658368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9134856" y="2999232"/>
            <a:ext cx="6035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1">
                <a:solidFill>
                  <a:srgbClr val="FFFFFF"/>
                </a:solidFill>
                <a:latin typeface="Microsoft YaHei"/>
                <a:ea typeface="Microsoft YaHei"/>
              </a:rPr>
              <a:t>整车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811512" y="2999232"/>
            <a:ext cx="164592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5" name="Shape"/>
          <p:cNvSpPr/>
          <p:nvPr/>
        </p:nvSpPr>
        <p:spPr>
          <a:xfrm>
            <a:off x="10040112" y="2788920"/>
            <a:ext cx="658368" cy="658368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"/>
          <p:cNvSpPr txBox="1"/>
          <p:nvPr/>
        </p:nvSpPr>
        <p:spPr>
          <a:xfrm>
            <a:off x="10067544" y="2999232"/>
            <a:ext cx="6035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20" b="1">
                <a:solidFill>
                  <a:srgbClr val="FFFFFF"/>
                </a:solidFill>
                <a:latin typeface="Microsoft YaHei"/>
                <a:ea typeface="Microsoft YaHei"/>
              </a:rPr>
              <a:t>回收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6309360" y="3977639"/>
            <a:ext cx="4389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900" b="0">
                <a:solidFill>
                  <a:srgbClr val="66717F"/>
                </a:solidFill>
                <a:latin typeface="Microsoft YaHei"/>
                <a:ea typeface="Microsoft YaHei"/>
              </a:rPr>
              <a:t>电池企业从供应商变成生态核心：</a:t>
            </a:r>
          </a:p>
          <a:p>
            <a:pPr algn="l"/>
            <a:r>
              <a:rPr lang="zh-CN" sz="900" b="0">
                <a:solidFill>
                  <a:srgbClr val="66717F"/>
                </a:solidFill>
                <a:latin typeface="Microsoft YaHei"/>
                <a:ea typeface="Microsoft YaHei"/>
              </a:rPr>
              <a:t>影响整车成本、补能体验、残值评估与海外供应链合规。</a:t>
            </a:r>
          </a:p>
        </p:txBody>
      </p:sp>
      <p:sp>
        <p:nvSpPr>
          <p:cNvPr id="38" name="Shape"/>
          <p:cNvSpPr/>
          <p:nvPr/>
        </p:nvSpPr>
        <p:spPr>
          <a:xfrm>
            <a:off x="777240" y="5596128"/>
            <a:ext cx="10332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39" name="Shape"/>
          <p:cNvSpPr/>
          <p:nvPr/>
        </p:nvSpPr>
        <p:spPr>
          <a:xfrm>
            <a:off x="777240" y="5596128"/>
            <a:ext cx="54864" cy="5303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"/>
          <p:cNvSpPr txBox="1"/>
          <p:nvPr/>
        </p:nvSpPr>
        <p:spPr>
          <a:xfrm>
            <a:off x="978408" y="5760720"/>
            <a:ext cx="10012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判断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978408" y="6126480"/>
            <a:ext cx="10012680" cy="-1097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纯电车企需要在自研、电池供应绑定、多供应商策略之间取得平衡；电池安全和回收闭环会成为品牌信任的一部分。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资料来源：IEA Global EV Outlook 2025、SNE Research公开报道、企业公开资料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07 充电与能源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补能网络：充电基础设施扩张正在重塑用户体验和能源协同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685800" y="1234440"/>
            <a:ext cx="7223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50" b="0">
                <a:solidFill>
                  <a:srgbClr val="66717F"/>
                </a:solidFill>
                <a:latin typeface="Microsoft YaHei"/>
                <a:ea typeface="Microsoft YaHei"/>
              </a:rPr>
              <a:t>中国充电基础设施规模快速扩张，行业正在从“有没有桩”进入“快不快、稳不稳、利用率高不高”的阶段。</a:t>
            </a:r>
          </a:p>
        </p:txBody>
      </p:sp>
      <p:sp>
        <p:nvSpPr>
          <p:cNvPr id="7" name="Shape"/>
          <p:cNvSpPr/>
          <p:nvPr/>
        </p:nvSpPr>
        <p:spPr>
          <a:xfrm>
            <a:off x="777240" y="1874519"/>
            <a:ext cx="2651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941832" y="2002536"/>
            <a:ext cx="2395728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22A06B"/>
                </a:solidFill>
                <a:latin typeface="Microsoft YaHei"/>
                <a:ea typeface="Microsoft YaHei"/>
              </a:rPr>
              <a:t>2000万级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41832" y="2331720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全国充电设施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41832" y="2542032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截至 2025 年底公开报道</a:t>
            </a:r>
          </a:p>
        </p:txBody>
      </p:sp>
      <p:sp>
        <p:nvSpPr>
          <p:cNvPr id="11" name="Shape"/>
          <p:cNvSpPr/>
          <p:nvPr/>
        </p:nvSpPr>
        <p:spPr>
          <a:xfrm>
            <a:off x="3703320" y="1874519"/>
            <a:ext cx="2651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3867911" y="2002536"/>
            <a:ext cx="2395728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00A6A6"/>
                </a:solidFill>
                <a:latin typeface="Microsoft YaHei"/>
                <a:ea typeface="Microsoft YaHei"/>
              </a:rPr>
              <a:t>超充化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867911" y="2331720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公共补能方向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867911" y="2542032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高压平台 + 液冷快充</a:t>
            </a:r>
          </a:p>
        </p:txBody>
      </p:sp>
      <p:sp>
        <p:nvSpPr>
          <p:cNvPr id="15" name="Shape"/>
          <p:cNvSpPr/>
          <p:nvPr/>
        </p:nvSpPr>
        <p:spPr>
          <a:xfrm>
            <a:off x="6629400" y="1874519"/>
            <a:ext cx="2651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6793992" y="2002536"/>
            <a:ext cx="2395728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V2G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793992" y="2331720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80" b="1">
                <a:solidFill>
                  <a:srgbClr val="17212B"/>
                </a:solidFill>
                <a:latin typeface="Microsoft YaHei"/>
                <a:ea typeface="Microsoft YaHei"/>
              </a:rPr>
              <a:t>能源协同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793992" y="2542032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680" b="0">
                <a:solidFill>
                  <a:srgbClr val="66717F"/>
                </a:solidFill>
                <a:latin typeface="Microsoft YaHei"/>
                <a:ea typeface="Microsoft YaHei"/>
              </a:rPr>
              <a:t>车网互动与储能调峰</a:t>
            </a:r>
          </a:p>
        </p:txBody>
      </p:sp>
      <p:sp>
        <p:nvSpPr>
          <p:cNvPr id="19" name="Shape"/>
          <p:cNvSpPr/>
          <p:nvPr/>
        </p:nvSpPr>
        <p:spPr>
          <a:xfrm>
            <a:off x="777240" y="3246120"/>
            <a:ext cx="10287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0" name="Shape"/>
          <p:cNvSpPr/>
          <p:nvPr/>
        </p:nvSpPr>
        <p:spPr>
          <a:xfrm>
            <a:off x="1143000" y="4041648"/>
            <a:ext cx="1234440" cy="73152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1673352" y="3877056"/>
            <a:ext cx="201168" cy="201168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1005840" y="3547872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1">
                <a:solidFill>
                  <a:srgbClr val="17212B"/>
                </a:solidFill>
                <a:latin typeface="Microsoft YaHei"/>
                <a:ea typeface="Microsoft YaHei"/>
              </a:rPr>
              <a:t>2020-2022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005840" y="435254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0">
                <a:solidFill>
                  <a:srgbClr val="66717F"/>
                </a:solidFill>
                <a:latin typeface="Microsoft YaHei"/>
                <a:ea typeface="Microsoft YaHei"/>
              </a:rPr>
              <a:t>建桩扩容</a:t>
            </a:r>
          </a:p>
        </p:txBody>
      </p:sp>
      <p:sp>
        <p:nvSpPr>
          <p:cNvPr id="24" name="Shape"/>
          <p:cNvSpPr/>
          <p:nvPr/>
        </p:nvSpPr>
        <p:spPr>
          <a:xfrm>
            <a:off x="3566160" y="4041648"/>
            <a:ext cx="1234440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4096511" y="3877056"/>
            <a:ext cx="201168" cy="20116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3429000" y="3547872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1">
                <a:solidFill>
                  <a:srgbClr val="17212B"/>
                </a:solidFill>
                <a:latin typeface="Microsoft YaHei"/>
                <a:ea typeface="Microsoft YaHei"/>
              </a:rPr>
              <a:t>2023-2025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3429000" y="435254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0">
                <a:solidFill>
                  <a:srgbClr val="66717F"/>
                </a:solidFill>
                <a:latin typeface="Microsoft YaHei"/>
                <a:ea typeface="Microsoft YaHei"/>
              </a:rPr>
              <a:t>快充竞争</a:t>
            </a:r>
          </a:p>
        </p:txBody>
      </p:sp>
      <p:sp>
        <p:nvSpPr>
          <p:cNvPr id="28" name="Shape"/>
          <p:cNvSpPr/>
          <p:nvPr/>
        </p:nvSpPr>
        <p:spPr>
          <a:xfrm>
            <a:off x="5989320" y="4041648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hape"/>
          <p:cNvSpPr/>
          <p:nvPr/>
        </p:nvSpPr>
        <p:spPr>
          <a:xfrm>
            <a:off x="6519672" y="3877056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5852159" y="3547872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1">
                <a:solidFill>
                  <a:srgbClr val="17212B"/>
                </a:solidFill>
                <a:latin typeface="Microsoft YaHei"/>
                <a:ea typeface="Microsoft YaHei"/>
              </a:rPr>
              <a:t>2026-2028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852159" y="435254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0">
                <a:solidFill>
                  <a:srgbClr val="66717F"/>
                </a:solidFill>
                <a:latin typeface="Microsoft YaHei"/>
                <a:ea typeface="Microsoft YaHei"/>
              </a:rPr>
              <a:t>车网互动</a:t>
            </a:r>
          </a:p>
        </p:txBody>
      </p:sp>
      <p:sp>
        <p:nvSpPr>
          <p:cNvPr id="32" name="Shape"/>
          <p:cNvSpPr/>
          <p:nvPr/>
        </p:nvSpPr>
        <p:spPr>
          <a:xfrm>
            <a:off x="8412480" y="4041648"/>
            <a:ext cx="1234440" cy="73152"/>
          </a:xfrm>
          <a:prstGeom prst="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hape"/>
          <p:cNvSpPr/>
          <p:nvPr/>
        </p:nvSpPr>
        <p:spPr>
          <a:xfrm>
            <a:off x="8942832" y="3877056"/>
            <a:ext cx="201168" cy="201168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8275319" y="3547872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1">
                <a:solidFill>
                  <a:srgbClr val="17212B"/>
                </a:solidFill>
                <a:latin typeface="Microsoft YaHei"/>
                <a:ea typeface="Microsoft YaHei"/>
              </a:rPr>
              <a:t>2029+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275319" y="435254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00" b="0">
                <a:solidFill>
                  <a:srgbClr val="66717F"/>
                </a:solidFill>
                <a:latin typeface="Microsoft YaHei"/>
                <a:ea typeface="Microsoft YaHei"/>
              </a:rPr>
              <a:t>能源运营</a:t>
            </a:r>
          </a:p>
        </p:txBody>
      </p:sp>
      <p:sp>
        <p:nvSpPr>
          <p:cNvPr id="36" name="Shape"/>
          <p:cNvSpPr/>
          <p:nvPr/>
        </p:nvSpPr>
        <p:spPr>
          <a:xfrm>
            <a:off x="777240" y="5669280"/>
            <a:ext cx="48920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777240" y="5669280"/>
            <a:ext cx="54864" cy="5029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978408" y="5833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车企机会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78408" y="6199632"/>
            <a:ext cx="4572000" cy="-13715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超充网络可提升品牌体验和用户粘性，但重资产投入要求高利用率和选址能力。</a:t>
            </a:r>
          </a:p>
        </p:txBody>
      </p:sp>
      <p:sp>
        <p:nvSpPr>
          <p:cNvPr id="40" name="Shape"/>
          <p:cNvSpPr/>
          <p:nvPr/>
        </p:nvSpPr>
        <p:spPr>
          <a:xfrm>
            <a:off x="6172200" y="5669280"/>
            <a:ext cx="48920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41" name="Shape"/>
          <p:cNvSpPr/>
          <p:nvPr/>
        </p:nvSpPr>
        <p:spPr>
          <a:xfrm>
            <a:off x="6172200" y="566928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"/>
          <p:cNvSpPr txBox="1"/>
          <p:nvPr/>
        </p:nvSpPr>
        <p:spPr>
          <a:xfrm>
            <a:off x="6373368" y="5833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能源机会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373368" y="6199632"/>
            <a:ext cx="4572000" cy="-13715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充电站未来会与储能、光伏、电力交易和城市能源管理更深融合。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资料来源：国家能源局、央视网、中国充电联盟公开报道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08 技术趋势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技术栈：纯电平台成为智能化落地的最佳载体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914400" y="1417320"/>
            <a:ext cx="9784080" cy="512064"/>
          </a:xfrm>
          <a:prstGeom prst="roundRect">
            <a:avLst/>
          </a:prstGeom>
          <a:solidFill>
            <a:srgbClr val="2563EB">
              <a:alpha val="8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170432" y="1545336"/>
            <a:ext cx="16002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软件体验层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880360" y="1545336"/>
            <a:ext cx="704088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0">
                <a:solidFill>
                  <a:srgbClr val="FFFFFF"/>
                </a:solidFill>
                <a:latin typeface="Microsoft YaHei"/>
                <a:ea typeface="Microsoft YaHei"/>
              </a:rPr>
              <a:t>智能座舱、语音、多屏互联、车载应用生态</a:t>
            </a:r>
          </a:p>
        </p:txBody>
      </p:sp>
      <p:sp>
        <p:nvSpPr>
          <p:cNvPr id="9" name="Shape"/>
          <p:cNvSpPr/>
          <p:nvPr/>
        </p:nvSpPr>
        <p:spPr>
          <a:xfrm>
            <a:off x="1097280" y="2167128"/>
            <a:ext cx="9418319" cy="512064"/>
          </a:xfrm>
          <a:prstGeom prst="roundRect">
            <a:avLst/>
          </a:prstGeom>
          <a:solidFill>
            <a:srgbClr val="00A6A6">
              <a:alpha val="8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353312" y="2295144"/>
            <a:ext cx="16002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智能驾驶层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063240" y="2295144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0">
                <a:solidFill>
                  <a:srgbClr val="FFFFFF"/>
                </a:solidFill>
                <a:latin typeface="Microsoft YaHei"/>
                <a:ea typeface="Microsoft YaHei"/>
              </a:rPr>
              <a:t>感知、规控、城市NOA、端到端模型、数据闭环</a:t>
            </a:r>
          </a:p>
        </p:txBody>
      </p:sp>
      <p:sp>
        <p:nvSpPr>
          <p:cNvPr id="12" name="Shape"/>
          <p:cNvSpPr/>
          <p:nvPr/>
        </p:nvSpPr>
        <p:spPr>
          <a:xfrm>
            <a:off x="1280160" y="2916936"/>
            <a:ext cx="9052559" cy="512064"/>
          </a:xfrm>
          <a:prstGeom prst="roundRect">
            <a:avLst/>
          </a:prstGeom>
          <a:solidFill>
            <a:srgbClr val="22A06B">
              <a:alpha val="8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536192" y="3044952"/>
            <a:ext cx="16002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电子电气层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246120" y="3044952"/>
            <a:ext cx="630936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0">
                <a:solidFill>
                  <a:srgbClr val="FFFFFF"/>
                </a:solidFill>
                <a:latin typeface="Microsoft YaHei"/>
                <a:ea typeface="Microsoft YaHei"/>
              </a:rPr>
              <a:t>中央计算、域控/区域控制、OTA、车云协同</a:t>
            </a:r>
          </a:p>
        </p:txBody>
      </p:sp>
      <p:sp>
        <p:nvSpPr>
          <p:cNvPr id="15" name="Shape"/>
          <p:cNvSpPr/>
          <p:nvPr/>
        </p:nvSpPr>
        <p:spPr>
          <a:xfrm>
            <a:off x="1463040" y="3666744"/>
            <a:ext cx="8686800" cy="512064"/>
          </a:xfrm>
          <a:prstGeom prst="roundRect">
            <a:avLst/>
          </a:prstGeom>
          <a:solidFill>
            <a:srgbClr val="D99A1E">
              <a:alpha val="8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1719072" y="3794759"/>
            <a:ext cx="16002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三电平台层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429000" y="3794759"/>
            <a:ext cx="59436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0">
                <a:solidFill>
                  <a:srgbClr val="FFFFFF"/>
                </a:solidFill>
                <a:latin typeface="Microsoft YaHei"/>
                <a:ea typeface="Microsoft YaHei"/>
              </a:rPr>
              <a:t>电池、电驱、电控、热管理、高压快充</a:t>
            </a:r>
          </a:p>
        </p:txBody>
      </p:sp>
      <p:sp>
        <p:nvSpPr>
          <p:cNvPr id="18" name="Shape"/>
          <p:cNvSpPr/>
          <p:nvPr/>
        </p:nvSpPr>
        <p:spPr>
          <a:xfrm>
            <a:off x="1645920" y="4416552"/>
            <a:ext cx="8321040" cy="512064"/>
          </a:xfrm>
          <a:prstGeom prst="roundRect">
            <a:avLst/>
          </a:prstGeom>
          <a:solidFill>
            <a:srgbClr val="C2413A">
              <a:alpha val="8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901952" y="4544568"/>
            <a:ext cx="160020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制造平台层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3611880" y="4544568"/>
            <a:ext cx="5577840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0">
                <a:solidFill>
                  <a:srgbClr val="FFFFFF"/>
                </a:solidFill>
                <a:latin typeface="Microsoft YaHei"/>
                <a:ea typeface="Microsoft YaHei"/>
              </a:rPr>
              <a:t>一体化压铸、模块化架构、柔性产线、质量控制</a:t>
            </a:r>
          </a:p>
        </p:txBody>
      </p:sp>
      <p:sp>
        <p:nvSpPr>
          <p:cNvPr id="21" name="Shape"/>
          <p:cNvSpPr/>
          <p:nvPr/>
        </p:nvSpPr>
        <p:spPr>
          <a:xfrm>
            <a:off x="822960" y="5468112"/>
            <a:ext cx="32918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22" name="Shape"/>
          <p:cNvSpPr/>
          <p:nvPr/>
        </p:nvSpPr>
        <p:spPr>
          <a:xfrm>
            <a:off x="822960" y="5468112"/>
            <a:ext cx="54864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024128" y="56327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高压快充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24128" y="5998464"/>
            <a:ext cx="2971800" cy="-1828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800V 平台与液冷超充改善里程焦虑，是纯电体验升级的硬指标。</a:t>
            </a:r>
          </a:p>
        </p:txBody>
      </p:sp>
      <p:sp>
        <p:nvSpPr>
          <p:cNvPr id="25" name="Shape"/>
          <p:cNvSpPr/>
          <p:nvPr/>
        </p:nvSpPr>
        <p:spPr>
          <a:xfrm>
            <a:off x="4434840" y="5468112"/>
            <a:ext cx="32918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26" name="Shape"/>
          <p:cNvSpPr/>
          <p:nvPr/>
        </p:nvSpPr>
        <p:spPr>
          <a:xfrm>
            <a:off x="4434840" y="5468112"/>
            <a:ext cx="54864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4636007" y="56327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智能化平权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636007" y="5998464"/>
            <a:ext cx="2971800" cy="-1828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从高端车型下放到 15-25 万主流市场，重塑配置预期。</a:t>
            </a:r>
          </a:p>
        </p:txBody>
      </p:sp>
      <p:sp>
        <p:nvSpPr>
          <p:cNvPr id="29" name="Shape"/>
          <p:cNvSpPr/>
          <p:nvPr/>
        </p:nvSpPr>
        <p:spPr>
          <a:xfrm>
            <a:off x="8046720" y="5468112"/>
            <a:ext cx="2880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30" name="Shape"/>
          <p:cNvSpPr/>
          <p:nvPr/>
        </p:nvSpPr>
        <p:spPr>
          <a:xfrm>
            <a:off x="8046720" y="5468112"/>
            <a:ext cx="54864" cy="621792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8247888" y="56327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车云一体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247888" y="5998464"/>
            <a:ext cx="2560320" cy="-1828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OTA、数据闭环和AI模型让车辆成为持续迭代产品。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09 政策环境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政策与外部环境：国内支持延续，海外贸易摩擦抬高出海门槛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777240" y="132588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7" name="Shape"/>
          <p:cNvSpPr/>
          <p:nvPr/>
        </p:nvSpPr>
        <p:spPr>
          <a:xfrm>
            <a:off x="777240" y="1325880"/>
            <a:ext cx="54864" cy="96012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978408" y="14904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国内政策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78408" y="185623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新能源汽车购置税减免政策延续至 2027 年，地方促消费和以旧换新政策继续支撑需求。</a:t>
            </a:r>
          </a:p>
        </p:txBody>
      </p:sp>
      <p:sp>
        <p:nvSpPr>
          <p:cNvPr id="10" name="Shape"/>
          <p:cNvSpPr/>
          <p:nvPr/>
        </p:nvSpPr>
        <p:spPr>
          <a:xfrm>
            <a:off x="4434840" y="132588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1" name="Shape"/>
          <p:cNvSpPr/>
          <p:nvPr/>
        </p:nvSpPr>
        <p:spPr>
          <a:xfrm>
            <a:off x="4434840" y="1325880"/>
            <a:ext cx="54864" cy="9601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4636007" y="14904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产业政策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636007" y="185623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充电基础设施、智能网联汽车试点、动力电池回收和车网互动是政策重点方向。</a:t>
            </a:r>
          </a:p>
        </p:txBody>
      </p:sp>
      <p:sp>
        <p:nvSpPr>
          <p:cNvPr id="14" name="Shape"/>
          <p:cNvSpPr/>
          <p:nvPr/>
        </p:nvSpPr>
        <p:spPr>
          <a:xfrm>
            <a:off x="8092440" y="132588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8092440" y="1325880"/>
            <a:ext cx="54864" cy="96012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8293608" y="14904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海外环境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293608" y="185623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欧盟、美国等市场对中国电动车和电池供应链的贸易限制增加，倒逼本地化生产。</a:t>
            </a:r>
          </a:p>
        </p:txBody>
      </p:sp>
      <p:sp>
        <p:nvSpPr>
          <p:cNvPr id="18" name="Shape"/>
          <p:cNvSpPr/>
          <p:nvPr/>
        </p:nvSpPr>
        <p:spPr>
          <a:xfrm>
            <a:off x="914400" y="3017520"/>
            <a:ext cx="10104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143000" y="32461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政策影响传导</a:t>
            </a:r>
          </a:p>
        </p:txBody>
      </p:sp>
      <p:sp>
        <p:nvSpPr>
          <p:cNvPr id="20" name="Shape"/>
          <p:cNvSpPr/>
          <p:nvPr/>
        </p:nvSpPr>
        <p:spPr>
          <a:xfrm>
            <a:off x="1234440" y="3822191"/>
            <a:ext cx="1170432" cy="438912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307592" y="3968496"/>
            <a:ext cx="102412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税费减免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2532888" y="3950208"/>
            <a:ext cx="228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Shape"/>
          <p:cNvSpPr/>
          <p:nvPr/>
        </p:nvSpPr>
        <p:spPr>
          <a:xfrm>
            <a:off x="3154680" y="3822191"/>
            <a:ext cx="1170432" cy="43891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3227832" y="3968496"/>
            <a:ext cx="102412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消费刺激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453128" y="3950208"/>
            <a:ext cx="228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6" name="Shape"/>
          <p:cNvSpPr/>
          <p:nvPr/>
        </p:nvSpPr>
        <p:spPr>
          <a:xfrm>
            <a:off x="5074920" y="3822191"/>
            <a:ext cx="117043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5148072" y="3968496"/>
            <a:ext cx="102412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基础设施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73368" y="3950208"/>
            <a:ext cx="228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Shape"/>
          <p:cNvSpPr/>
          <p:nvPr/>
        </p:nvSpPr>
        <p:spPr>
          <a:xfrm>
            <a:off x="6995160" y="3822191"/>
            <a:ext cx="1170432" cy="438912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7068312" y="3968496"/>
            <a:ext cx="102412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产业标准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293608" y="3950208"/>
            <a:ext cx="22860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 b="1">
                <a:solidFill>
                  <a:srgbClr val="9AA3A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2" name="Shape"/>
          <p:cNvSpPr/>
          <p:nvPr/>
        </p:nvSpPr>
        <p:spPr>
          <a:xfrm>
            <a:off x="8915400" y="3822191"/>
            <a:ext cx="1170432" cy="438912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8988552" y="3968496"/>
            <a:ext cx="1024128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出海合规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143000" y="4608576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66717F"/>
                </a:solidFill>
                <a:latin typeface="Microsoft YaHei"/>
                <a:ea typeface="Microsoft YaHei"/>
              </a:rPr>
              <a:t>结论：政策红利不再是单纯补贴，而是通过税费、基础设施、标准和国际规则塑造行业边界。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资料来源：财政部、税务总局、工信部、国家能源局、公开贸易政策报道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10 主要风险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风险：价格战、盈利压力和海外壁垒将考验生态韧性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685800" y="1389888"/>
            <a:ext cx="33375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7" name="Shape"/>
          <p:cNvSpPr/>
          <p:nvPr/>
        </p:nvSpPr>
        <p:spPr>
          <a:xfrm>
            <a:off x="685800" y="1389888"/>
            <a:ext cx="54864" cy="1133856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886968" y="1554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价格战常态化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86968" y="1920240"/>
            <a:ext cx="3017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终端折扣侵蚀毛利，弱势品牌出清加速。</a:t>
            </a:r>
          </a:p>
        </p:txBody>
      </p:sp>
      <p:sp>
        <p:nvSpPr>
          <p:cNvPr id="10" name="Shape"/>
          <p:cNvSpPr/>
          <p:nvPr/>
        </p:nvSpPr>
        <p:spPr>
          <a:xfrm>
            <a:off x="4389120" y="1389888"/>
            <a:ext cx="33375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1" name="Shape"/>
          <p:cNvSpPr/>
          <p:nvPr/>
        </p:nvSpPr>
        <p:spPr>
          <a:xfrm>
            <a:off x="4389120" y="1389888"/>
            <a:ext cx="54864" cy="1133856"/>
          </a:xfrm>
          <a:prstGeom prst="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4590288" y="1554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产能与库存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90288" y="1920240"/>
            <a:ext cx="3017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行业扩张过快，车型生命周期缩短，库存管理要求提升。</a:t>
            </a:r>
          </a:p>
        </p:txBody>
      </p:sp>
      <p:sp>
        <p:nvSpPr>
          <p:cNvPr id="14" name="Shape"/>
          <p:cNvSpPr/>
          <p:nvPr/>
        </p:nvSpPr>
        <p:spPr>
          <a:xfrm>
            <a:off x="8092440" y="1389888"/>
            <a:ext cx="33375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8092440" y="1389888"/>
            <a:ext cx="54864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8293608" y="1554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技术路线不确定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293608" y="1920240"/>
            <a:ext cx="3017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电池技术、智能驾驶法规、芯片供应和软件栈仍在快速演进。</a:t>
            </a:r>
          </a:p>
        </p:txBody>
      </p:sp>
      <p:sp>
        <p:nvSpPr>
          <p:cNvPr id="18" name="Shape"/>
          <p:cNvSpPr/>
          <p:nvPr/>
        </p:nvSpPr>
        <p:spPr>
          <a:xfrm>
            <a:off x="685800" y="3054096"/>
            <a:ext cx="33375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685800" y="3054096"/>
            <a:ext cx="54864" cy="113385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886968" y="32186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补能利用率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86968" y="3584448"/>
            <a:ext cx="3017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建桩速度快，但站点质量、利用率和电网接入决定实际回报。</a:t>
            </a:r>
          </a:p>
        </p:txBody>
      </p:sp>
      <p:sp>
        <p:nvSpPr>
          <p:cNvPr id="22" name="Shape"/>
          <p:cNvSpPr/>
          <p:nvPr/>
        </p:nvSpPr>
        <p:spPr>
          <a:xfrm>
            <a:off x="4389120" y="3054096"/>
            <a:ext cx="33375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23" name="Shape"/>
          <p:cNvSpPr/>
          <p:nvPr/>
        </p:nvSpPr>
        <p:spPr>
          <a:xfrm>
            <a:off x="4389120" y="3054096"/>
            <a:ext cx="54864" cy="1133856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4590288" y="32186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海外合规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590288" y="3584448"/>
            <a:ext cx="3017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关税、本地化、数据合规、供应链溯源增加出海复杂度。</a:t>
            </a:r>
          </a:p>
        </p:txBody>
      </p:sp>
      <p:sp>
        <p:nvSpPr>
          <p:cNvPr id="26" name="Shape"/>
          <p:cNvSpPr/>
          <p:nvPr/>
        </p:nvSpPr>
        <p:spPr>
          <a:xfrm>
            <a:off x="8092440" y="3054096"/>
            <a:ext cx="33375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27" name="Shape"/>
          <p:cNvSpPr/>
          <p:nvPr/>
        </p:nvSpPr>
        <p:spPr>
          <a:xfrm>
            <a:off x="8092440" y="3054096"/>
            <a:ext cx="54864" cy="113385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3608" y="32186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消费者信任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3608" y="3584448"/>
            <a:ext cx="301752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安全事故、保值率、售后服务会影响品牌长期口碑。</a:t>
            </a:r>
          </a:p>
        </p:txBody>
      </p:sp>
      <p:sp>
        <p:nvSpPr>
          <p:cNvPr id="30" name="Shape"/>
          <p:cNvSpPr/>
          <p:nvPr/>
        </p:nvSpPr>
        <p:spPr>
          <a:xfrm>
            <a:off x="777240" y="5074920"/>
            <a:ext cx="10424160" cy="621792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1005840" y="5285232"/>
            <a:ext cx="9784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生态分析的核心问题不是“谁销量最大”，而是“谁能在价格战下保持现金流、用户体验和技术迭代速度”。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11 机会判断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战略机会：从整车销售走向“车 + 能源 + 服务”的复利生态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685800" y="1298448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7" name="Shape"/>
          <p:cNvSpPr/>
          <p:nvPr/>
        </p:nvSpPr>
        <p:spPr>
          <a:xfrm>
            <a:off x="905256" y="1554480"/>
            <a:ext cx="320040" cy="32004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399032" y="149961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高压快充网络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399032" y="177393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80" b="0">
                <a:solidFill>
                  <a:srgbClr val="66717F"/>
                </a:solidFill>
                <a:latin typeface="Microsoft YaHei"/>
                <a:ea typeface="Microsoft YaHei"/>
              </a:rPr>
              <a:t>围绕 800V 平台、液冷超充和目的地充电，建立体验差异。</a:t>
            </a:r>
          </a:p>
        </p:txBody>
      </p:sp>
      <p:sp>
        <p:nvSpPr>
          <p:cNvPr id="10" name="Shape"/>
          <p:cNvSpPr/>
          <p:nvPr/>
        </p:nvSpPr>
        <p:spPr>
          <a:xfrm>
            <a:off x="6126480" y="1298448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1" name="Shape"/>
          <p:cNvSpPr/>
          <p:nvPr/>
        </p:nvSpPr>
        <p:spPr>
          <a:xfrm>
            <a:off x="6345936" y="155448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6839712" y="149961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主流价位智能化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839712" y="177393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80" b="0">
                <a:solidFill>
                  <a:srgbClr val="66717F"/>
                </a:solidFill>
                <a:latin typeface="Microsoft YaHei"/>
                <a:ea typeface="Microsoft YaHei"/>
              </a:rPr>
              <a:t>15-25 万元市场将成为智能驾驶和座舱体验平权主战场。</a:t>
            </a:r>
          </a:p>
        </p:txBody>
      </p:sp>
      <p:sp>
        <p:nvSpPr>
          <p:cNvPr id="14" name="Shape"/>
          <p:cNvSpPr/>
          <p:nvPr/>
        </p:nvSpPr>
        <p:spPr>
          <a:xfrm>
            <a:off x="685800" y="2715768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905256" y="2971800"/>
            <a:ext cx="320040" cy="320040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1399032" y="291693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电池生命周期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399032" y="319125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80" b="0">
                <a:solidFill>
                  <a:srgbClr val="66717F"/>
                </a:solidFill>
                <a:latin typeface="Microsoft YaHei"/>
                <a:ea typeface="Microsoft YaHei"/>
              </a:rPr>
              <a:t>电池检测、残值评估、梯次利用和回收将形成新利润池。</a:t>
            </a:r>
          </a:p>
        </p:txBody>
      </p:sp>
      <p:sp>
        <p:nvSpPr>
          <p:cNvPr id="18" name="Shape"/>
          <p:cNvSpPr/>
          <p:nvPr/>
        </p:nvSpPr>
        <p:spPr>
          <a:xfrm>
            <a:off x="6126480" y="2715768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6345936" y="2971800"/>
            <a:ext cx="320040" cy="320040"/>
          </a:xfrm>
          <a:prstGeom prst="round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839712" y="291693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出海本地化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839712" y="319125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80" b="0">
                <a:solidFill>
                  <a:srgbClr val="66717F"/>
                </a:solidFill>
                <a:latin typeface="Microsoft YaHei"/>
                <a:ea typeface="Microsoft YaHei"/>
              </a:rPr>
              <a:t>从出口转向本地制造、本地供应链和本地服务体系。</a:t>
            </a:r>
          </a:p>
        </p:txBody>
      </p:sp>
      <p:sp>
        <p:nvSpPr>
          <p:cNvPr id="22" name="Shape"/>
          <p:cNvSpPr/>
          <p:nvPr/>
        </p:nvSpPr>
        <p:spPr>
          <a:xfrm>
            <a:off x="685800" y="4133087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3" name="Shape"/>
          <p:cNvSpPr/>
          <p:nvPr/>
        </p:nvSpPr>
        <p:spPr>
          <a:xfrm>
            <a:off x="905256" y="4389120"/>
            <a:ext cx="320040" cy="320040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1399032" y="4334255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车网互动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399032" y="4608575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80" b="0">
                <a:solidFill>
                  <a:srgbClr val="66717F"/>
                </a:solidFill>
                <a:latin typeface="Microsoft YaHei"/>
                <a:ea typeface="Microsoft YaHei"/>
              </a:rPr>
              <a:t>V2G、储能、光伏和电力交易把车辆接入城市能源系统。</a:t>
            </a:r>
          </a:p>
        </p:txBody>
      </p:sp>
      <p:sp>
        <p:nvSpPr>
          <p:cNvPr id="26" name="Shape"/>
          <p:cNvSpPr/>
          <p:nvPr/>
        </p:nvSpPr>
        <p:spPr>
          <a:xfrm>
            <a:off x="6126480" y="4133087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27" name="Shape"/>
          <p:cNvSpPr/>
          <p:nvPr/>
        </p:nvSpPr>
        <p:spPr>
          <a:xfrm>
            <a:off x="6345936" y="4389120"/>
            <a:ext cx="320040" cy="320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6839712" y="4334255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1">
                <a:solidFill>
                  <a:srgbClr val="17212B"/>
                </a:solidFill>
                <a:latin typeface="Microsoft YaHei"/>
                <a:ea typeface="Microsoft YaHei"/>
              </a:rPr>
              <a:t>数据服务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839712" y="4608575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80" b="0">
                <a:solidFill>
                  <a:srgbClr val="66717F"/>
                </a:solidFill>
                <a:latin typeface="Microsoft YaHei"/>
                <a:ea typeface="Microsoft YaHei"/>
              </a:rPr>
              <a:t>基于车队、充电、维修和用户行为的数据能力进入商业化探索期。</a:t>
            </a:r>
          </a:p>
        </p:txBody>
      </p:sp>
      <p:sp>
        <p:nvSpPr>
          <p:cNvPr id="30" name="Shape"/>
          <p:cNvSpPr/>
          <p:nvPr/>
        </p:nvSpPr>
        <p:spPr>
          <a:xfrm>
            <a:off x="777240" y="5669280"/>
            <a:ext cx="10378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777240" y="5669280"/>
            <a:ext cx="54864" cy="47548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978408" y="58338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总体判断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78408" y="6199632"/>
            <a:ext cx="10058400" cy="-16459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中国纯电汽车行业不会简单回到高增速时代，但会在能源化、智能化和服务化中继续释放结构性机会。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12 生态演进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未来 3-5 年：行业将进入三类玩家分化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914400" y="1508760"/>
            <a:ext cx="2057400" cy="530352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051560" y="1682495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生态整合者</a:t>
            </a:r>
          </a:p>
        </p:txBody>
      </p:sp>
      <p:sp>
        <p:nvSpPr>
          <p:cNvPr id="8" name="Shape"/>
          <p:cNvSpPr/>
          <p:nvPr/>
        </p:nvSpPr>
        <p:spPr>
          <a:xfrm>
            <a:off x="3246120" y="1508760"/>
            <a:ext cx="7178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3456432" y="1673351"/>
            <a:ext cx="6629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30" b="0">
                <a:solidFill>
                  <a:srgbClr val="66717F"/>
                </a:solidFill>
                <a:latin typeface="Microsoft YaHei"/>
                <a:ea typeface="Microsoft YaHei"/>
              </a:rPr>
              <a:t>掌握整车、电池、软件、渠道和能源入口，目标是持续扩大用户生命周期价值。</a:t>
            </a:r>
          </a:p>
        </p:txBody>
      </p:sp>
      <p:sp>
        <p:nvSpPr>
          <p:cNvPr id="10" name="Shape"/>
          <p:cNvSpPr/>
          <p:nvPr/>
        </p:nvSpPr>
        <p:spPr>
          <a:xfrm>
            <a:off x="914400" y="2834639"/>
            <a:ext cx="2057400" cy="53035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051560" y="3008375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效率制造者</a:t>
            </a:r>
          </a:p>
        </p:txBody>
      </p:sp>
      <p:sp>
        <p:nvSpPr>
          <p:cNvPr id="12" name="Shape"/>
          <p:cNvSpPr/>
          <p:nvPr/>
        </p:nvSpPr>
        <p:spPr>
          <a:xfrm>
            <a:off x="3246120" y="2834639"/>
            <a:ext cx="7178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3456432" y="2999232"/>
            <a:ext cx="6629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30" b="0">
                <a:solidFill>
                  <a:srgbClr val="66717F"/>
                </a:solidFill>
                <a:latin typeface="Microsoft YaHei"/>
                <a:ea typeface="Microsoft YaHei"/>
              </a:rPr>
              <a:t>以平台化、供应链和成本控制为核心，在主流价格带获取规模优势。</a:t>
            </a:r>
          </a:p>
        </p:txBody>
      </p:sp>
      <p:sp>
        <p:nvSpPr>
          <p:cNvPr id="14" name="Shape"/>
          <p:cNvSpPr/>
          <p:nvPr/>
        </p:nvSpPr>
        <p:spPr>
          <a:xfrm>
            <a:off x="914400" y="4160520"/>
            <a:ext cx="205740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051560" y="4334256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850" b="1">
                <a:solidFill>
                  <a:srgbClr val="FFFFFF"/>
                </a:solidFill>
                <a:latin typeface="Microsoft YaHei"/>
                <a:ea typeface="Microsoft YaHei"/>
              </a:rPr>
              <a:t>垂直服务商</a:t>
            </a:r>
          </a:p>
        </p:txBody>
      </p:sp>
      <p:sp>
        <p:nvSpPr>
          <p:cNvPr id="16" name="Shape"/>
          <p:cNvSpPr/>
          <p:nvPr/>
        </p:nvSpPr>
        <p:spPr>
          <a:xfrm>
            <a:off x="3246120" y="4160520"/>
            <a:ext cx="7178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ED2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3456432" y="4325112"/>
            <a:ext cx="66294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30" b="0">
                <a:solidFill>
                  <a:srgbClr val="66717F"/>
                </a:solidFill>
                <a:latin typeface="Microsoft YaHei"/>
                <a:ea typeface="Microsoft YaHei"/>
              </a:rPr>
              <a:t>聚焦电池、补能、智能驾驶、车后服务等环节，嵌入头部生态。</a:t>
            </a:r>
          </a:p>
        </p:txBody>
      </p:sp>
      <p:sp>
        <p:nvSpPr>
          <p:cNvPr id="18" name="Shape"/>
          <p:cNvSpPr/>
          <p:nvPr/>
        </p:nvSpPr>
        <p:spPr>
          <a:xfrm>
            <a:off x="914400" y="5486400"/>
            <a:ext cx="9509760" cy="292608"/>
          </a:xfrm>
          <a:prstGeom prst="roundRect">
            <a:avLst/>
          </a:prstGeom>
          <a:solidFill>
            <a:srgbClr val="E9E4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914400" y="5486400"/>
            <a:ext cx="2743200" cy="292608"/>
          </a:xfrm>
          <a:prstGeom prst="round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hape"/>
          <p:cNvSpPr/>
          <p:nvPr/>
        </p:nvSpPr>
        <p:spPr>
          <a:xfrm>
            <a:off x="3657600" y="5486400"/>
            <a:ext cx="3063240" cy="29260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6720840" y="5486400"/>
            <a:ext cx="37033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914400" y="583387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30" b="1">
                <a:solidFill>
                  <a:srgbClr val="17212B"/>
                </a:solidFill>
                <a:latin typeface="Microsoft YaHei"/>
                <a:ea typeface="Microsoft YaHei"/>
              </a:rPr>
              <a:t>2026：出清与整合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657600" y="5833872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30" b="1">
                <a:solidFill>
                  <a:srgbClr val="17212B"/>
                </a:solidFill>
                <a:latin typeface="Microsoft YaHei"/>
                <a:ea typeface="Microsoft YaHei"/>
              </a:rPr>
              <a:t>2027-2028：智能化平权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720840" y="5833872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730" b="1">
                <a:solidFill>
                  <a:srgbClr val="17212B"/>
                </a:solidFill>
                <a:latin typeface="Microsoft YaHei"/>
                <a:ea typeface="Microsoft YaHei"/>
              </a:rPr>
              <a:t>2029+：能源与服务复利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资料来源：公开资料整理；中汽协、国家能源局、IEA、企业公开信息等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30352" y="31089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00" b="1">
                <a:solidFill>
                  <a:srgbClr val="00A6A6"/>
                </a:solidFill>
                <a:latin typeface="Microsoft YaHei"/>
                <a:ea typeface="Microsoft YaHei"/>
              </a:rPr>
              <a:t>13 Appendix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51206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17212B"/>
                </a:solidFill>
                <a:latin typeface="Microsoft YaHei"/>
                <a:ea typeface="Microsoft YaHei"/>
              </a:rPr>
              <a:t>资料来源与方法</a:t>
            </a:r>
          </a:p>
        </p:txBody>
      </p:sp>
      <p:sp>
        <p:nvSpPr>
          <p:cNvPr id="5" name="Shape"/>
          <p:cNvSpPr/>
          <p:nvPr/>
        </p:nvSpPr>
        <p:spPr>
          <a:xfrm>
            <a:off x="530352" y="987552"/>
            <a:ext cx="914400" cy="27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868680" y="1298448"/>
            <a:ext cx="201168" cy="20116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207008" y="129844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17212B"/>
                </a:solidFill>
                <a:latin typeface="Microsoft YaHei"/>
                <a:ea typeface="Microsoft YaHei"/>
              </a:rPr>
              <a:t>新华社 / 中国汽车工业协会：2025 年中国新能源汽车产销均超 1600 万辆的公开报道。</a:t>
            </a:r>
          </a:p>
        </p:txBody>
      </p:sp>
      <p:sp>
        <p:nvSpPr>
          <p:cNvPr id="8" name="Shape"/>
          <p:cNvSpPr/>
          <p:nvPr/>
        </p:nvSpPr>
        <p:spPr>
          <a:xfrm>
            <a:off x="868680" y="1874519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207008" y="1837943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17212B"/>
                </a:solidFill>
                <a:latin typeface="Microsoft YaHei"/>
                <a:ea typeface="Microsoft YaHei"/>
              </a:rPr>
              <a:t>央视网等公开报道：2025 年中国纯电动汽车产销均超过 1060 万辆。</a:t>
            </a:r>
          </a:p>
        </p:txBody>
      </p:sp>
      <p:sp>
        <p:nvSpPr>
          <p:cNvPr id="10" name="Shape"/>
          <p:cNvSpPr/>
          <p:nvPr/>
        </p:nvSpPr>
        <p:spPr>
          <a:xfrm>
            <a:off x="868680" y="2450591"/>
            <a:ext cx="201168" cy="20116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207008" y="2377439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17212B"/>
                </a:solidFill>
                <a:latin typeface="Microsoft YaHei"/>
                <a:ea typeface="Microsoft YaHei"/>
              </a:rPr>
              <a:t>IEA Global EV Outlook 2025：中国在全球电动车销量、生产和电池供应链中的领先地位。</a:t>
            </a:r>
          </a:p>
        </p:txBody>
      </p:sp>
      <p:sp>
        <p:nvSpPr>
          <p:cNvPr id="12" name="Shape"/>
          <p:cNvSpPr/>
          <p:nvPr/>
        </p:nvSpPr>
        <p:spPr>
          <a:xfrm>
            <a:off x="868680" y="3026664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207008" y="2916936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17212B"/>
                </a:solidFill>
                <a:latin typeface="Microsoft YaHei"/>
                <a:ea typeface="Microsoft YaHei"/>
              </a:rPr>
              <a:t>国家能源局、中国充电联盟及央视网：2025 年全国充电基础设施规模与补能网络进展。</a:t>
            </a:r>
          </a:p>
        </p:txBody>
      </p:sp>
      <p:sp>
        <p:nvSpPr>
          <p:cNvPr id="14" name="Shape"/>
          <p:cNvSpPr/>
          <p:nvPr/>
        </p:nvSpPr>
        <p:spPr>
          <a:xfrm>
            <a:off x="868680" y="3602736"/>
            <a:ext cx="201168" cy="201168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207008" y="345643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17212B"/>
                </a:solidFill>
                <a:latin typeface="Microsoft YaHei"/>
                <a:ea typeface="Microsoft YaHei"/>
              </a:rPr>
              <a:t>财政部、税务总局、工信部：新能源汽车车辆购置税减免政策延续安排。</a:t>
            </a:r>
          </a:p>
        </p:txBody>
      </p:sp>
      <p:sp>
        <p:nvSpPr>
          <p:cNvPr id="16" name="Shape"/>
          <p:cNvSpPr/>
          <p:nvPr/>
        </p:nvSpPr>
        <p:spPr>
          <a:xfrm>
            <a:off x="868680" y="4178808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207008" y="3995927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50" b="0">
                <a:solidFill>
                  <a:srgbClr val="17212B"/>
                </a:solidFill>
                <a:latin typeface="Microsoft YaHei"/>
                <a:ea typeface="Microsoft YaHei"/>
              </a:rPr>
              <a:t>SNE Research、企业年报/公告、公开新闻报道：动力电池竞争格局与技术路线。</a:t>
            </a:r>
          </a:p>
        </p:txBody>
      </p:sp>
      <p:sp>
        <p:nvSpPr>
          <p:cNvPr id="18" name="Shape"/>
          <p:cNvSpPr/>
          <p:nvPr/>
        </p:nvSpPr>
        <p:spPr>
          <a:xfrm>
            <a:off x="868680" y="5230368"/>
            <a:ext cx="10058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8"/>
            </a:solidFill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868680" y="5230368"/>
            <a:ext cx="54864" cy="713232"/>
          </a:xfrm>
          <a:prstGeom prst="rect">
            <a:avLst/>
          </a:prstGeom>
          <a:solidFill>
            <a:srgbClr val="D99A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1069848" y="5394959"/>
            <a:ext cx="9738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100" b="1">
                <a:solidFill>
                  <a:srgbClr val="17212B"/>
                </a:solidFill>
                <a:latin typeface="Microsoft YaHei"/>
                <a:ea typeface="Microsoft YaHei"/>
              </a:rPr>
              <a:t>方法说明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069848" y="5760720"/>
            <a:ext cx="9738360" cy="731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840" b="0">
                <a:solidFill>
                  <a:srgbClr val="66717F"/>
                </a:solidFill>
                <a:latin typeface="Microsoft YaHei"/>
                <a:ea typeface="Microsoft YaHei"/>
              </a:rPr>
              <a:t>本报告为生态分析型演示稿，公开数据用于判断行业方向；竞争矩阵和机会判断为基于公开资料的战略分析示意，非投资建议。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30352" y="6455664"/>
            <a:ext cx="8778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生成时间：2026-05-13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784080" y="645566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580" b="0">
                <a:solidFill>
                  <a:srgbClr val="8A929C"/>
                </a:solidFill>
                <a:latin typeface="Microsoft YaHei"/>
                <a:ea typeface="Microsoft YaHei"/>
              </a:rPr>
              <a:t>中国纯电汽车行业生态分析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Premium">
  <a:themeElements>
    <a:clrScheme name="Codex">
      <a:dk1>
        <a:srgbClr val="17212B"/>
      </a:dk1>
      <a:lt1>
        <a:srgbClr val="F7F5EF"/>
      </a:lt1>
      <a:dk2>
        <a:srgbClr val="111827"/>
      </a:dk2>
      <a:lt2>
        <a:srgbClr val="FFFFFF"/>
      </a:lt2>
      <a:accent1>
        <a:srgbClr val="00A6A6"/>
      </a:accent1>
      <a:accent2>
        <a:srgbClr val="2563EB"/>
      </a:accent2>
      <a:accent3>
        <a:srgbClr val="22A06B"/>
      </a:accent3>
      <a:accent4>
        <a:srgbClr val="D99A1E"/>
      </a:accent4>
      <a:accent5>
        <a:srgbClr val="C2413A"/>
      </a:accent5>
      <a:accent6>
        <a:srgbClr val="66717F"/>
      </a:accent6>
      <a:hlink>
        <a:srgbClr val="2563EB"/>
      </a:hlink>
      <a:folHlink>
        <a:srgbClr val="00A6A6"/>
      </a:folHlink>
    </a:clrScheme>
    <a:fontScheme name="Microsoft YaHei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中国纯电汽车行业生态分析</dc:title>
  <dc:creator>Codex</dc:creator>
  <cp:lastModifiedBy>Codex</cp:lastModifiedBy>
  <dcterms:created xsi:type="dcterms:W3CDTF">2026-05-13T00:00:00Z</dcterms:created>
  <dcterms:modified xsi:type="dcterms:W3CDTF">2026-05-13T00:00:00Z</dcterms:modified>
</cp:coreProperties>
</file>